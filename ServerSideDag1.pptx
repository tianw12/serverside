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8" r:id="rId2"/>
  </p:sldMasterIdLst>
  <p:notesMasterIdLst>
    <p:notesMasterId r:id="rId51"/>
  </p:notesMasterIdLst>
  <p:sldIdLst>
    <p:sldId id="256" r:id="rId3"/>
    <p:sldId id="261" r:id="rId4"/>
    <p:sldId id="257" r:id="rId5"/>
    <p:sldId id="258" r:id="rId6"/>
    <p:sldId id="260" r:id="rId7"/>
    <p:sldId id="284" r:id="rId8"/>
    <p:sldId id="259" r:id="rId9"/>
    <p:sldId id="263" r:id="rId10"/>
    <p:sldId id="280" r:id="rId11"/>
    <p:sldId id="264" r:id="rId12"/>
    <p:sldId id="265" r:id="rId13"/>
    <p:sldId id="281" r:id="rId14"/>
    <p:sldId id="282" r:id="rId15"/>
    <p:sldId id="283" r:id="rId16"/>
    <p:sldId id="285" r:id="rId17"/>
    <p:sldId id="288" r:id="rId18"/>
    <p:sldId id="287" r:id="rId19"/>
    <p:sldId id="307" r:id="rId20"/>
    <p:sldId id="294" r:id="rId21"/>
    <p:sldId id="286" r:id="rId22"/>
    <p:sldId id="289" r:id="rId23"/>
    <p:sldId id="290" r:id="rId24"/>
    <p:sldId id="292" r:id="rId25"/>
    <p:sldId id="293" r:id="rId26"/>
    <p:sldId id="295" r:id="rId27"/>
    <p:sldId id="298" r:id="rId28"/>
    <p:sldId id="297" r:id="rId29"/>
    <p:sldId id="299" r:id="rId30"/>
    <p:sldId id="303" r:id="rId31"/>
    <p:sldId id="301" r:id="rId32"/>
    <p:sldId id="296" r:id="rId33"/>
    <p:sldId id="291" r:id="rId34"/>
    <p:sldId id="300" r:id="rId35"/>
    <p:sldId id="302" r:id="rId36"/>
    <p:sldId id="269" r:id="rId37"/>
    <p:sldId id="304" r:id="rId38"/>
    <p:sldId id="270" r:id="rId39"/>
    <p:sldId id="305" r:id="rId40"/>
    <p:sldId id="306" r:id="rId41"/>
    <p:sldId id="308" r:id="rId42"/>
    <p:sldId id="309" r:id="rId43"/>
    <p:sldId id="266" r:id="rId44"/>
    <p:sldId id="275" r:id="rId45"/>
    <p:sldId id="267" r:id="rId46"/>
    <p:sldId id="276" r:id="rId47"/>
    <p:sldId id="277" r:id="rId48"/>
    <p:sldId id="268" r:id="rId49"/>
    <p:sldId id="310" r:id="rId5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4746" autoAdjust="0"/>
  </p:normalViewPr>
  <p:slideViewPr>
    <p:cSldViewPr snapToGrid="0">
      <p:cViewPr varScale="1">
        <p:scale>
          <a:sx n="62" d="100"/>
          <a:sy n="62" d="100"/>
        </p:scale>
        <p:origin x="1440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C0518C-E9D0-4324-AC88-E9DE1CEDD3D8}" type="doc">
      <dgm:prSet loTypeId="urn:microsoft.com/office/officeart/2005/8/layout/chevron1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da-DK"/>
        </a:p>
      </dgm:t>
    </dgm:pt>
    <dgm:pt modelId="{79DD7761-63D9-44DD-BB68-AB141B6C2FF2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1" dirty="0"/>
            <a:t>Enhedstest (Unit Test)</a:t>
          </a:r>
        </a:p>
        <a:p>
          <a:pPr>
            <a:buFont typeface="Arial" panose="020B0604020202020204" pitchFamily="34" charset="0"/>
            <a:buChar char="•"/>
          </a:pPr>
          <a:r>
            <a:rPr lang="da-DK" dirty="0"/>
            <a:t>Tester enkeltkomponenter eller funktioner isoleret</a:t>
          </a:r>
        </a:p>
        <a:p>
          <a:pPr>
            <a:buFont typeface="Arial" panose="020B0604020202020204" pitchFamily="34" charset="0"/>
            <a:buChar char="•"/>
          </a:pPr>
          <a:r>
            <a:rPr lang="da-DK" dirty="0"/>
            <a:t>Udføres primært af udviklere</a:t>
          </a:r>
        </a:p>
        <a:p>
          <a:pPr>
            <a:buFont typeface="Arial" panose="020B0604020202020204" pitchFamily="34" charset="0"/>
            <a:buChar char="•"/>
          </a:pPr>
          <a:r>
            <a:rPr lang="da-DK" dirty="0"/>
            <a:t>Formål: verificere korrekt teknisk funktion</a:t>
          </a:r>
        </a:p>
      </dgm:t>
    </dgm:pt>
    <dgm:pt modelId="{8E300969-2B83-4349-9E63-2D4E27BCCB84}" type="parTrans" cxnId="{3CD27248-4D92-4A6D-A6C8-1F47895C0DB5}">
      <dgm:prSet/>
      <dgm:spPr/>
      <dgm:t>
        <a:bodyPr/>
        <a:lstStyle/>
        <a:p>
          <a:endParaRPr lang="da-DK"/>
        </a:p>
      </dgm:t>
    </dgm:pt>
    <dgm:pt modelId="{BF419542-338D-4A7E-9D8D-A9BF342271B7}" type="sibTrans" cxnId="{3CD27248-4D92-4A6D-A6C8-1F47895C0DB5}">
      <dgm:prSet/>
      <dgm:spPr/>
      <dgm:t>
        <a:bodyPr/>
        <a:lstStyle/>
        <a:p>
          <a:endParaRPr lang="da-DK"/>
        </a:p>
      </dgm:t>
    </dgm:pt>
    <dgm:pt modelId="{ABAF82E0-7C26-406B-8C0F-1163B39D84D0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1" dirty="0"/>
            <a:t>Integrationstest</a:t>
          </a:r>
        </a:p>
        <a:p>
          <a:pPr>
            <a:buFont typeface="Arial" panose="020B0604020202020204" pitchFamily="34" charset="0"/>
            <a:buChar char="•"/>
          </a:pPr>
          <a:r>
            <a:rPr lang="da-DK" dirty="0"/>
            <a:t>Tester samspillet mellem komponenter og systemdele</a:t>
          </a:r>
        </a:p>
        <a:p>
          <a:pPr>
            <a:buFont typeface="Arial" panose="020B0604020202020204" pitchFamily="34" charset="0"/>
            <a:buChar char="•"/>
          </a:pPr>
          <a:r>
            <a:rPr lang="da-DK" dirty="0"/>
            <a:t>Fokus på interfaces, </a:t>
          </a:r>
          <a:r>
            <a:rPr lang="da-DK" dirty="0" err="1"/>
            <a:t>dataflow</a:t>
          </a:r>
          <a:r>
            <a:rPr lang="da-DK" dirty="0"/>
            <a:t> og afhængigheder</a:t>
          </a:r>
        </a:p>
        <a:p>
          <a:pPr>
            <a:buFont typeface="Arial" panose="020B0604020202020204" pitchFamily="34" charset="0"/>
            <a:buChar char="•"/>
          </a:pPr>
          <a:r>
            <a:rPr lang="da-DK" dirty="0"/>
            <a:t>Formål: identificere fejl i integrationen</a:t>
          </a:r>
        </a:p>
      </dgm:t>
    </dgm:pt>
    <dgm:pt modelId="{B191C582-3A45-440D-BACC-9262630298DD}" type="parTrans" cxnId="{FCDC92A3-707D-4020-B2F8-F5DAD37865B6}">
      <dgm:prSet/>
      <dgm:spPr/>
      <dgm:t>
        <a:bodyPr/>
        <a:lstStyle/>
        <a:p>
          <a:endParaRPr lang="da-DK"/>
        </a:p>
      </dgm:t>
    </dgm:pt>
    <dgm:pt modelId="{62B4DEC0-A66D-4357-A59F-C8D9BDB0DEB8}" type="sibTrans" cxnId="{FCDC92A3-707D-4020-B2F8-F5DAD37865B6}">
      <dgm:prSet/>
      <dgm:spPr/>
      <dgm:t>
        <a:bodyPr/>
        <a:lstStyle/>
        <a:p>
          <a:endParaRPr lang="da-DK"/>
        </a:p>
      </dgm:t>
    </dgm:pt>
    <dgm:pt modelId="{CA9A4BC9-85BD-4ABB-8ED7-B2BB0C14AD6E}">
      <dgm:prSet phldrT="[Tekst]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da-DK" b="1" dirty="0"/>
            <a:t>Systemtest</a:t>
          </a:r>
        </a:p>
        <a:p>
          <a:pPr>
            <a:buFont typeface="Arial" panose="020B0604020202020204" pitchFamily="34" charset="0"/>
            <a:buChar char="•"/>
          </a:pPr>
          <a:r>
            <a:rPr lang="da-DK" dirty="0"/>
            <a:t>Tester hele </a:t>
          </a:r>
          <a:r>
            <a:rPr lang="da-DK" dirty="0" err="1"/>
            <a:t>sysetmet</a:t>
          </a:r>
          <a:r>
            <a:rPr lang="da-DK" dirty="0"/>
            <a:t> som en samlet løsning</a:t>
          </a:r>
        </a:p>
        <a:p>
          <a:pPr>
            <a:buFont typeface="Arial" panose="020B0604020202020204" pitchFamily="34" charset="0"/>
            <a:buChar char="•"/>
          </a:pPr>
          <a:r>
            <a:rPr lang="da-DK" dirty="0"/>
            <a:t>Udføres typisk af testere eller QA</a:t>
          </a:r>
        </a:p>
        <a:p>
          <a:pPr>
            <a:buFont typeface="Arial" panose="020B0604020202020204" pitchFamily="34" charset="0"/>
            <a:buChar char="•"/>
          </a:pPr>
          <a:r>
            <a:rPr lang="da-DK" dirty="0"/>
            <a:t>Fokus på funktionelle og ikke-funktionelle krav</a:t>
          </a:r>
        </a:p>
      </dgm:t>
    </dgm:pt>
    <dgm:pt modelId="{9EF33C29-F75B-48D3-AB13-FC2D4ABAC5A4}" type="parTrans" cxnId="{872EB282-B6E9-43A9-944B-42B8FD8CBE23}">
      <dgm:prSet/>
      <dgm:spPr/>
      <dgm:t>
        <a:bodyPr/>
        <a:lstStyle/>
        <a:p>
          <a:endParaRPr lang="da-DK"/>
        </a:p>
      </dgm:t>
    </dgm:pt>
    <dgm:pt modelId="{9D16B41F-DE13-4A5B-A31D-33FBCAFE3031}" type="sibTrans" cxnId="{872EB282-B6E9-43A9-944B-42B8FD8CBE23}">
      <dgm:prSet/>
      <dgm:spPr/>
      <dgm:t>
        <a:bodyPr/>
        <a:lstStyle/>
        <a:p>
          <a:endParaRPr lang="da-DK"/>
        </a:p>
      </dgm:t>
    </dgm:pt>
    <dgm:pt modelId="{91B8FA07-9EE6-4149-B5D7-C2CC6F50646F}">
      <dgm:prSet phldrT="[Tekst]"/>
      <dgm:spPr/>
      <dgm:t>
        <a:bodyPr/>
        <a:lstStyle/>
        <a:p>
          <a:pPr>
            <a:buNone/>
          </a:pPr>
          <a:r>
            <a:rPr lang="da-DK" b="1" dirty="0"/>
            <a:t>Accepttest (User </a:t>
          </a:r>
          <a:r>
            <a:rPr lang="da-DK" b="1" dirty="0" err="1"/>
            <a:t>Acceptance</a:t>
          </a:r>
          <a:r>
            <a:rPr lang="da-DK" b="1" dirty="0"/>
            <a:t> Test)</a:t>
          </a:r>
        </a:p>
        <a:p>
          <a:pPr>
            <a:buFont typeface="Arial" panose="020B0604020202020204" pitchFamily="34" charset="0"/>
            <a:buChar char="•"/>
          </a:pPr>
          <a:r>
            <a:rPr lang="da-DK" dirty="0"/>
            <a:t>Tester om forretningskrav</a:t>
          </a:r>
        </a:p>
        <a:p>
          <a:pPr>
            <a:buFont typeface="Arial" panose="020B0604020202020204" pitchFamily="34" charset="0"/>
            <a:buChar char="•"/>
          </a:pPr>
          <a:r>
            <a:rPr lang="da-DK" dirty="0"/>
            <a:t>Udføres af brugere eller forretningen</a:t>
          </a:r>
        </a:p>
        <a:p>
          <a:pPr>
            <a:buFont typeface="Arial" panose="020B0604020202020204" pitchFamily="34" charset="0"/>
            <a:buChar char="•"/>
          </a:pPr>
          <a:r>
            <a:rPr lang="da-DK" dirty="0"/>
            <a:t>Formål: godkendelse før produktion</a:t>
          </a:r>
        </a:p>
      </dgm:t>
    </dgm:pt>
    <dgm:pt modelId="{E0D85ABC-FBAF-4C57-85AB-F83875FEC1E6}" type="parTrans" cxnId="{52E92943-C798-4746-BDD0-CAFFC16E6D0C}">
      <dgm:prSet/>
      <dgm:spPr/>
      <dgm:t>
        <a:bodyPr/>
        <a:lstStyle/>
        <a:p>
          <a:endParaRPr lang="da-DK"/>
        </a:p>
      </dgm:t>
    </dgm:pt>
    <dgm:pt modelId="{1F753E53-E1C2-47A6-A003-E6B059DD9989}" type="sibTrans" cxnId="{52E92943-C798-4746-BDD0-CAFFC16E6D0C}">
      <dgm:prSet/>
      <dgm:spPr/>
      <dgm:t>
        <a:bodyPr/>
        <a:lstStyle/>
        <a:p>
          <a:endParaRPr lang="da-DK"/>
        </a:p>
      </dgm:t>
    </dgm:pt>
    <dgm:pt modelId="{DE9508B8-F2C4-4F97-9C29-087070E6DCD6}" type="pres">
      <dgm:prSet presAssocID="{22C0518C-E9D0-4324-AC88-E9DE1CEDD3D8}" presName="Name0" presStyleCnt="0">
        <dgm:presLayoutVars>
          <dgm:dir/>
          <dgm:animLvl val="lvl"/>
          <dgm:resizeHandles val="exact"/>
        </dgm:presLayoutVars>
      </dgm:prSet>
      <dgm:spPr/>
    </dgm:pt>
    <dgm:pt modelId="{DC86A3E3-CC5E-4BE6-BD51-235125026484}" type="pres">
      <dgm:prSet presAssocID="{79DD7761-63D9-44DD-BB68-AB141B6C2FF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D4DCFEC-4800-4985-B605-963D00511120}" type="pres">
      <dgm:prSet presAssocID="{BF419542-338D-4A7E-9D8D-A9BF342271B7}" presName="parTxOnlySpace" presStyleCnt="0"/>
      <dgm:spPr/>
    </dgm:pt>
    <dgm:pt modelId="{21388E4B-09F5-4CA5-8F85-5B9E956E418C}" type="pres">
      <dgm:prSet presAssocID="{ABAF82E0-7C26-406B-8C0F-1163B39D84D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59A968A-6EC0-40E7-8FB1-F44DAF9C2539}" type="pres">
      <dgm:prSet presAssocID="{62B4DEC0-A66D-4357-A59F-C8D9BDB0DEB8}" presName="parTxOnlySpace" presStyleCnt="0"/>
      <dgm:spPr/>
    </dgm:pt>
    <dgm:pt modelId="{3B0C4837-3886-4B55-A553-5C4A6DAF33F8}" type="pres">
      <dgm:prSet presAssocID="{CA9A4BC9-85BD-4ABB-8ED7-B2BB0C14AD6E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A98E05D-3CCB-4971-A24E-97CF304D11B3}" type="pres">
      <dgm:prSet presAssocID="{9D16B41F-DE13-4A5B-A31D-33FBCAFE3031}" presName="parTxOnlySpace" presStyleCnt="0"/>
      <dgm:spPr/>
    </dgm:pt>
    <dgm:pt modelId="{396D56AB-FEFB-4B22-A6D6-34328730170B}" type="pres">
      <dgm:prSet presAssocID="{91B8FA07-9EE6-4149-B5D7-C2CC6F50646F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B19C108-B08A-4F50-A818-4794709AAB0B}" type="presOf" srcId="{CA9A4BC9-85BD-4ABB-8ED7-B2BB0C14AD6E}" destId="{3B0C4837-3886-4B55-A553-5C4A6DAF33F8}" srcOrd="0" destOrd="0" presId="urn:microsoft.com/office/officeart/2005/8/layout/chevron1"/>
    <dgm:cxn modelId="{2AA64740-0016-4242-BD2E-9EB05D7F338E}" type="presOf" srcId="{91B8FA07-9EE6-4149-B5D7-C2CC6F50646F}" destId="{396D56AB-FEFB-4B22-A6D6-34328730170B}" srcOrd="0" destOrd="0" presId="urn:microsoft.com/office/officeart/2005/8/layout/chevron1"/>
    <dgm:cxn modelId="{52E92943-C798-4746-BDD0-CAFFC16E6D0C}" srcId="{22C0518C-E9D0-4324-AC88-E9DE1CEDD3D8}" destId="{91B8FA07-9EE6-4149-B5D7-C2CC6F50646F}" srcOrd="3" destOrd="0" parTransId="{E0D85ABC-FBAF-4C57-85AB-F83875FEC1E6}" sibTransId="{1F753E53-E1C2-47A6-A003-E6B059DD9989}"/>
    <dgm:cxn modelId="{3CD27248-4D92-4A6D-A6C8-1F47895C0DB5}" srcId="{22C0518C-E9D0-4324-AC88-E9DE1CEDD3D8}" destId="{79DD7761-63D9-44DD-BB68-AB141B6C2FF2}" srcOrd="0" destOrd="0" parTransId="{8E300969-2B83-4349-9E63-2D4E27BCCB84}" sibTransId="{BF419542-338D-4A7E-9D8D-A9BF342271B7}"/>
    <dgm:cxn modelId="{872EB282-B6E9-43A9-944B-42B8FD8CBE23}" srcId="{22C0518C-E9D0-4324-AC88-E9DE1CEDD3D8}" destId="{CA9A4BC9-85BD-4ABB-8ED7-B2BB0C14AD6E}" srcOrd="2" destOrd="0" parTransId="{9EF33C29-F75B-48D3-AB13-FC2D4ABAC5A4}" sibTransId="{9D16B41F-DE13-4A5B-A31D-33FBCAFE3031}"/>
    <dgm:cxn modelId="{F9EBBF87-BFE9-47B4-8D24-5B9511736735}" type="presOf" srcId="{ABAF82E0-7C26-406B-8C0F-1163B39D84D0}" destId="{21388E4B-09F5-4CA5-8F85-5B9E956E418C}" srcOrd="0" destOrd="0" presId="urn:microsoft.com/office/officeart/2005/8/layout/chevron1"/>
    <dgm:cxn modelId="{FCDC92A3-707D-4020-B2F8-F5DAD37865B6}" srcId="{22C0518C-E9D0-4324-AC88-E9DE1CEDD3D8}" destId="{ABAF82E0-7C26-406B-8C0F-1163B39D84D0}" srcOrd="1" destOrd="0" parTransId="{B191C582-3A45-440D-BACC-9262630298DD}" sibTransId="{62B4DEC0-A66D-4357-A59F-C8D9BDB0DEB8}"/>
    <dgm:cxn modelId="{110828C9-B2B7-47E7-BF47-2FD25D020580}" type="presOf" srcId="{79DD7761-63D9-44DD-BB68-AB141B6C2FF2}" destId="{DC86A3E3-CC5E-4BE6-BD51-235125026484}" srcOrd="0" destOrd="0" presId="urn:microsoft.com/office/officeart/2005/8/layout/chevron1"/>
    <dgm:cxn modelId="{5E75BFF4-2161-4C5F-9181-E37BA11934FF}" type="presOf" srcId="{22C0518C-E9D0-4324-AC88-E9DE1CEDD3D8}" destId="{DE9508B8-F2C4-4F97-9C29-087070E6DCD6}" srcOrd="0" destOrd="0" presId="urn:microsoft.com/office/officeart/2005/8/layout/chevron1"/>
    <dgm:cxn modelId="{7ABA05F2-AC00-4D3E-8587-E76F4819960D}" type="presParOf" srcId="{DE9508B8-F2C4-4F97-9C29-087070E6DCD6}" destId="{DC86A3E3-CC5E-4BE6-BD51-235125026484}" srcOrd="0" destOrd="0" presId="urn:microsoft.com/office/officeart/2005/8/layout/chevron1"/>
    <dgm:cxn modelId="{06D6D8F1-BA32-46B7-BF9E-6AE2BFA3EF2D}" type="presParOf" srcId="{DE9508B8-F2C4-4F97-9C29-087070E6DCD6}" destId="{5D4DCFEC-4800-4985-B605-963D00511120}" srcOrd="1" destOrd="0" presId="urn:microsoft.com/office/officeart/2005/8/layout/chevron1"/>
    <dgm:cxn modelId="{A8A92E20-6B91-4E72-8F87-355FC388FDE9}" type="presParOf" srcId="{DE9508B8-F2C4-4F97-9C29-087070E6DCD6}" destId="{21388E4B-09F5-4CA5-8F85-5B9E956E418C}" srcOrd="2" destOrd="0" presId="urn:microsoft.com/office/officeart/2005/8/layout/chevron1"/>
    <dgm:cxn modelId="{6766ECCD-AAC7-4A9B-81B3-F62EAFBF9473}" type="presParOf" srcId="{DE9508B8-F2C4-4F97-9C29-087070E6DCD6}" destId="{D59A968A-6EC0-40E7-8FB1-F44DAF9C2539}" srcOrd="3" destOrd="0" presId="urn:microsoft.com/office/officeart/2005/8/layout/chevron1"/>
    <dgm:cxn modelId="{7EFE0F2B-EF53-48F4-A6C4-1B3B7A06BA1B}" type="presParOf" srcId="{DE9508B8-F2C4-4F97-9C29-087070E6DCD6}" destId="{3B0C4837-3886-4B55-A553-5C4A6DAF33F8}" srcOrd="4" destOrd="0" presId="urn:microsoft.com/office/officeart/2005/8/layout/chevron1"/>
    <dgm:cxn modelId="{FC155DC6-2314-4F22-8AB4-AF78A141F8D1}" type="presParOf" srcId="{DE9508B8-F2C4-4F97-9C29-087070E6DCD6}" destId="{4A98E05D-3CCB-4971-A24E-97CF304D11B3}" srcOrd="5" destOrd="0" presId="urn:microsoft.com/office/officeart/2005/8/layout/chevron1"/>
    <dgm:cxn modelId="{481FCFF2-D304-49D3-AFF3-D94691572C9A}" type="presParOf" srcId="{DE9508B8-F2C4-4F97-9C29-087070E6DCD6}" destId="{396D56AB-FEFB-4B22-A6D6-34328730170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86A3E3-CC5E-4BE6-BD51-235125026484}">
      <dsp:nvSpPr>
        <dsp:cNvPr id="0" name=""/>
        <dsp:cNvSpPr/>
      </dsp:nvSpPr>
      <dsp:spPr>
        <a:xfrm>
          <a:off x="5332" y="213209"/>
          <a:ext cx="3103789" cy="1241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b="1" kern="1200" dirty="0"/>
            <a:t>Enhedstest (Unit Test)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kern="1200" dirty="0"/>
            <a:t>Tester enkeltkomponenter eller funktioner isoleret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kern="1200" dirty="0"/>
            <a:t>Udføres primært af udviklere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kern="1200" dirty="0"/>
            <a:t>Formål: verificere korrekt teknisk funktion</a:t>
          </a:r>
        </a:p>
      </dsp:txBody>
      <dsp:txXfrm>
        <a:off x="626090" y="213209"/>
        <a:ext cx="1862274" cy="1241515"/>
      </dsp:txXfrm>
    </dsp:sp>
    <dsp:sp modelId="{21388E4B-09F5-4CA5-8F85-5B9E956E418C}">
      <dsp:nvSpPr>
        <dsp:cNvPr id="0" name=""/>
        <dsp:cNvSpPr/>
      </dsp:nvSpPr>
      <dsp:spPr>
        <a:xfrm>
          <a:off x="2798742" y="213209"/>
          <a:ext cx="3103789" cy="1241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b="1" kern="1200" dirty="0"/>
            <a:t>Integrationstest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kern="1200" dirty="0"/>
            <a:t>Tester samspillet mellem komponenter og systemdele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kern="1200" dirty="0"/>
            <a:t>Fokus på interfaces, </a:t>
          </a:r>
          <a:r>
            <a:rPr lang="da-DK" sz="1000" kern="1200" dirty="0" err="1"/>
            <a:t>dataflow</a:t>
          </a:r>
          <a:r>
            <a:rPr lang="da-DK" sz="1000" kern="1200" dirty="0"/>
            <a:t> og afhængigheder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kern="1200" dirty="0"/>
            <a:t>Formål: identificere fejl i integrationen</a:t>
          </a:r>
        </a:p>
      </dsp:txBody>
      <dsp:txXfrm>
        <a:off x="3419500" y="213209"/>
        <a:ext cx="1862274" cy="1241515"/>
      </dsp:txXfrm>
    </dsp:sp>
    <dsp:sp modelId="{3B0C4837-3886-4B55-A553-5C4A6DAF33F8}">
      <dsp:nvSpPr>
        <dsp:cNvPr id="0" name=""/>
        <dsp:cNvSpPr/>
      </dsp:nvSpPr>
      <dsp:spPr>
        <a:xfrm>
          <a:off x="5592153" y="213209"/>
          <a:ext cx="3103789" cy="1241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b="1" kern="1200" dirty="0"/>
            <a:t>Systemtest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kern="1200" dirty="0"/>
            <a:t>Tester hele </a:t>
          </a:r>
          <a:r>
            <a:rPr lang="da-DK" sz="1000" kern="1200" dirty="0" err="1"/>
            <a:t>sysetmet</a:t>
          </a:r>
          <a:r>
            <a:rPr lang="da-DK" sz="1000" kern="1200" dirty="0"/>
            <a:t> som en samlet løsning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kern="1200" dirty="0"/>
            <a:t>Udføres typisk af testere eller QA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kern="1200" dirty="0"/>
            <a:t>Fokus på funktionelle og ikke-funktionelle krav</a:t>
          </a:r>
        </a:p>
      </dsp:txBody>
      <dsp:txXfrm>
        <a:off x="6212911" y="213209"/>
        <a:ext cx="1862274" cy="1241515"/>
      </dsp:txXfrm>
    </dsp:sp>
    <dsp:sp modelId="{396D56AB-FEFB-4B22-A6D6-34328730170B}">
      <dsp:nvSpPr>
        <dsp:cNvPr id="0" name=""/>
        <dsp:cNvSpPr/>
      </dsp:nvSpPr>
      <dsp:spPr>
        <a:xfrm>
          <a:off x="8385563" y="213209"/>
          <a:ext cx="3103789" cy="1241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Accepttest (User </a:t>
          </a:r>
          <a:r>
            <a:rPr lang="da-DK" sz="1000" b="1" kern="1200" dirty="0" err="1"/>
            <a:t>Acceptance</a:t>
          </a:r>
          <a:r>
            <a:rPr lang="da-DK" sz="1000" b="1" kern="1200" dirty="0"/>
            <a:t> Test)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kern="1200" dirty="0"/>
            <a:t>Tester om forretningskrav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kern="1200" dirty="0"/>
            <a:t>Udføres af brugere eller forretningen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1000" kern="1200" dirty="0"/>
            <a:t>Formål: godkendelse før produktion</a:t>
          </a:r>
        </a:p>
      </dsp:txBody>
      <dsp:txXfrm>
        <a:off x="9006321" y="213209"/>
        <a:ext cx="1862274" cy="1241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5B625-9AE0-4BBE-A80C-39C3EE0E7ED4}" type="datetimeFigureOut">
              <a:rPr lang="da-DK" smtClean="0"/>
              <a:t>06-09-2026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01863-F318-403B-B337-64B62E0556C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04619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God software har:</a:t>
            </a:r>
            <a:endParaRPr lang="da-DK" dirty="0"/>
          </a:p>
          <a:p>
            <a:r>
              <a:rPr lang="da-DK" b="1" dirty="0"/>
              <a:t>Høj binding internt</a:t>
            </a:r>
            <a:r>
              <a:rPr lang="da-DK" dirty="0"/>
              <a:t> (klare ansvarsområder)</a:t>
            </a:r>
          </a:p>
          <a:p>
            <a:r>
              <a:rPr lang="da-DK" b="1" dirty="0"/>
              <a:t>Lav kobling eksternt</a:t>
            </a:r>
            <a:r>
              <a:rPr lang="da-DK" dirty="0"/>
              <a:t> (løs afhængighed)</a:t>
            </a:r>
          </a:p>
          <a:p>
            <a:r>
              <a:rPr lang="da-DK" dirty="0"/>
              <a:t>Objekt orienteret tankegang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D4DDB3-EC61-4EF3-AF51-CC8EE787C630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611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FF2F34-C7AA-4D94-9998-013C5122C617}" type="slidenum">
              <a:rPr lang="da-DK" smtClean="0"/>
              <a:t>36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0048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01863-F318-403B-B337-64B62E0556C6}" type="slidenum">
              <a:rPr lang="da-DK" smtClean="0"/>
              <a:t>37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3991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01863-F318-403B-B337-64B62E0556C6}" type="slidenum">
              <a:rPr lang="da-DK" smtClean="0"/>
              <a:t>42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1578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F271CEC-B054-9DBD-72F5-4C99F010F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 dirty="0"/>
              <a:t>Klik for at redigere titeltypografien i masteren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7CA9BC6-1A74-B0B8-11F7-39B9F0E44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BD53A9EA-B104-6585-124D-38B70107F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AA1D-2E90-43B7-9595-FEEBC6871414}" type="datetimeFigureOut">
              <a:rPr lang="da-DK" smtClean="0"/>
              <a:t>06-09-2026</a:t>
            </a:fld>
            <a:endParaRPr lang="da-DK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F1883082-2D6F-2692-F987-2D2E9BBF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_number">
            <a:extLst>
              <a:ext uri="{FF2B5EF4-FFF2-40B4-BE49-F238E27FC236}">
                <a16:creationId xmlns:a16="http://schemas.microsoft.com/office/drawing/2014/main" id="{8DAE7C07-42A2-9DD4-3B9E-1EE27810B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3156-7946-4CE7-B367-EEA915D4BD5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5876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EEEC866-611E-C0FE-D928-11D16EE9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E327DC11-FFEA-04D3-CFB7-7BDF17977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88628670-95F2-9BE1-9106-90EE9BB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AA1D-2E90-43B7-9595-FEEBC6871414}" type="datetimeFigureOut">
              <a:rPr lang="da-DK" smtClean="0"/>
              <a:t>06-09-2026</a:t>
            </a:fld>
            <a:endParaRPr lang="da-DK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5BC260FB-22F3-4D19-5C03-F7852ACD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_number">
            <a:extLst>
              <a:ext uri="{FF2B5EF4-FFF2-40B4-BE49-F238E27FC236}">
                <a16:creationId xmlns:a16="http://schemas.microsoft.com/office/drawing/2014/main" id="{66662380-A010-79F7-07CA-26FB8356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3156-7946-4CE7-B367-EEA915D4BD5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179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22AD583-C898-4CFB-C483-31AC5F31D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377C323C-7240-D344-8C00-2305C18CD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3AD08023-377E-D88B-279D-57B52AD9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AA1D-2E90-43B7-9595-FEEBC6871414}" type="datetimeFigureOut">
              <a:rPr lang="da-DK" smtClean="0"/>
              <a:t>06-09-2026</a:t>
            </a:fld>
            <a:endParaRPr lang="da-DK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08EC4D4D-C377-EF7F-E3F2-17346895F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_number">
            <a:extLst>
              <a:ext uri="{FF2B5EF4-FFF2-40B4-BE49-F238E27FC236}">
                <a16:creationId xmlns:a16="http://schemas.microsoft.com/office/drawing/2014/main" id="{B0E965D9-60E6-3F84-5950-EB10887D9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3156-7946-4CE7-B367-EEA915D4BD5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03441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82ED22F-9730-C378-7770-CA775ED3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content_left">
            <a:extLst>
              <a:ext uri="{FF2B5EF4-FFF2-40B4-BE49-F238E27FC236}">
                <a16:creationId xmlns:a16="http://schemas.microsoft.com/office/drawing/2014/main" id="{8D0B78D1-7762-2E35-D943-F17408D26E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content_right">
            <a:extLst>
              <a:ext uri="{FF2B5EF4-FFF2-40B4-BE49-F238E27FC236}">
                <a16:creationId xmlns:a16="http://schemas.microsoft.com/office/drawing/2014/main" id="{3B821DD8-81D9-7B01-F7C4-7ED934F1D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CDBD468E-5172-3CF4-44B7-A11D822E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AA1D-2E90-43B7-9595-FEEBC6871414}" type="datetimeFigureOut">
              <a:rPr lang="da-DK" smtClean="0"/>
              <a:t>06-09-2026</a:t>
            </a:fld>
            <a:endParaRPr lang="da-DK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42FBC2D8-E785-A6B4-D8B3-2B42397FC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_number">
            <a:extLst>
              <a:ext uri="{FF2B5EF4-FFF2-40B4-BE49-F238E27FC236}">
                <a16:creationId xmlns:a16="http://schemas.microsoft.com/office/drawing/2014/main" id="{E6A9C8B3-61ED-F56A-CEBC-05EA2E8F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3156-7946-4CE7-B367-EEA915D4BD5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9581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F0248FF-EA5F-14F6-5CE7-7A75EDFB6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 dirty="0"/>
              <a:t>Klik for at redigere titeltypografien i masteren</a:t>
            </a:r>
          </a:p>
        </p:txBody>
      </p:sp>
      <p:sp>
        <p:nvSpPr>
          <p:cNvPr id="3" name="heading_left">
            <a:extLst>
              <a:ext uri="{FF2B5EF4-FFF2-40B4-BE49-F238E27FC236}">
                <a16:creationId xmlns:a16="http://schemas.microsoft.com/office/drawing/2014/main" id="{15B2C072-2B67-B114-D404-607966F7C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_left">
            <a:extLst>
              <a:ext uri="{FF2B5EF4-FFF2-40B4-BE49-F238E27FC236}">
                <a16:creationId xmlns:a16="http://schemas.microsoft.com/office/drawing/2014/main" id="{25C8F27A-9BDA-2B4D-59ED-8D6190B6C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heading_right">
            <a:extLst>
              <a:ext uri="{FF2B5EF4-FFF2-40B4-BE49-F238E27FC236}">
                <a16:creationId xmlns:a16="http://schemas.microsoft.com/office/drawing/2014/main" id="{9DF30B04-5713-C7C6-066C-0D32E2A14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_right">
            <a:extLst>
              <a:ext uri="{FF2B5EF4-FFF2-40B4-BE49-F238E27FC236}">
                <a16:creationId xmlns:a16="http://schemas.microsoft.com/office/drawing/2014/main" id="{4D77E2FE-52CD-9A20-253F-65821255E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2857AEF4-58F3-9961-73E2-963999BD5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AA1D-2E90-43B7-9595-FEEBC6871414}" type="datetimeFigureOut">
              <a:rPr lang="da-DK" smtClean="0"/>
              <a:t>06-09-2026</a:t>
            </a:fld>
            <a:endParaRPr lang="da-DK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2FB1E1DE-8E1E-955C-C18E-0BE29566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E1D4A2AB-98D2-1AFB-C50D-12A3E618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3156-7946-4CE7-B367-EEA915D4BD5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9628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EAB140B-104C-ED03-AC3E-D9A14B397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17FAB27C-8FCF-37AF-CA15-2E743B5C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AA1D-2E90-43B7-9595-FEEBC6871414}" type="datetimeFigureOut">
              <a:rPr lang="da-DK" smtClean="0"/>
              <a:t>06-09-2026</a:t>
            </a:fld>
            <a:endParaRPr lang="da-DK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3F89E3B9-357C-7AA0-726D-2FD0761A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_number">
            <a:extLst>
              <a:ext uri="{FF2B5EF4-FFF2-40B4-BE49-F238E27FC236}">
                <a16:creationId xmlns:a16="http://schemas.microsoft.com/office/drawing/2014/main" id="{8568E95A-427B-F465-8484-E9169330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3156-7946-4CE7-B367-EEA915D4BD5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57853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>
            <a:extLst>
              <a:ext uri="{FF2B5EF4-FFF2-40B4-BE49-F238E27FC236}">
                <a16:creationId xmlns:a16="http://schemas.microsoft.com/office/drawing/2014/main" id="{C37EEEFF-E3DE-D319-4DB8-39E1FE75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AA1D-2E90-43B7-9595-FEEBC6871414}" type="datetimeFigureOut">
              <a:rPr lang="da-DK" smtClean="0"/>
              <a:t>06-09-2026</a:t>
            </a:fld>
            <a:endParaRPr lang="da-DK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F4D0DBC-F419-CB3C-D7C5-A6182E728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_number">
            <a:extLst>
              <a:ext uri="{FF2B5EF4-FFF2-40B4-BE49-F238E27FC236}">
                <a16:creationId xmlns:a16="http://schemas.microsoft.com/office/drawing/2014/main" id="{94851DC4-91CF-8363-8721-6DEC61A4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3156-7946-4CE7-B367-EEA915D4BD5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6740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EFA2ED-B452-A4AD-36A5-41CA58CE7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4E5F4E08-9208-9346-CE7B-DF663C03C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caption">
            <a:extLst>
              <a:ext uri="{FF2B5EF4-FFF2-40B4-BE49-F238E27FC236}">
                <a16:creationId xmlns:a16="http://schemas.microsoft.com/office/drawing/2014/main" id="{364113DC-CA4D-6B2B-A40D-2D71E8585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6EFDF800-6B2E-4708-2BDC-2778F9486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AA1D-2E90-43B7-9595-FEEBC6871414}" type="datetimeFigureOut">
              <a:rPr lang="da-DK" smtClean="0"/>
              <a:t>06-09-2026</a:t>
            </a:fld>
            <a:endParaRPr lang="da-DK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ADDB12B4-D3CF-974A-4BD1-1B6AE656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_number">
            <a:extLst>
              <a:ext uri="{FF2B5EF4-FFF2-40B4-BE49-F238E27FC236}">
                <a16:creationId xmlns:a16="http://schemas.microsoft.com/office/drawing/2014/main" id="{EB37EDD9-331A-4BD9-B8C9-9ACA8D38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3156-7946-4CE7-B367-EEA915D4BD5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7441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B866DF2-294D-FCFA-FE9A-05D67C6F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icture">
            <a:extLst>
              <a:ext uri="{FF2B5EF4-FFF2-40B4-BE49-F238E27FC236}">
                <a16:creationId xmlns:a16="http://schemas.microsoft.com/office/drawing/2014/main" id="{D04AC797-F5B5-3A93-F1F2-0E25A9D9E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45720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caption">
            <a:extLst>
              <a:ext uri="{FF2B5EF4-FFF2-40B4-BE49-F238E27FC236}">
                <a16:creationId xmlns:a16="http://schemas.microsoft.com/office/drawing/2014/main" id="{99FE6FD0-3410-B764-3542-E9A94ADCD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0CE74952-1D69-5219-8B02-EB6C9D03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AA1D-2E90-43B7-9595-FEEBC6871414}" type="datetimeFigureOut">
              <a:rPr lang="da-DK" smtClean="0"/>
              <a:t>06-09-2026</a:t>
            </a:fld>
            <a:endParaRPr lang="da-DK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1293B00E-FFC6-0EE6-96F1-9DD2D269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endParaRPr lang="da-DK" b="1" dirty="0"/>
          </a:p>
        </p:txBody>
      </p:sp>
      <p:sp>
        <p:nvSpPr>
          <p:cNvPr id="7" name="slide_number">
            <a:extLst>
              <a:ext uri="{FF2B5EF4-FFF2-40B4-BE49-F238E27FC236}">
                <a16:creationId xmlns:a16="http://schemas.microsoft.com/office/drawing/2014/main" id="{022CF8F1-5554-7260-1942-EB29AD05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3156-7946-4CE7-B367-EEA915D4BD52}" type="slidenum">
              <a:rPr lang="da-DK" smtClean="0"/>
              <a:t>‹nr.›</a:t>
            </a:fld>
            <a:endParaRPr lang="da-DK"/>
          </a:p>
        </p:txBody>
      </p:sp>
      <p:sp>
        <p:nvSpPr>
          <p:cNvPr id="9" name="picture_name">
            <a:extLst>
              <a:ext uri="{FF2B5EF4-FFF2-40B4-BE49-F238E27FC236}">
                <a16:creationId xmlns:a16="http://schemas.microsoft.com/office/drawing/2014/main" id="{E8BCED03-34CD-10C7-643A-6C90767E72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78425" y="5511799"/>
            <a:ext cx="6172199" cy="306388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da-DK" dirty="0"/>
              <a:t>Klik for at redigere</a:t>
            </a:r>
          </a:p>
        </p:txBody>
      </p:sp>
      <p:sp>
        <p:nvSpPr>
          <p:cNvPr id="11" name="prompt">
            <a:extLst>
              <a:ext uri="{FF2B5EF4-FFF2-40B4-BE49-F238E27FC236}">
                <a16:creationId xmlns:a16="http://schemas.microsoft.com/office/drawing/2014/main" id="{6D4BFAA0-5068-2955-AAD2-BF25C240C5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3575" y="5446713"/>
            <a:ext cx="4338637" cy="844550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sdf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56405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BC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478" y="290999"/>
            <a:ext cx="5837562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957" y="3257313"/>
            <a:ext cx="5776603" cy="68853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248066" cy="365125"/>
          </a:xfrm>
        </p:spPr>
        <p:txBody>
          <a:bodyPr/>
          <a:lstStyle/>
          <a:p>
            <a:fld id="{C128FA71-3A18-48C0-980F-4B68F7F63042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5226" y="6453001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34549" y="64530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DF674D60-5296-E85C-8E30-0134313EA9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" y="4513972"/>
            <a:ext cx="1542422" cy="1810669"/>
          </a:xfrm>
          <a:prstGeom prst="rect">
            <a:avLst/>
          </a:prstGeom>
        </p:spPr>
      </p:pic>
      <p:sp>
        <p:nvSpPr>
          <p:cNvPr id="11" name="Pladsholder til indhold 10">
            <a:extLst>
              <a:ext uri="{FF2B5EF4-FFF2-40B4-BE49-F238E27FC236}">
                <a16:creationId xmlns:a16="http://schemas.microsoft.com/office/drawing/2014/main" id="{B8277AB5-1B45-F459-BD6A-C6CA5C24B9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44349" y="535629"/>
            <a:ext cx="4299659" cy="397834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18476181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19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97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52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50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30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17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042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352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732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8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_title">
            <a:extLst>
              <a:ext uri="{FF2B5EF4-FFF2-40B4-BE49-F238E27FC236}">
                <a16:creationId xmlns:a16="http://schemas.microsoft.com/office/drawing/2014/main" id="{ED27A088-9367-2EF5-E907-D0C318503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master_body">
            <a:extLst>
              <a:ext uri="{FF2B5EF4-FFF2-40B4-BE49-F238E27FC236}">
                <a16:creationId xmlns:a16="http://schemas.microsoft.com/office/drawing/2014/main" id="{52DF3E4C-DA7F-E526-D5C8-C1F7DA0E9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master_date">
            <a:extLst>
              <a:ext uri="{FF2B5EF4-FFF2-40B4-BE49-F238E27FC236}">
                <a16:creationId xmlns:a16="http://schemas.microsoft.com/office/drawing/2014/main" id="{C985AB62-FC3F-BEE9-2FED-980EC10E2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87DBAA1D-2E90-43B7-9595-FEEBC6871414}" type="datetimeFigureOut">
              <a:rPr lang="da-DK" smtClean="0"/>
              <a:pPr/>
              <a:t>06-09-2026</a:t>
            </a:fld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5" name="master_footer">
            <a:extLst>
              <a:ext uri="{FF2B5EF4-FFF2-40B4-BE49-F238E27FC236}">
                <a16:creationId xmlns:a16="http://schemas.microsoft.com/office/drawing/2014/main" id="{593989F4-F406-445C-E5A1-2F31DC5AE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6" name="master_slide_number">
            <a:extLst>
              <a:ext uri="{FF2B5EF4-FFF2-40B4-BE49-F238E27FC236}">
                <a16:creationId xmlns:a16="http://schemas.microsoft.com/office/drawing/2014/main" id="{491DD1F2-0250-B801-4F7C-23DA06AF1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8323156-7946-4CE7-B367-EEA915D4BD52}" type="slidenum">
              <a:rPr lang="da-DK" smtClean="0"/>
              <a:pPr/>
              <a:t>‹nr.›</a:t>
            </a:fld>
            <a:endParaRPr lang="da-DK"/>
          </a:p>
        </p:txBody>
      </p:sp>
      <p:pic>
        <p:nvPicPr>
          <p:cNvPr id="10" name="zbc_logo">
            <a:extLst>
              <a:ext uri="{FF2B5EF4-FFF2-40B4-BE49-F238E27FC236}">
                <a16:creationId xmlns:a16="http://schemas.microsoft.com/office/drawing/2014/main" id="{7C6FD048-0352-32EA-4F95-7BB348FFAFB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60001" y="5769257"/>
            <a:ext cx="441998" cy="815411"/>
          </a:xfrm>
          <a:prstGeom prst="rect">
            <a:avLst/>
          </a:prstGeom>
        </p:spPr>
      </p:pic>
      <p:sp>
        <p:nvSpPr>
          <p:cNvPr id="11" name="address_text">
            <a:extLst>
              <a:ext uri="{FF2B5EF4-FFF2-40B4-BE49-F238E27FC236}">
                <a16:creationId xmlns:a16="http://schemas.microsoft.com/office/drawing/2014/main" id="{FB8FE2E1-1995-375F-E8C1-9ABB5D3DB2D0}"/>
              </a:ext>
            </a:extLst>
          </p:cNvPr>
          <p:cNvSpPr txBox="1"/>
          <p:nvPr userDrawn="1"/>
        </p:nvSpPr>
        <p:spPr>
          <a:xfrm rot="16200000">
            <a:off x="-1216370" y="3949430"/>
            <a:ext cx="3122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8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Ahorn Allé 3 - 5 4100 Ringsted</a:t>
            </a:r>
            <a:endParaRPr lang="da-D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66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1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whitepapers/latest/security-design-of-aws-nitro-system/the-components-of-the-nitro-system.html?utm_source=chatgpt.com" TargetMode="External"/><Relationship Id="rId2" Type="http://schemas.openxmlformats.org/officeDocument/2006/relationships/hyperlink" Target="https://learn.microsoft.com/en-us/azure/security/fundamentals/hypervisor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hetzner.com/cloud/technical-details/faq/?utm_source=chatgpt.com" TargetMode="External"/><Relationship Id="rId5" Type="http://schemas.openxmlformats.org/officeDocument/2006/relationships/hyperlink" Target="https://www.alibabacloud.com/blog/595716?utm_source=chatgpt.com" TargetMode="External"/><Relationship Id="rId4" Type="http://schemas.openxmlformats.org/officeDocument/2006/relationships/hyperlink" Target="https://cloud.google.com/learn/what-is-a-virtual-machine?utm_source=chatgpt.com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HcZbXsZtm0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26FA99E7-2D2B-4A51-CF44-9C6C1C31C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816" y="2018199"/>
            <a:ext cx="5837562" cy="2621154"/>
          </a:xfrm>
        </p:spPr>
        <p:txBody>
          <a:bodyPr/>
          <a:lstStyle/>
          <a:p>
            <a:r>
              <a:rPr lang="da-DK" dirty="0"/>
              <a:t>Server Side Programming</a:t>
            </a:r>
            <a:br>
              <a:rPr lang="da-DK" dirty="0"/>
            </a:br>
            <a:r>
              <a:rPr lang="da-DK" dirty="0"/>
              <a:t>Dag1</a:t>
            </a:r>
          </a:p>
        </p:txBody>
      </p:sp>
      <p:sp>
        <p:nvSpPr>
          <p:cNvPr id="11" name="Undertitel 2">
            <a:extLst>
              <a:ext uri="{FF2B5EF4-FFF2-40B4-BE49-F238E27FC236}">
                <a16:creationId xmlns:a16="http://schemas.microsoft.com/office/drawing/2014/main" id="{6FF0429C-EDC2-FAF0-FD98-C98D09422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8197" y="5949713"/>
            <a:ext cx="5776603" cy="688535"/>
          </a:xfrm>
        </p:spPr>
        <p:txBody>
          <a:bodyPr/>
          <a:lstStyle/>
          <a:p>
            <a:r>
              <a:rPr lang="da-DK" dirty="0"/>
              <a:t>2026 Bo Sandø Ebbe</a:t>
            </a:r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E159AD78-C4BF-7D0B-6448-CFC28A2C7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378" y="1642216"/>
            <a:ext cx="5604642" cy="373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920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51F788-6745-0B70-1AF5-E47004F84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Intro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2164120-844D-948D-638A-A091283A4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Me</a:t>
            </a:r>
            <a:r>
              <a:rPr lang="da-DK" dirty="0"/>
              <a:t>, </a:t>
            </a:r>
            <a:r>
              <a:rPr lang="da-DK" dirty="0" err="1"/>
              <a:t>Myself</a:t>
            </a:r>
            <a:r>
              <a:rPr lang="da-DK" dirty="0"/>
              <a:t> and I</a:t>
            </a:r>
          </a:p>
          <a:p>
            <a:r>
              <a:rPr lang="da-DK" dirty="0"/>
              <a:t>Regler</a:t>
            </a:r>
          </a:p>
          <a:p>
            <a:r>
              <a:rPr lang="da-DK" dirty="0"/>
              <a:t>AI</a:t>
            </a:r>
          </a:p>
          <a:p>
            <a:r>
              <a:rPr lang="da-DK" dirty="0"/>
              <a:t>Jer</a:t>
            </a:r>
          </a:p>
          <a:p>
            <a:r>
              <a:rPr lang="da-DK" dirty="0"/>
              <a:t>Serverside Programmering</a:t>
            </a:r>
          </a:p>
        </p:txBody>
      </p:sp>
    </p:spTree>
    <p:extLst>
      <p:ext uri="{BB962C8B-B14F-4D97-AF65-F5344CB8AC3E}">
        <p14:creationId xmlns:p14="http://schemas.microsoft.com/office/powerpoint/2010/main" val="411171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2C2DB9-320B-0B9D-E8DC-E5BBE766B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Målepinde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A273B096-1B0E-5755-C89D-BA0D68051740}"/>
              </a:ext>
            </a:extLst>
          </p:cNvPr>
          <p:cNvSpPr txBox="1"/>
          <p:nvPr/>
        </p:nvSpPr>
        <p:spPr>
          <a:xfrm>
            <a:off x="939800" y="1445339"/>
            <a:ext cx="83058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400" dirty="0">
                <a:solidFill>
                  <a:schemeClr val="bg1"/>
                </a:solidFill>
              </a:rPr>
              <a:t>Lærlingen kan, ud fra en case-beskrivelse, omhandlende udvikling af en kompleks serverside webapplikationer, selvstændigt designe, udvikle, teste og dokumentere en løsning, der lever op til stillede krav i beskrivelsen, og kan herigennem demonstrere viden, færdigheder og kompetencer, der ligger ud over de i faget beskrevne mål og målniveauer. Endvidere kan lærlingen begrunde de valgte løsninger og fremvise evner til at tilrettelægge og styre udviklingsprocessen.</a:t>
            </a:r>
          </a:p>
          <a:p>
            <a:r>
              <a:rPr lang="da-DK" sz="1400" dirty="0">
                <a:solidFill>
                  <a:schemeClr val="bg1"/>
                </a:solidFill>
              </a:rPr>
              <a:t>Lærlingen kan udvikle serverside webapplikationer, der kan levere HTML-kode til browseren, samt Web API eller webservices, som kan udveksle data med en </a:t>
            </a:r>
            <a:r>
              <a:rPr lang="da-DK" sz="1400" dirty="0" err="1">
                <a:solidFill>
                  <a:schemeClr val="bg1"/>
                </a:solidFill>
              </a:rPr>
              <a:t>client-application</a:t>
            </a:r>
            <a:r>
              <a:rPr lang="da-DK" sz="1400" dirty="0">
                <a:solidFill>
                  <a:schemeClr val="bg1"/>
                </a:solidFill>
              </a:rPr>
              <a:t>, f.eks. en browser eller en mobil App.</a:t>
            </a:r>
          </a:p>
          <a:p>
            <a:endParaRPr lang="da-DK" sz="14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Lærlingen kan redegøre for forskellige arkitekturer for web Applikationer og web API (web Services), med fordele og ulemper.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Lærlingen kan opbygge og konfigurere en web Application og web API (web service) vha. et framework.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Lærlingen kan benytte validering af brugerinput i en web Applikation.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Lærlingen kan implementere passende </a:t>
            </a:r>
            <a:r>
              <a:rPr lang="da-DK" sz="1400" dirty="0" err="1">
                <a:solidFill>
                  <a:schemeClr val="bg1"/>
                </a:solidFill>
              </a:rPr>
              <a:t>ViewModels</a:t>
            </a:r>
            <a:r>
              <a:rPr lang="da-DK" sz="1400" dirty="0">
                <a:solidFill>
                  <a:schemeClr val="bg1"/>
                </a:solidFill>
              </a:rPr>
              <a:t> eller DTO klasser.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rgbClr val="FFC000"/>
                </a:solidFill>
              </a:rPr>
              <a:t>Lærlingen kan anvende Unit Test og </a:t>
            </a:r>
            <a:r>
              <a:rPr lang="da-DK" sz="1400" dirty="0" err="1">
                <a:solidFill>
                  <a:srgbClr val="FFC000"/>
                </a:solidFill>
              </a:rPr>
              <a:t>mocking</a:t>
            </a:r>
            <a:r>
              <a:rPr lang="da-DK" sz="1400" dirty="0">
                <a:solidFill>
                  <a:srgbClr val="FFC000"/>
                </a:solidFill>
              </a:rPr>
              <a:t> af objekter.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Lærlingen kan konfigurere routing i en applikation.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Lærlingen kan udvide en applikation med en database, evt. med et ORM-framework.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Lærlingen kan programmere services til brug for en applikation, f.eks. data- og </a:t>
            </a:r>
            <a:r>
              <a:rPr lang="da-DK" sz="1400" dirty="0" err="1">
                <a:solidFill>
                  <a:schemeClr val="bg1"/>
                </a:solidFill>
              </a:rPr>
              <a:t>logging</a:t>
            </a:r>
            <a:r>
              <a:rPr lang="da-DK" sz="1400" dirty="0">
                <a:solidFill>
                  <a:schemeClr val="bg1"/>
                </a:solidFill>
              </a:rPr>
              <a:t>-services.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rgbClr val="FF0000"/>
                </a:solidFill>
              </a:rPr>
              <a:t>Lærlingen kan benytte en hensigtsmæssig strategi for </a:t>
            </a:r>
            <a:r>
              <a:rPr lang="da-DK" sz="1400" dirty="0" err="1">
                <a:solidFill>
                  <a:srgbClr val="FF0000"/>
                </a:solidFill>
              </a:rPr>
              <a:t>Exception</a:t>
            </a:r>
            <a:r>
              <a:rPr lang="da-DK" sz="1400" dirty="0">
                <a:solidFill>
                  <a:srgbClr val="FF0000"/>
                </a:solidFill>
              </a:rPr>
              <a:t> handling.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Lærlingen kan implementere sikkerhed og brugeradministration i en applikation.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rgbClr val="FF0000"/>
                </a:solidFill>
              </a:rPr>
              <a:t>Lærlingen kan udrulle (</a:t>
            </a:r>
            <a:r>
              <a:rPr lang="da-DK" sz="1400" dirty="0" err="1">
                <a:solidFill>
                  <a:srgbClr val="FF0000"/>
                </a:solidFill>
              </a:rPr>
              <a:t>deploy</a:t>
            </a:r>
            <a:r>
              <a:rPr lang="da-DK" sz="1400" dirty="0">
                <a:solidFill>
                  <a:srgbClr val="FF0000"/>
                </a:solidFill>
              </a:rPr>
              <a:t>) en applikation, både On-</a:t>
            </a:r>
            <a:r>
              <a:rPr lang="da-DK" sz="1400" dirty="0" err="1">
                <a:solidFill>
                  <a:srgbClr val="FF0000"/>
                </a:solidFill>
              </a:rPr>
              <a:t>Premises</a:t>
            </a:r>
            <a:r>
              <a:rPr lang="da-DK" sz="1400" dirty="0">
                <a:solidFill>
                  <a:srgbClr val="FF0000"/>
                </a:solidFill>
              </a:rPr>
              <a:t> og Cloud baseret.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Lærlingen kan udføre Parallel Programming.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Lærlingen kan redegøre for fordele/ulemper ved forskellige teknikker inden for </a:t>
            </a:r>
            <a:r>
              <a:rPr lang="da-DK" sz="1400" dirty="0" err="1">
                <a:solidFill>
                  <a:schemeClr val="bg1"/>
                </a:solidFill>
              </a:rPr>
              <a:t>Cryptography</a:t>
            </a:r>
            <a:r>
              <a:rPr lang="da-DK" sz="14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Lærlingen kan anvende </a:t>
            </a:r>
            <a:r>
              <a:rPr lang="da-DK" sz="1400" dirty="0" err="1">
                <a:solidFill>
                  <a:schemeClr val="bg1"/>
                </a:solidFill>
              </a:rPr>
              <a:t>Hashing</a:t>
            </a:r>
            <a:r>
              <a:rPr lang="da-DK" sz="1400" dirty="0">
                <a:solidFill>
                  <a:schemeClr val="bg1"/>
                </a:solidFill>
              </a:rPr>
              <a:t>, </a:t>
            </a:r>
            <a:r>
              <a:rPr lang="da-DK" sz="1400" dirty="0" err="1">
                <a:solidFill>
                  <a:schemeClr val="bg1"/>
                </a:solidFill>
              </a:rPr>
              <a:t>Symmetric</a:t>
            </a:r>
            <a:r>
              <a:rPr lang="da-DK" sz="1400" dirty="0">
                <a:solidFill>
                  <a:schemeClr val="bg1"/>
                </a:solidFill>
              </a:rPr>
              <a:t> og </a:t>
            </a:r>
            <a:r>
              <a:rPr lang="da-DK" sz="1400" dirty="0" err="1">
                <a:solidFill>
                  <a:schemeClr val="bg1"/>
                </a:solidFill>
              </a:rPr>
              <a:t>Asymmetric</a:t>
            </a:r>
            <a:r>
              <a:rPr lang="da-DK" sz="1400" dirty="0">
                <a:solidFill>
                  <a:schemeClr val="bg1"/>
                </a:solidFill>
              </a:rPr>
              <a:t> </a:t>
            </a:r>
            <a:r>
              <a:rPr lang="da-DK" sz="1400" dirty="0" err="1">
                <a:solidFill>
                  <a:schemeClr val="bg1"/>
                </a:solidFill>
              </a:rPr>
              <a:t>Encryption</a:t>
            </a:r>
            <a:r>
              <a:rPr lang="da-DK" sz="1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907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5EC7B8-133B-D697-1988-E3A38A75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Lektions 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266573B-F1FB-860F-46EB-A63630B2A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2558"/>
            <a:ext cx="10430933" cy="4351338"/>
          </a:xfrm>
        </p:spPr>
        <p:txBody>
          <a:bodyPr>
            <a:normAutofit/>
          </a:bodyPr>
          <a:lstStyle/>
          <a:p>
            <a:r>
              <a:rPr lang="da-DK" sz="1800" b="1" dirty="0"/>
              <a:t>Dag1</a:t>
            </a:r>
          </a:p>
          <a:p>
            <a:pPr marL="0" indent="0">
              <a:buNone/>
            </a:pPr>
            <a:r>
              <a:rPr lang="da-DK" sz="1800" b="1" dirty="0"/>
              <a:t>	</a:t>
            </a:r>
            <a:r>
              <a:rPr lang="da-DK" sz="1800" dirty="0" err="1"/>
              <a:t>Operativsystem,Unix</a:t>
            </a:r>
            <a:r>
              <a:rPr lang="da-DK" sz="1800" dirty="0"/>
              <a:t>/Linux kontra 	</a:t>
            </a:r>
            <a:r>
              <a:rPr lang="da-DK" sz="1800" dirty="0" err="1"/>
              <a:t>Windows,Processer,Threads,IPC</a:t>
            </a:r>
            <a:r>
              <a:rPr lang="da-DK" sz="1800" dirty="0"/>
              <a:t>/</a:t>
            </a:r>
            <a:r>
              <a:rPr lang="da-DK" sz="1800" dirty="0" err="1"/>
              <a:t>kommunikation,Zombies,Concurrency</a:t>
            </a:r>
            <a:r>
              <a:rPr lang="da-DK" sz="1800" dirty="0"/>
              <a:t>/</a:t>
            </a:r>
            <a:r>
              <a:rPr lang="da-DK" sz="1800" dirty="0" err="1"/>
              <a:t>parallelism</a:t>
            </a:r>
            <a:r>
              <a:rPr lang="da-DK" sz="1800" dirty="0"/>
              <a:t>, </a:t>
            </a:r>
            <a:r>
              <a:rPr lang="da-DK" sz="1800" dirty="0" err="1"/>
              <a:t>pycharm</a:t>
            </a:r>
            <a:r>
              <a:rPr lang="da-DK" sz="1800" dirty="0"/>
              <a:t>, 	Flask</a:t>
            </a:r>
          </a:p>
          <a:p>
            <a:r>
              <a:rPr lang="da-DK" sz="1800" b="1" dirty="0"/>
              <a:t>Dag2</a:t>
            </a:r>
          </a:p>
          <a:p>
            <a:pPr marL="0" indent="0">
              <a:buNone/>
            </a:pPr>
            <a:r>
              <a:rPr lang="da-DK" sz="1800" dirty="0"/>
              <a:t>	HTTP/</a:t>
            </a:r>
            <a:r>
              <a:rPr lang="da-DK" sz="1800" dirty="0" err="1"/>
              <a:t>endpoints</a:t>
            </a:r>
            <a:r>
              <a:rPr lang="da-DK" sz="1800" dirty="0"/>
              <a:t>/</a:t>
            </a:r>
            <a:r>
              <a:rPr lang="da-DK" sz="1800" dirty="0" err="1"/>
              <a:t>routing,HTML</a:t>
            </a:r>
            <a:r>
              <a:rPr lang="da-DK" sz="1800" dirty="0"/>
              <a:t>/</a:t>
            </a:r>
            <a:r>
              <a:rPr lang="da-DK" sz="1800" dirty="0" err="1"/>
              <a:t>JSON,Database,DTO,Services,Sessions</a:t>
            </a:r>
            <a:r>
              <a:rPr lang="da-DK" sz="1800" dirty="0"/>
              <a:t>/</a:t>
            </a:r>
            <a:r>
              <a:rPr lang="da-DK" sz="1800" dirty="0" err="1"/>
              <a:t>cookies,Hashing</a:t>
            </a:r>
            <a:r>
              <a:rPr lang="da-DK" sz="1800" dirty="0"/>
              <a:t> + 	</a:t>
            </a:r>
            <a:r>
              <a:rPr lang="da-DK" sz="1800" dirty="0" err="1"/>
              <a:t>Symmetric</a:t>
            </a:r>
            <a:r>
              <a:rPr lang="da-DK" sz="1800" dirty="0"/>
              <a:t> + </a:t>
            </a:r>
            <a:r>
              <a:rPr lang="da-DK" sz="1800" dirty="0" err="1"/>
              <a:t>asymmetric</a:t>
            </a:r>
            <a:r>
              <a:rPr lang="da-DK" sz="1800" dirty="0"/>
              <a:t> </a:t>
            </a:r>
            <a:r>
              <a:rPr lang="da-DK" sz="1800" dirty="0" err="1"/>
              <a:t>encryption,Exception</a:t>
            </a:r>
            <a:r>
              <a:rPr lang="da-DK" sz="1800" dirty="0"/>
              <a:t> handling/</a:t>
            </a:r>
            <a:r>
              <a:rPr lang="da-DK" sz="1800" dirty="0" err="1"/>
              <a:t>logging</a:t>
            </a:r>
            <a:r>
              <a:rPr lang="da-DK" sz="1800" dirty="0"/>
              <a:t>, </a:t>
            </a:r>
            <a:r>
              <a:rPr lang="da-DK" sz="1800" dirty="0" err="1"/>
              <a:t>Gunicorn</a:t>
            </a:r>
            <a:endParaRPr lang="da-DK" sz="1800" dirty="0"/>
          </a:p>
          <a:p>
            <a:r>
              <a:rPr lang="da-DK" sz="1800" dirty="0"/>
              <a:t>Dag3 </a:t>
            </a:r>
          </a:p>
          <a:p>
            <a:pPr marL="0" indent="0">
              <a:buNone/>
            </a:pPr>
            <a:r>
              <a:rPr lang="da-DK" sz="1800" dirty="0"/>
              <a:t>	Unit </a:t>
            </a:r>
            <a:r>
              <a:rPr lang="da-DK" sz="1800" dirty="0" err="1"/>
              <a:t>test,Mocking,Kort</a:t>
            </a:r>
            <a:r>
              <a:rPr lang="da-DK" sz="1800" dirty="0"/>
              <a:t> repetition/</a:t>
            </a:r>
            <a:r>
              <a:rPr lang="da-DK" sz="1800" dirty="0" err="1"/>
              <a:t>QA,Case</a:t>
            </a:r>
            <a:r>
              <a:rPr lang="da-DK" sz="1800" dirty="0"/>
              <a:t> </a:t>
            </a:r>
            <a:r>
              <a:rPr lang="da-DK" sz="1800" dirty="0" err="1"/>
              <a:t>udleveres,Design</a:t>
            </a:r>
            <a:r>
              <a:rPr lang="da-DK" sz="1800" dirty="0"/>
              <a:t> og udvikling starter</a:t>
            </a:r>
          </a:p>
          <a:p>
            <a:r>
              <a:rPr lang="da-DK" sz="1800" dirty="0"/>
              <a:t>Dag4</a:t>
            </a:r>
          </a:p>
          <a:p>
            <a:pPr marL="0" indent="0">
              <a:buNone/>
            </a:pPr>
            <a:r>
              <a:rPr lang="da-DK" sz="1800" dirty="0"/>
              <a:t>	Case – aflevering 1600 </a:t>
            </a:r>
          </a:p>
          <a:p>
            <a:r>
              <a:rPr lang="da-DK" sz="1800" dirty="0"/>
              <a:t>Dag5    Præsentation – samt multiple </a:t>
            </a:r>
            <a:r>
              <a:rPr lang="da-DK" sz="1800" dirty="0" err="1"/>
              <a:t>choice</a:t>
            </a:r>
            <a:r>
              <a:rPr lang="da-DK" sz="1800" dirty="0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3500547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C07733-0CA2-0419-A311-0826A7429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Serverside Programmering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A6131EAE-F504-E341-DB23-313E569D4F75}"/>
              </a:ext>
            </a:extLst>
          </p:cNvPr>
          <p:cNvSpPr txBox="1"/>
          <p:nvPr/>
        </p:nvSpPr>
        <p:spPr>
          <a:xfrm>
            <a:off x="2760134" y="31058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600" b="1" dirty="0">
                <a:solidFill>
                  <a:schemeClr val="bg1"/>
                </a:solidFill>
              </a:rPr>
              <a:t>forudsætningskompetencer</a:t>
            </a:r>
            <a:endParaRPr lang="da-DK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92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A02F48-A220-D595-337C-2AD845FB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Server </a:t>
            </a:r>
            <a:r>
              <a:rPr lang="da-DK" dirty="0" err="1"/>
              <a:t>vs</a:t>
            </a:r>
            <a:r>
              <a:rPr lang="da-DK" dirty="0"/>
              <a:t> Client programmering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B33B4613-7A41-8EA1-8706-094735857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575692"/>
              </p:ext>
            </p:extLst>
          </p:nvPr>
        </p:nvGraphicFramePr>
        <p:xfrm>
          <a:off x="1738175" y="1690688"/>
          <a:ext cx="8935784" cy="435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67892">
                  <a:extLst>
                    <a:ext uri="{9D8B030D-6E8A-4147-A177-3AD203B41FA5}">
                      <a16:colId xmlns:a16="http://schemas.microsoft.com/office/drawing/2014/main" val="2517335688"/>
                    </a:ext>
                  </a:extLst>
                </a:gridCol>
                <a:gridCol w="4467892">
                  <a:extLst>
                    <a:ext uri="{9D8B030D-6E8A-4147-A177-3AD203B41FA5}">
                      <a16:colId xmlns:a16="http://schemas.microsoft.com/office/drawing/2014/main" val="2734579699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Clientside</a:t>
                      </a:r>
                    </a:p>
                  </a:txBody>
                  <a:tcPr marL="77702" marR="77702" marT="38851" marB="38851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 dirty="0"/>
                        <a:t>Serverside</a:t>
                      </a:r>
                    </a:p>
                  </a:txBody>
                  <a:tcPr marL="77702" marR="77702" marT="38851" marB="38851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80915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Kører på brugerens enhed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Kører på en server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06762981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Arbejder typisk for én bruger ad gangen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Arbejder typisk for mange brugere samtidigt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00476872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Ressourcer er primært lokale for brugeren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Ressourcer deles mellem mange requests og brugere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54298295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Færre konflikter om fælles data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Risiko for samtidige ændringer af samme data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686167283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Fokus på brugerinterface og interaktion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Fokus på requests, data, services og forretningslogik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38980681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Fejl påvirker normalt én bruger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Fejl kan påvirke mange eller alle brugere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54825501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Brugerens maskine leverer CPU og hukommelse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Serverens CPU, RAM, database og netværk deles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946198545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Data kan være midlertidige/lokale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Data er ofte fælles og persistente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88763836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Sikkerhed handler bl.a. om brugerens miljø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Serveren skal beskytte data mellem forskellige brugere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91162756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/>
                        <a:t>Skal primært være responsiv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500" dirty="0"/>
                        <a:t>Skal også kunne håndtere </a:t>
                      </a:r>
                      <a:r>
                        <a:rPr lang="da-DK" sz="1500" dirty="0" err="1"/>
                        <a:t>concurrency</a:t>
                      </a:r>
                      <a:r>
                        <a:rPr lang="da-DK" sz="1500" dirty="0"/>
                        <a:t> og belastning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242565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897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190067-D8EE-9E61-C01D-4A5D5E2F2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Operativsystemet 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8461534C-F472-2105-B416-5B753396C3B5}"/>
              </a:ext>
            </a:extLst>
          </p:cNvPr>
          <p:cNvSpPr txBox="1"/>
          <p:nvPr/>
        </p:nvSpPr>
        <p:spPr>
          <a:xfrm>
            <a:off x="3208867" y="3115733"/>
            <a:ext cx="5042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dirty="0">
                <a:solidFill>
                  <a:schemeClr val="bg1"/>
                </a:solidFill>
              </a:rPr>
              <a:t>Hvad er et operativ system?</a:t>
            </a:r>
          </a:p>
        </p:txBody>
      </p:sp>
    </p:spTree>
    <p:extLst>
      <p:ext uri="{BB962C8B-B14F-4D97-AF65-F5344CB8AC3E}">
        <p14:creationId xmlns:p14="http://schemas.microsoft.com/office/powerpoint/2010/main" val="4165949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31FBF-F436-3869-0DDF-E3A531D6B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F60B4-A1E3-FD44-5AE2-628EBFFE3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Operativsystemet 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FFB8021-192F-031B-3845-7F1FDC6BEFC1}"/>
              </a:ext>
            </a:extLst>
          </p:cNvPr>
          <p:cNvSpPr/>
          <p:nvPr/>
        </p:nvSpPr>
        <p:spPr>
          <a:xfrm>
            <a:off x="997035" y="135940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Serverprogrammering er afhængig af OS-funktioner</a:t>
            </a:r>
            <a:endParaRPr lang="en-US" sz="1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35FF36F-8DBD-C327-BA2D-778D9E7E917E}"/>
              </a:ext>
            </a:extLst>
          </p:cNvPr>
          <p:cNvSpPr/>
          <p:nvPr/>
        </p:nvSpPr>
        <p:spPr>
          <a:xfrm>
            <a:off x="997035" y="19812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Ressourcer</a:t>
            </a:r>
            <a:endParaRPr lang="en-US" sz="20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6715B54-9235-8B9B-D3AE-D7CD02D10423}"/>
              </a:ext>
            </a:extLst>
          </p:cNvPr>
          <p:cNvSpPr/>
          <p:nvPr/>
        </p:nvSpPr>
        <p:spPr>
          <a:xfrm>
            <a:off x="1115907" y="2484120"/>
            <a:ext cx="448056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CPU-planlægning.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Proces- og thread-håndtering.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Hukommelse og isolation.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Filsystem </a:t>
            </a:r>
            <a:r>
              <a:rPr lang="en-US" sz="17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rettigheder</a:t>
            </a:r>
            <a:endParaRPr lang="en-US" sz="17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Hardware(</a:t>
            </a:r>
            <a:r>
              <a:rPr lang="en-US" sz="170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drivere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7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4AF117B-74D3-5D25-C681-11DFA93C3038}"/>
              </a:ext>
            </a:extLst>
          </p:cNvPr>
          <p:cNvSpPr/>
          <p:nvPr/>
        </p:nvSpPr>
        <p:spPr>
          <a:xfrm>
            <a:off x="5898219" y="19812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Kommunikation</a:t>
            </a:r>
            <a:endParaRPr lang="en-US" sz="20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F782B5E7-0D70-B696-C207-347B56CC679C}"/>
              </a:ext>
            </a:extLst>
          </p:cNvPr>
          <p:cNvSpPr/>
          <p:nvPr/>
        </p:nvSpPr>
        <p:spPr>
          <a:xfrm>
            <a:off x="6007947" y="2484120"/>
            <a:ext cx="448056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Netværk og sockets.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Pipe, signaler og køer.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Synkronisering mellem samtidige opgaver.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og standard streams.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754757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AD040-C5BF-88EB-9D57-92275ED5B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C0590C-0225-C3C6-17D1-D2C6EA108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Hvad er en Kerne ?</a:t>
            </a: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71E7B91E-9763-160E-DA2C-1CD3BB4DE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306" y="1027906"/>
            <a:ext cx="4292452" cy="2145121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CD9772D1-B737-8A4D-640C-17A80C108361}"/>
              </a:ext>
            </a:extLst>
          </p:cNvPr>
          <p:cNvSpPr txBox="1"/>
          <p:nvPr/>
        </p:nvSpPr>
        <p:spPr>
          <a:xfrm>
            <a:off x="6157519" y="3288858"/>
            <a:ext cx="55524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Kernen </a:t>
            </a:r>
            <a:b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</a:b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Er et program som styrer afviklingen af programmer.</a:t>
            </a:r>
            <a:b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</a:b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Til venstre er skrevet de absolutte minimums krav – Bemærk at burger og fil styring ikke er et krav.  </a:t>
            </a:r>
            <a:b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</a:b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Kan man selv skrive en kerne ? – Ja Linus Torvalds gjorde det i 1991 – som en eksamens opgave.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Er det nyttigt at have en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shell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(terminal program)?</a:t>
            </a:r>
            <a:b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</a:b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Bruger styring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Fil styring ?</a:t>
            </a:r>
            <a:b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</a:b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Til nogen løsninger ja, og til andre mindre </a:t>
            </a:r>
            <a:b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</a:br>
            <a:b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</a:b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C48360E2-200B-EED2-DCCE-9D88BE6825B7}"/>
              </a:ext>
            </a:extLst>
          </p:cNvPr>
          <p:cNvSpPr txBox="1"/>
          <p:nvPr/>
        </p:nvSpPr>
        <p:spPr>
          <a:xfrm>
            <a:off x="838200" y="1599228"/>
            <a:ext cx="5012944" cy="4893647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1. </a:t>
            </a:r>
            <a:r>
              <a:rPr kumimoji="0" lang="da-DK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Execution</a:t>
            </a: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Management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Defines how programs start, run, suspend, and terminate.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Establishes execution contexts (processes or tasks).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Enforces</a:t>
            </a:r>
            <a:r>
              <a:rPr kumimoji="0" lang="da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</a:t>
            </a:r>
            <a:r>
              <a:rPr kumimoji="0" lang="da-DK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scheduling</a:t>
            </a:r>
            <a:r>
              <a:rPr kumimoji="0" lang="da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policy.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2. CPU </a:t>
            </a:r>
            <a:r>
              <a:rPr kumimoji="0" lang="da-DK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Scheduling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Decides which execution unit runs on the processor.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Enforces fairness, priority, or real-time constraints.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3. Memory Management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Defines how memory is laid out and used.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Prevents conflicts between execution contexts.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4. </a:t>
            </a:r>
            <a:r>
              <a:rPr kumimoji="0" lang="da-DK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Interrupt</a:t>
            </a: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and </a:t>
            </a:r>
            <a:r>
              <a:rPr kumimoji="0" lang="da-DK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Exception</a:t>
            </a: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Handling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Responds to asynchronous hardware events.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Preserves and restores execution state.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5. I/O and Device Management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Mediates access to hardware devices.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Presents uniform interfaces to software.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 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6. Resource Protection and Isolation (Optional but Common)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Prevents one program from corrupting another or the system.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7. System Call Interface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Controlled entry points from applications to privileged services.</a:t>
            </a:r>
            <a:endParaRPr kumimoji="0" lang="da-DK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504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3C6A1-A99A-0840-D76F-2D67CBCC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Unix/</a:t>
            </a:r>
            <a:r>
              <a:rPr lang="da-DK" dirty="0" err="1"/>
              <a:t>linux</a:t>
            </a:r>
            <a:r>
              <a:rPr lang="da-DK" dirty="0"/>
              <a:t> vs. Windows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943275D-18A8-59B5-FFA9-2B1E007FE73E}"/>
              </a:ext>
            </a:extLst>
          </p:cNvPr>
          <p:cNvSpPr/>
          <p:nvPr/>
        </p:nvSpPr>
        <p:spPr>
          <a:xfrm>
            <a:off x="971635" y="137979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Begge kan drive webservere, men procesmodellen er forskellig</a:t>
            </a:r>
            <a:endParaRPr lang="en-US" sz="1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9CE08E6-4B9C-4EA3-60F5-7615A248954F}"/>
              </a:ext>
            </a:extLst>
          </p:cNvPr>
          <p:cNvSpPr/>
          <p:nvPr/>
        </p:nvSpPr>
        <p:spPr>
          <a:xfrm>
            <a:off x="971635" y="195586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Unix/Linux</a:t>
            </a:r>
            <a:endParaRPr lang="en-US" sz="2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DD40360-1D88-4918-83EC-821786B5EE42}"/>
              </a:ext>
            </a:extLst>
          </p:cNvPr>
          <p:cNvSpPr/>
          <p:nvPr/>
        </p:nvSpPr>
        <p:spPr>
          <a:xfrm>
            <a:off x="1090507" y="2458784"/>
            <a:ext cx="448056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Procesoprettelse bygges typisk omkring fork og derefter exec.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Parent- </a:t>
            </a:r>
            <a:r>
              <a:rPr lang="en-US" sz="17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childprocesser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 tydelig relation.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Signaler og exit-status er centrale mekanismer.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Mange servermiljøer og cloudmiljøer er Linux-baserede.</a:t>
            </a:r>
            <a:endParaRPr lang="en-US" sz="17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6A6354AD-3611-7CE7-6656-4062A309057B}"/>
              </a:ext>
            </a:extLst>
          </p:cNvPr>
          <p:cNvSpPr/>
          <p:nvPr/>
        </p:nvSpPr>
        <p:spPr>
          <a:xfrm>
            <a:off x="5872819" y="195586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20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36DB009-9BAE-E0BD-58D2-3B6C15E9D39E}"/>
              </a:ext>
            </a:extLst>
          </p:cNvPr>
          <p:cNvSpPr/>
          <p:nvPr/>
        </p:nvSpPr>
        <p:spPr>
          <a:xfrm>
            <a:off x="5982547" y="2458784"/>
            <a:ext cx="448056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Procesoprettelse samles typisk i CreateProcess-modellen.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 og services er centrale i driftsmodellen.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er et stærkt økosystem og kan være relevant i Windows-miljøer.</a:t>
            </a:r>
            <a:endParaRPr lang="en-US" sz="1700" dirty="0"/>
          </a:p>
          <a:p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Platformvalg påvirkes af drift, kompetencer, krav og governance.</a:t>
            </a:r>
            <a:endParaRPr lang="en-US" sz="1700" dirty="0"/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7113F512-48AD-8423-9CFF-9DC95BC1AAF7}"/>
              </a:ext>
            </a:extLst>
          </p:cNvPr>
          <p:cNvSpPr txBox="1"/>
          <p:nvPr/>
        </p:nvSpPr>
        <p:spPr>
          <a:xfrm>
            <a:off x="2594322" y="5216598"/>
            <a:ext cx="5953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 dirty="0">
                <a:solidFill>
                  <a:schemeClr val="bg1"/>
                </a:solidFill>
              </a:rPr>
              <a:t>Kan </a:t>
            </a:r>
            <a:r>
              <a:rPr lang="da-DK" sz="2800" dirty="0" err="1">
                <a:solidFill>
                  <a:schemeClr val="bg1"/>
                </a:solidFill>
              </a:rPr>
              <a:t>windows</a:t>
            </a:r>
            <a:r>
              <a:rPr lang="da-DK" sz="2800" dirty="0">
                <a:solidFill>
                  <a:schemeClr val="bg1"/>
                </a:solidFill>
              </a:rPr>
              <a:t> køre </a:t>
            </a:r>
            <a:r>
              <a:rPr lang="da-DK" sz="2800" dirty="0" err="1">
                <a:solidFill>
                  <a:schemeClr val="bg1"/>
                </a:solidFill>
              </a:rPr>
              <a:t>linux</a:t>
            </a:r>
            <a:r>
              <a:rPr lang="da-DK" sz="2800" dirty="0">
                <a:solidFill>
                  <a:schemeClr val="bg1"/>
                </a:solidFill>
              </a:rPr>
              <a:t> </a:t>
            </a:r>
            <a:r>
              <a:rPr lang="da-DK" sz="2800" dirty="0" err="1">
                <a:solidFill>
                  <a:schemeClr val="bg1"/>
                </a:solidFill>
              </a:rPr>
              <a:t>containerer</a:t>
            </a:r>
            <a:r>
              <a:rPr lang="da-DK" sz="2800" dirty="0">
                <a:solidFill>
                  <a:schemeClr val="bg1"/>
                </a:solidFill>
              </a:rPr>
              <a:t> ? </a:t>
            </a:r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CFF67F99-42CF-146D-1B12-9D931639AA67}"/>
              </a:ext>
            </a:extLst>
          </p:cNvPr>
          <p:cNvSpPr txBox="1"/>
          <p:nvPr/>
        </p:nvSpPr>
        <p:spPr>
          <a:xfrm>
            <a:off x="2594322" y="5626174"/>
            <a:ext cx="39793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 dirty="0">
                <a:solidFill>
                  <a:schemeClr val="bg1"/>
                </a:solidFill>
              </a:rPr>
              <a:t>Kan Arm køre Windows? </a:t>
            </a:r>
          </a:p>
        </p:txBody>
      </p:sp>
    </p:spTree>
    <p:extLst>
      <p:ext uri="{BB962C8B-B14F-4D97-AF65-F5344CB8AC3E}">
        <p14:creationId xmlns:p14="http://schemas.microsoft.com/office/powerpoint/2010/main" val="2414898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1024A1-2C14-0CBA-31D9-445A8E73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Cloud ? </a:t>
            </a:r>
          </a:p>
        </p:txBody>
      </p:sp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B201FB5E-F3B8-1053-338A-A4EFB347F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073599"/>
              </p:ext>
            </p:extLst>
          </p:nvPr>
        </p:nvGraphicFramePr>
        <p:xfrm>
          <a:off x="995680" y="1825625"/>
          <a:ext cx="10515600" cy="44313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6010901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542044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93948176"/>
                    </a:ext>
                  </a:extLst>
                </a:gridCol>
              </a:tblGrid>
              <a:tr h="191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Leverandør/platform</a:t>
                      </a:r>
                    </a:p>
                  </a:txBody>
                  <a:tcPr marL="27367" marR="27367" marT="13683" marB="13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Grundlæggende virtualisering / compute</a:t>
                      </a:r>
                    </a:p>
                  </a:txBody>
                  <a:tcPr marL="27367" marR="27367" marT="13683" marB="13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Bemærkning</a:t>
                      </a:r>
                    </a:p>
                  </a:txBody>
                  <a:tcPr marL="27367" marR="27367" marT="13683" marB="13683" anchor="ctr"/>
                </a:tc>
                <a:extLst>
                  <a:ext uri="{0D108BD9-81ED-4DB2-BD59-A6C34878D82A}">
                    <a16:rowId xmlns:a16="http://schemas.microsoft.com/office/drawing/2014/main" val="902873297"/>
                  </a:ext>
                </a:extLst>
              </a:tr>
              <a:tr h="519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Microsoft Azure</a:t>
                      </a:r>
                    </a:p>
                  </a:txBody>
                  <a:tcPr marL="27367" marR="27367" marT="13683" marB="13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Azure Hypervisor baseret på Hyper-V</a:t>
                      </a:r>
                    </a:p>
                  </a:txBody>
                  <a:tcPr marL="27367" marR="27367" marT="13683" marB="13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Azure-hosts bruger en specialiseret Windows Server-host og Microsofts Hyper-V-baserede hypervisor. Linux og Windows kan køre som guests. (</a:t>
                      </a:r>
                      <a:r>
                        <a:rPr lang="da-DK" sz="1400">
                          <a:hlinkClick r:id="rId2" tooltip="Hypervisor security on the Azure fleet | Microsoft Learn"/>
                        </a:rPr>
                        <a:t>Microsoft Learn</a:t>
                      </a:r>
                      <a:r>
                        <a:rPr lang="da-DK" sz="1400"/>
                        <a:t>)</a:t>
                      </a:r>
                    </a:p>
                  </a:txBody>
                  <a:tcPr marL="27367" marR="27367" marT="13683" marB="13683" anchor="ctr"/>
                </a:tc>
                <a:extLst>
                  <a:ext uri="{0D108BD9-81ED-4DB2-BD59-A6C34878D82A}">
                    <a16:rowId xmlns:a16="http://schemas.microsoft.com/office/drawing/2014/main" val="1888286294"/>
                  </a:ext>
                </a:extLst>
              </a:tr>
              <a:tr h="602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AWS</a:t>
                      </a:r>
                    </a:p>
                  </a:txBody>
                  <a:tcPr marL="27367" marR="27367" marT="13683" marB="13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Nitro System + Nitro Hypervisor</a:t>
                      </a:r>
                    </a:p>
                  </a:txBody>
                  <a:tcPr marL="27367" marR="27367" marT="13683" marB="13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Moderne EC2 bruger Nitro. Nitro Hypervisor er en meget reduceret, specialbygget hypervisor baseret på KVM; storage/network-management er i høj grad flyttet til dedikeret Nitro-hardware. (</a:t>
                      </a:r>
                      <a:r>
                        <a:rPr lang="da-DK" sz="1400">
                          <a:hlinkClick r:id="rId3" tooltip="The components of the Nitro System - The Security Design of the AWS Nitro System"/>
                        </a:rPr>
                        <a:t>AWS Doku</a:t>
                      </a:r>
                      <a:r>
                        <a:rPr lang="da-DK" sz="1400"/>
                        <a:t>)</a:t>
                      </a:r>
                    </a:p>
                  </a:txBody>
                  <a:tcPr marL="27367" marR="27367" marT="13683" marB="13683" anchor="ctr"/>
                </a:tc>
                <a:extLst>
                  <a:ext uri="{0D108BD9-81ED-4DB2-BD59-A6C34878D82A}">
                    <a16:rowId xmlns:a16="http://schemas.microsoft.com/office/drawing/2014/main" val="3434401601"/>
                  </a:ext>
                </a:extLst>
              </a:tr>
              <a:tr h="355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Google Cloud</a:t>
                      </a:r>
                    </a:p>
                  </a:txBody>
                  <a:tcPr marL="27367" marR="27367" marT="13683" marB="13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KVM-baseret hypervisor</a:t>
                      </a:r>
                    </a:p>
                  </a:txBody>
                  <a:tcPr marL="27367" marR="27367" marT="13683" marB="13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Google dokumenterer direkte, at Compute Engine anvender en KVM-baseret hypervisor. (</a:t>
                      </a:r>
                      <a:r>
                        <a:rPr lang="da-DK" sz="1400">
                          <a:hlinkClick r:id="rId4" tooltip="What is a virtual machine (VM)? Uses &amp; benefits | Google Cloud"/>
                        </a:rPr>
                        <a:t>Google Cloud</a:t>
                      </a:r>
                      <a:r>
                        <a:rPr lang="da-DK" sz="1400"/>
                        <a:t>)</a:t>
                      </a:r>
                    </a:p>
                  </a:txBody>
                  <a:tcPr marL="27367" marR="27367" marT="13683" marB="13683" anchor="ctr"/>
                </a:tc>
                <a:extLst>
                  <a:ext uri="{0D108BD9-81ED-4DB2-BD59-A6C34878D82A}">
                    <a16:rowId xmlns:a16="http://schemas.microsoft.com/office/drawing/2014/main" val="981882958"/>
                  </a:ext>
                </a:extLst>
              </a:tr>
              <a:tr h="519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Alibaba Cloud</a:t>
                      </a:r>
                    </a:p>
                  </a:txBody>
                  <a:tcPr marL="27367" marR="27367" marT="13683" marB="13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X-Dragon + X-Dragon Hypervisor</a:t>
                      </a:r>
                    </a:p>
                  </a:txBody>
                  <a:tcPr marL="27367" marR="27367" marT="13683" marB="13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Alibaba udviklede X-Dragon ud fra den traditionelle KVM-model og flyttede bl.a. storage- og netværksvirtualisering ud på dedikeret hardware. (</a:t>
                      </a:r>
                      <a:r>
                        <a:rPr lang="da-DK" sz="1400">
                          <a:hlinkClick r:id="rId5" tooltip="Introducing the Sixth Generation of Alibaba Cloud's Elastic Compute Service - Alibaba Cloud Community"/>
                        </a:rPr>
                        <a:t>AlibabaCloud</a:t>
                      </a:r>
                      <a:r>
                        <a:rPr lang="da-DK" sz="1400"/>
                        <a:t>)</a:t>
                      </a:r>
                    </a:p>
                  </a:txBody>
                  <a:tcPr marL="27367" marR="27367" marT="13683" marB="13683" anchor="ctr"/>
                </a:tc>
                <a:extLst>
                  <a:ext uri="{0D108BD9-81ED-4DB2-BD59-A6C34878D82A}">
                    <a16:rowId xmlns:a16="http://schemas.microsoft.com/office/drawing/2014/main" val="4076831431"/>
                  </a:ext>
                </a:extLst>
              </a:tr>
              <a:tr h="355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Hetzner Cloud</a:t>
                      </a:r>
                    </a:p>
                  </a:txBody>
                  <a:tcPr marL="27367" marR="27367" marT="13683" marB="13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/>
                        <a:t>KVM</a:t>
                      </a:r>
                    </a:p>
                  </a:txBody>
                  <a:tcPr marL="27367" marR="27367" marT="13683" marB="13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dirty="0"/>
                        <a:t>Meget traditionel Linux/KVM-model. </a:t>
                      </a:r>
                      <a:r>
                        <a:rPr lang="da-DK" sz="1400" dirty="0" err="1"/>
                        <a:t>Hetzner</a:t>
                      </a:r>
                      <a:r>
                        <a:rPr lang="da-DK" sz="1400" dirty="0"/>
                        <a:t> oplyser direkte KVM som </a:t>
                      </a:r>
                      <a:r>
                        <a:rPr lang="da-DK" sz="1400" dirty="0" err="1"/>
                        <a:t>hypervisor</a:t>
                      </a:r>
                      <a:r>
                        <a:rPr lang="da-DK" sz="1400" dirty="0"/>
                        <a:t> og </a:t>
                      </a:r>
                      <a:r>
                        <a:rPr lang="da-DK" sz="1400" dirty="0" err="1"/>
                        <a:t>VirtIO</a:t>
                      </a:r>
                      <a:r>
                        <a:rPr lang="da-DK" sz="1400" dirty="0"/>
                        <a:t> til disk og netværk. (</a:t>
                      </a:r>
                      <a:r>
                        <a:rPr lang="da-DK" sz="1400" dirty="0" err="1">
                          <a:hlinkClick r:id="rId6" tooltip="FAQ - Hetzner Docs"/>
                        </a:rPr>
                        <a:t>Hetzner</a:t>
                      </a:r>
                      <a:r>
                        <a:rPr lang="da-DK" sz="1400" dirty="0">
                          <a:hlinkClick r:id="rId6" tooltip="FAQ - Hetzner Docs"/>
                        </a:rPr>
                        <a:t> Docs</a:t>
                      </a:r>
                      <a:r>
                        <a:rPr lang="da-DK" sz="1400" dirty="0"/>
                        <a:t>)</a:t>
                      </a:r>
                    </a:p>
                  </a:txBody>
                  <a:tcPr marL="27367" marR="27367" marT="13683" marB="13683" anchor="ctr"/>
                </a:tc>
                <a:extLst>
                  <a:ext uri="{0D108BD9-81ED-4DB2-BD59-A6C34878D82A}">
                    <a16:rowId xmlns:a16="http://schemas.microsoft.com/office/drawing/2014/main" val="3947478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583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900F6-946B-24A4-6935-A6BDB9C0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8BD5C3-6CB0-4E8A-008E-16689452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Linux Kernen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D44B28C9-C36C-BCA5-4CFA-07935D46E68E}"/>
              </a:ext>
            </a:extLst>
          </p:cNvPr>
          <p:cNvSpPr txBox="1"/>
          <p:nvPr/>
        </p:nvSpPr>
        <p:spPr>
          <a:xfrm>
            <a:off x="508000" y="6080545"/>
            <a:ext cx="110066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”Et operativsystem er den grundlæggende software på en computer, som styrer hardware-ressourcerne og gør det muligt at køre programmer. Det håndterer blandt andet processer, hukommelse, lager, enheder og brugerens interaktion med systemet.”</a:t>
            </a:r>
          </a:p>
        </p:txBody>
      </p:sp>
      <p:grpSp>
        <p:nvGrpSpPr>
          <p:cNvPr id="9" name="Gruppe 8">
            <a:extLst>
              <a:ext uri="{FF2B5EF4-FFF2-40B4-BE49-F238E27FC236}">
                <a16:creationId xmlns:a16="http://schemas.microsoft.com/office/drawing/2014/main" id="{CFBA30DB-4A43-D693-8BED-964522A08ACD}"/>
              </a:ext>
            </a:extLst>
          </p:cNvPr>
          <p:cNvGrpSpPr/>
          <p:nvPr/>
        </p:nvGrpSpPr>
        <p:grpSpPr>
          <a:xfrm>
            <a:off x="4157130" y="1822380"/>
            <a:ext cx="2667001" cy="2639597"/>
            <a:chOff x="1634064" y="1830207"/>
            <a:chExt cx="2667001" cy="2639597"/>
          </a:xfrm>
        </p:grpSpPr>
        <p:sp>
          <p:nvSpPr>
            <p:cNvPr id="8" name="Rutediagram: Forbindelse 7">
              <a:extLst>
                <a:ext uri="{FF2B5EF4-FFF2-40B4-BE49-F238E27FC236}">
                  <a16:creationId xmlns:a16="http://schemas.microsoft.com/office/drawing/2014/main" id="{D9EBD95F-CFCB-E396-0653-439F3F73A714}"/>
                </a:ext>
              </a:extLst>
            </p:cNvPr>
            <p:cNvSpPr/>
            <p:nvPr/>
          </p:nvSpPr>
          <p:spPr>
            <a:xfrm>
              <a:off x="1634064" y="1830207"/>
              <a:ext cx="2667001" cy="2639597"/>
            </a:xfrm>
            <a:prstGeom prst="flowChartConnector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ll MT"/>
                <a:ea typeface="+mn-ea"/>
                <a:cs typeface="+mn-cs"/>
              </a:endParaRPr>
            </a:p>
          </p:txBody>
        </p:sp>
        <p:sp>
          <p:nvSpPr>
            <p:cNvPr id="7" name="Rutediagram: Forbindelse 6">
              <a:extLst>
                <a:ext uri="{FF2B5EF4-FFF2-40B4-BE49-F238E27FC236}">
                  <a16:creationId xmlns:a16="http://schemas.microsoft.com/office/drawing/2014/main" id="{DF464856-5F8F-E15F-B900-D7C2D3D88CCE}"/>
                </a:ext>
              </a:extLst>
            </p:cNvPr>
            <p:cNvSpPr/>
            <p:nvPr/>
          </p:nvSpPr>
          <p:spPr>
            <a:xfrm>
              <a:off x="1930399" y="2099733"/>
              <a:ext cx="2074333" cy="2082799"/>
            </a:xfrm>
            <a:prstGeom prst="flowChartConnector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ll MT"/>
                <a:ea typeface="+mn-ea"/>
                <a:cs typeface="+mn-cs"/>
              </a:endParaRPr>
            </a:p>
          </p:txBody>
        </p:sp>
        <p:sp>
          <p:nvSpPr>
            <p:cNvPr id="5" name="Rutediagram: Forbindelse 4">
              <a:extLst>
                <a:ext uri="{FF2B5EF4-FFF2-40B4-BE49-F238E27FC236}">
                  <a16:creationId xmlns:a16="http://schemas.microsoft.com/office/drawing/2014/main" id="{349809F1-9A00-4250-7D7E-36D269AA233C}"/>
                </a:ext>
              </a:extLst>
            </p:cNvPr>
            <p:cNvSpPr/>
            <p:nvPr/>
          </p:nvSpPr>
          <p:spPr>
            <a:xfrm>
              <a:off x="2188634" y="2374886"/>
              <a:ext cx="1540932" cy="155024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ll MT"/>
                <a:ea typeface="+mn-ea"/>
                <a:cs typeface="+mn-cs"/>
              </a:endParaRPr>
            </a:p>
          </p:txBody>
        </p:sp>
        <p:sp>
          <p:nvSpPr>
            <p:cNvPr id="4" name="Rutediagram: Forbindelse 3">
              <a:extLst>
                <a:ext uri="{FF2B5EF4-FFF2-40B4-BE49-F238E27FC236}">
                  <a16:creationId xmlns:a16="http://schemas.microsoft.com/office/drawing/2014/main" id="{476634D7-8F7F-7DE5-E615-96577EC1F404}"/>
                </a:ext>
              </a:extLst>
            </p:cNvPr>
            <p:cNvSpPr/>
            <p:nvPr/>
          </p:nvSpPr>
          <p:spPr>
            <a:xfrm>
              <a:off x="2446868" y="2650067"/>
              <a:ext cx="1015999" cy="1007533"/>
            </a:xfrm>
            <a:prstGeom prst="flowChartConnector">
              <a:avLst/>
            </a:prstGeom>
            <a:solidFill>
              <a:schemeClr val="tx2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ll MT"/>
                <a:ea typeface="+mn-ea"/>
                <a:cs typeface="+mn-cs"/>
              </a:endParaRPr>
            </a:p>
          </p:txBody>
        </p:sp>
        <p:sp>
          <p:nvSpPr>
            <p:cNvPr id="3" name="Rutediagram: Forbindelse 2">
              <a:extLst>
                <a:ext uri="{FF2B5EF4-FFF2-40B4-BE49-F238E27FC236}">
                  <a16:creationId xmlns:a16="http://schemas.microsoft.com/office/drawing/2014/main" id="{82907F3E-8946-3D91-128A-E513324AF283}"/>
                </a:ext>
              </a:extLst>
            </p:cNvPr>
            <p:cNvSpPr/>
            <p:nvPr/>
          </p:nvSpPr>
          <p:spPr>
            <a:xfrm>
              <a:off x="2696633" y="2888396"/>
              <a:ext cx="524933" cy="523220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ll MT"/>
                <a:ea typeface="+mn-ea"/>
                <a:cs typeface="+mn-cs"/>
              </a:endParaRPr>
            </a:p>
          </p:txBody>
        </p:sp>
      </p:grpSp>
      <p:sp>
        <p:nvSpPr>
          <p:cNvPr id="11" name="Tekstfelt 10">
            <a:extLst>
              <a:ext uri="{FF2B5EF4-FFF2-40B4-BE49-F238E27FC236}">
                <a16:creationId xmlns:a16="http://schemas.microsoft.com/office/drawing/2014/main" id="{20DD9FCF-7533-04E2-863F-6162E8783185}"/>
              </a:ext>
            </a:extLst>
          </p:cNvPr>
          <p:cNvSpPr txBox="1"/>
          <p:nvPr/>
        </p:nvSpPr>
        <p:spPr>
          <a:xfrm>
            <a:off x="721672" y="1266204"/>
            <a:ext cx="2319866" cy="1600438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Level 1 : Hardware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CPU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Hukommelse (RAM)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Disk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Netværkskort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Andre enheder</a:t>
            </a:r>
          </a:p>
        </p:txBody>
      </p:sp>
      <p:cxnSp>
        <p:nvCxnSpPr>
          <p:cNvPr id="13" name="Forbindelse: vinklet 12">
            <a:extLst>
              <a:ext uri="{FF2B5EF4-FFF2-40B4-BE49-F238E27FC236}">
                <a16:creationId xmlns:a16="http://schemas.microsoft.com/office/drawing/2014/main" id="{3ECC2AD3-9DCC-F40E-BCA8-605809EBCF26}"/>
              </a:ext>
            </a:extLst>
          </p:cNvPr>
          <p:cNvCxnSpPr>
            <a:cxnSpLocks/>
            <a:stCxn id="3" idx="0"/>
            <a:endCxn id="11" idx="3"/>
          </p:cNvCxnSpPr>
          <p:nvPr/>
        </p:nvCxnSpPr>
        <p:spPr>
          <a:xfrm rot="16200000" flipV="1">
            <a:off x="3854779" y="1253182"/>
            <a:ext cx="814146" cy="2440628"/>
          </a:xfrm>
          <a:prstGeom prst="bent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felt 14">
            <a:extLst>
              <a:ext uri="{FF2B5EF4-FFF2-40B4-BE49-F238E27FC236}">
                <a16:creationId xmlns:a16="http://schemas.microsoft.com/office/drawing/2014/main" id="{C042C12D-F6E0-48E6-3AC4-E4D503D4EBF3}"/>
              </a:ext>
            </a:extLst>
          </p:cNvPr>
          <p:cNvSpPr txBox="1"/>
          <p:nvPr/>
        </p:nvSpPr>
        <p:spPr>
          <a:xfrm>
            <a:off x="7164804" y="409484"/>
            <a:ext cx="4780522" cy="160043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Level 2 :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Kernel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Space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Styrer CPU’en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Administrerer hukommelse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Håndterer processer og tråde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Kommunikerer med hardware via drivere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Kontrollerer adgang til systemressourcer</a:t>
            </a:r>
          </a:p>
        </p:txBody>
      </p:sp>
      <p:cxnSp>
        <p:nvCxnSpPr>
          <p:cNvPr id="19" name="Forbindelse: vinklet 18">
            <a:extLst>
              <a:ext uri="{FF2B5EF4-FFF2-40B4-BE49-F238E27FC236}">
                <a16:creationId xmlns:a16="http://schemas.microsoft.com/office/drawing/2014/main" id="{295C37C5-FA1B-C7CE-72A4-304823372E50}"/>
              </a:ext>
            </a:extLst>
          </p:cNvPr>
          <p:cNvCxnSpPr>
            <a:cxnSpLocks/>
            <a:stCxn id="4" idx="7"/>
            <a:endCxn id="15" idx="1"/>
          </p:cNvCxnSpPr>
          <p:nvPr/>
        </p:nvCxnSpPr>
        <p:spPr>
          <a:xfrm rot="5400000" flipH="1" flipV="1">
            <a:off x="5710930" y="1335917"/>
            <a:ext cx="1580087" cy="1327661"/>
          </a:xfrm>
          <a:prstGeom prst="bent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felt 19">
            <a:extLst>
              <a:ext uri="{FF2B5EF4-FFF2-40B4-BE49-F238E27FC236}">
                <a16:creationId xmlns:a16="http://schemas.microsoft.com/office/drawing/2014/main" id="{1D89CA24-CC6D-E6C4-9D18-7B7E5EC63996}"/>
              </a:ext>
            </a:extLst>
          </p:cNvPr>
          <p:cNvSpPr txBox="1"/>
          <p:nvPr/>
        </p:nvSpPr>
        <p:spPr>
          <a:xfrm>
            <a:off x="659640" y="3596428"/>
            <a:ext cx="3156817" cy="1846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Level 3 : System Calls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Programmer beder kernen om hjælp via systemkald Eksempler: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læse filer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starte processer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sende data over netværk</a:t>
            </a:r>
          </a:p>
        </p:txBody>
      </p:sp>
      <p:cxnSp>
        <p:nvCxnSpPr>
          <p:cNvPr id="22" name="Forbindelse: vinklet 21">
            <a:extLst>
              <a:ext uri="{FF2B5EF4-FFF2-40B4-BE49-F238E27FC236}">
                <a16:creationId xmlns:a16="http://schemas.microsoft.com/office/drawing/2014/main" id="{CF34FCE1-A5B6-C881-3A56-43AE7CE7C0C8}"/>
              </a:ext>
            </a:extLst>
          </p:cNvPr>
          <p:cNvCxnSpPr>
            <a:cxnSpLocks/>
            <a:stCxn id="20" idx="0"/>
            <a:endCxn id="5" idx="2"/>
          </p:cNvCxnSpPr>
          <p:nvPr/>
        </p:nvCxnSpPr>
        <p:spPr>
          <a:xfrm rot="5400000" flipH="1" flipV="1">
            <a:off x="3247750" y="2132479"/>
            <a:ext cx="454249" cy="2473651"/>
          </a:xfrm>
          <a:prstGeom prst="bent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kstfelt 22">
            <a:extLst>
              <a:ext uri="{FF2B5EF4-FFF2-40B4-BE49-F238E27FC236}">
                <a16:creationId xmlns:a16="http://schemas.microsoft.com/office/drawing/2014/main" id="{41516CCB-3D3A-EDBB-541A-6961EE749638}"/>
              </a:ext>
            </a:extLst>
          </p:cNvPr>
          <p:cNvSpPr txBox="1"/>
          <p:nvPr/>
        </p:nvSpPr>
        <p:spPr>
          <a:xfrm>
            <a:off x="7390641" y="2948639"/>
            <a:ext cx="4657425" cy="2585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Level 4: User Space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Her kører almindelige </a:t>
            </a:r>
            <a:r>
              <a:rPr kumimoji="0" lang="da-DK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programmer:Shells</a:t>
            </a: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(fx bash)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Scripts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Desktop-Managers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Disse programmer har ikke direkte adgang til hardware og skal bruge systemkald for at få adgang til </a:t>
            </a:r>
            <a:r>
              <a:rPr kumimoji="0" lang="da-DK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kernel</a:t>
            </a: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-funktioner</a:t>
            </a:r>
          </a:p>
        </p:txBody>
      </p:sp>
      <p:cxnSp>
        <p:nvCxnSpPr>
          <p:cNvPr id="25" name="Forbindelse: vinklet 24">
            <a:extLst>
              <a:ext uri="{FF2B5EF4-FFF2-40B4-BE49-F238E27FC236}">
                <a16:creationId xmlns:a16="http://schemas.microsoft.com/office/drawing/2014/main" id="{2653CEBF-107B-7DE1-D086-6D8683CAF474}"/>
              </a:ext>
            </a:extLst>
          </p:cNvPr>
          <p:cNvCxnSpPr>
            <a:cxnSpLocks/>
            <a:stCxn id="7" idx="6"/>
            <a:endCxn id="23" idx="1"/>
          </p:cNvCxnSpPr>
          <p:nvPr/>
        </p:nvCxnSpPr>
        <p:spPr>
          <a:xfrm>
            <a:off x="6527798" y="3133306"/>
            <a:ext cx="862843" cy="1107995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kstfelt 31">
            <a:extLst>
              <a:ext uri="{FF2B5EF4-FFF2-40B4-BE49-F238E27FC236}">
                <a16:creationId xmlns:a16="http://schemas.microsoft.com/office/drawing/2014/main" id="{3B62B1AB-486E-E218-F5D4-BD77D2E7544B}"/>
              </a:ext>
            </a:extLst>
          </p:cNvPr>
          <p:cNvSpPr txBox="1"/>
          <p:nvPr/>
        </p:nvSpPr>
        <p:spPr>
          <a:xfrm>
            <a:off x="4059892" y="4672187"/>
            <a:ext cx="3156818" cy="13849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Level 5:Applikationer  </a:t>
            </a: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Kommandoer og services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Grafiske programmer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bygger oven på funktionerne i brugerpladsen og kernen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34" name="Forbindelse: vinklet 33">
            <a:extLst>
              <a:ext uri="{FF2B5EF4-FFF2-40B4-BE49-F238E27FC236}">
                <a16:creationId xmlns:a16="http://schemas.microsoft.com/office/drawing/2014/main" id="{44B5E7A0-958C-C35A-8181-3801FE4F4BE2}"/>
              </a:ext>
            </a:extLst>
          </p:cNvPr>
          <p:cNvCxnSpPr>
            <a:cxnSpLocks/>
            <a:stCxn id="8" idx="3"/>
            <a:endCxn id="32" idx="1"/>
          </p:cNvCxnSpPr>
          <p:nvPr/>
        </p:nvCxnSpPr>
        <p:spPr>
          <a:xfrm rot="5400000">
            <a:off x="3659164" y="4476146"/>
            <a:ext cx="1289268" cy="487811"/>
          </a:xfrm>
          <a:prstGeom prst="bentConnector4">
            <a:avLst>
              <a:gd name="adj1" fmla="val 8152"/>
              <a:gd name="adj2" fmla="val 146862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felt 9">
            <a:extLst>
              <a:ext uri="{FF2B5EF4-FFF2-40B4-BE49-F238E27FC236}">
                <a16:creationId xmlns:a16="http://schemas.microsoft.com/office/drawing/2014/main" id="{F5C068AF-4AE8-494A-BBD7-2169CB55A466}"/>
              </a:ext>
            </a:extLst>
          </p:cNvPr>
          <p:cNvSpPr txBox="1"/>
          <p:nvPr/>
        </p:nvSpPr>
        <p:spPr>
          <a:xfrm>
            <a:off x="3156195" y="430943"/>
            <a:ext cx="389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b="1" dirty="0">
                <a:solidFill>
                  <a:srgbClr val="FF0000"/>
                </a:solidFill>
              </a:rPr>
              <a:t>Ikke målepind, men </a:t>
            </a:r>
            <a:r>
              <a:rPr lang="da-DK" sz="2000" b="1" dirty="0" err="1">
                <a:solidFill>
                  <a:srgbClr val="FF0000"/>
                </a:solidFill>
              </a:rPr>
              <a:t>nice</a:t>
            </a:r>
            <a:r>
              <a:rPr lang="da-DK" sz="2000" b="1" dirty="0">
                <a:solidFill>
                  <a:srgbClr val="FF0000"/>
                </a:solidFill>
              </a:rPr>
              <a:t> to </a:t>
            </a:r>
            <a:r>
              <a:rPr lang="da-DK" sz="2000" b="1" dirty="0" err="1">
                <a:solidFill>
                  <a:srgbClr val="FF0000"/>
                </a:solidFill>
              </a:rPr>
              <a:t>know</a:t>
            </a:r>
            <a:endParaRPr lang="da-DK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795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AE84-7F7B-5370-6096-9192F712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A4305-12E1-58A2-FFEF-224FC83C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 </a:t>
            </a:r>
            <a:r>
              <a:rPr lang="da-DK" sz="4000" b="1" i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Scheduling</a:t>
            </a:r>
            <a:r>
              <a:rPr lang="da-DK" sz="4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a-DK" sz="4000" b="1" i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simplified</a:t>
            </a:r>
            <a:r>
              <a:rPr lang="da-DK" sz="4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abstract)</a:t>
            </a:r>
          </a:p>
        </p:txBody>
      </p:sp>
      <p:sp>
        <p:nvSpPr>
          <p:cNvPr id="12" name="Rutediagram: Proces 11">
            <a:extLst>
              <a:ext uri="{FF2B5EF4-FFF2-40B4-BE49-F238E27FC236}">
                <a16:creationId xmlns:a16="http://schemas.microsoft.com/office/drawing/2014/main" id="{E940548F-5A4B-6DDB-8729-024107E0F127}"/>
              </a:ext>
            </a:extLst>
          </p:cNvPr>
          <p:cNvSpPr/>
          <p:nvPr/>
        </p:nvSpPr>
        <p:spPr>
          <a:xfrm>
            <a:off x="3352661" y="1328304"/>
            <a:ext cx="2268459" cy="60605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Resources </a:t>
            </a:r>
          </a:p>
        </p:txBody>
      </p:sp>
      <p:sp>
        <p:nvSpPr>
          <p:cNvPr id="18" name="Rutediagram: Proces 17">
            <a:extLst>
              <a:ext uri="{FF2B5EF4-FFF2-40B4-BE49-F238E27FC236}">
                <a16:creationId xmlns:a16="http://schemas.microsoft.com/office/drawing/2014/main" id="{F638E102-84FE-E9C0-3720-9D1965AC9355}"/>
              </a:ext>
            </a:extLst>
          </p:cNvPr>
          <p:cNvSpPr/>
          <p:nvPr/>
        </p:nvSpPr>
        <p:spPr>
          <a:xfrm>
            <a:off x="441960" y="1341879"/>
            <a:ext cx="2474064" cy="60605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Schedule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Mechanism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</p:txBody>
      </p:sp>
      <p:sp>
        <p:nvSpPr>
          <p:cNvPr id="21" name="Rutediagram: Proces 20">
            <a:extLst>
              <a:ext uri="{FF2B5EF4-FFF2-40B4-BE49-F238E27FC236}">
                <a16:creationId xmlns:a16="http://schemas.microsoft.com/office/drawing/2014/main" id="{21B6D1A4-810A-2C6C-A1B3-FF9AC74859ED}"/>
              </a:ext>
            </a:extLst>
          </p:cNvPr>
          <p:cNvSpPr/>
          <p:nvPr/>
        </p:nvSpPr>
        <p:spPr>
          <a:xfrm>
            <a:off x="3383812" y="2224675"/>
            <a:ext cx="935665" cy="36392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CPU</a:t>
            </a:r>
          </a:p>
        </p:txBody>
      </p:sp>
      <p:sp>
        <p:nvSpPr>
          <p:cNvPr id="26" name="Rutediagram: Proces 25">
            <a:extLst>
              <a:ext uri="{FF2B5EF4-FFF2-40B4-BE49-F238E27FC236}">
                <a16:creationId xmlns:a16="http://schemas.microsoft.com/office/drawing/2014/main" id="{77941574-823E-72B9-B7BD-A9487304E2B8}"/>
              </a:ext>
            </a:extLst>
          </p:cNvPr>
          <p:cNvSpPr/>
          <p:nvPr/>
        </p:nvSpPr>
        <p:spPr>
          <a:xfrm>
            <a:off x="4528141" y="2221711"/>
            <a:ext cx="1131038" cy="36392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Memory</a:t>
            </a:r>
          </a:p>
        </p:txBody>
      </p:sp>
      <p:grpSp>
        <p:nvGrpSpPr>
          <p:cNvPr id="37" name="Gruppe 36">
            <a:extLst>
              <a:ext uri="{FF2B5EF4-FFF2-40B4-BE49-F238E27FC236}">
                <a16:creationId xmlns:a16="http://schemas.microsoft.com/office/drawing/2014/main" id="{E569003B-9507-2C9B-4BDF-431E042D6FC6}"/>
              </a:ext>
            </a:extLst>
          </p:cNvPr>
          <p:cNvGrpSpPr/>
          <p:nvPr/>
        </p:nvGrpSpPr>
        <p:grpSpPr>
          <a:xfrm>
            <a:off x="2266948" y="2572532"/>
            <a:ext cx="404039" cy="2691122"/>
            <a:chOff x="2158407" y="1529999"/>
            <a:chExt cx="404039" cy="2691122"/>
          </a:xfrm>
        </p:grpSpPr>
        <p:sp>
          <p:nvSpPr>
            <p:cNvPr id="27" name="Rutediagram: Proces 26">
              <a:extLst>
                <a:ext uri="{FF2B5EF4-FFF2-40B4-BE49-F238E27FC236}">
                  <a16:creationId xmlns:a16="http://schemas.microsoft.com/office/drawing/2014/main" id="{54F9E008-6F09-964C-11EC-AE2C6F1961B6}"/>
                </a:ext>
              </a:extLst>
            </p:cNvPr>
            <p:cNvSpPr/>
            <p:nvPr/>
          </p:nvSpPr>
          <p:spPr>
            <a:xfrm>
              <a:off x="2158409" y="1529999"/>
              <a:ext cx="404037" cy="341331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utediagram: Proces 27">
              <a:extLst>
                <a:ext uri="{FF2B5EF4-FFF2-40B4-BE49-F238E27FC236}">
                  <a16:creationId xmlns:a16="http://schemas.microsoft.com/office/drawing/2014/main" id="{FA5F8924-F071-3C3D-83DB-F11FC23A09C6}"/>
                </a:ext>
              </a:extLst>
            </p:cNvPr>
            <p:cNvSpPr/>
            <p:nvPr/>
          </p:nvSpPr>
          <p:spPr>
            <a:xfrm>
              <a:off x="2158408" y="1871330"/>
              <a:ext cx="404037" cy="341331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Rutediagram: Proces 28">
              <a:extLst>
                <a:ext uri="{FF2B5EF4-FFF2-40B4-BE49-F238E27FC236}">
                  <a16:creationId xmlns:a16="http://schemas.microsoft.com/office/drawing/2014/main" id="{C4C1EFDD-F580-148E-15D9-68584D58167E}"/>
                </a:ext>
              </a:extLst>
            </p:cNvPr>
            <p:cNvSpPr/>
            <p:nvPr/>
          </p:nvSpPr>
          <p:spPr>
            <a:xfrm>
              <a:off x="2158408" y="2212660"/>
              <a:ext cx="404037" cy="341331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Rutediagram: Proces 29">
              <a:extLst>
                <a:ext uri="{FF2B5EF4-FFF2-40B4-BE49-F238E27FC236}">
                  <a16:creationId xmlns:a16="http://schemas.microsoft.com/office/drawing/2014/main" id="{FE326CFB-147A-1AAC-CABA-32B291FDE17B}"/>
                </a:ext>
              </a:extLst>
            </p:cNvPr>
            <p:cNvSpPr/>
            <p:nvPr/>
          </p:nvSpPr>
          <p:spPr>
            <a:xfrm>
              <a:off x="2158408" y="2553991"/>
              <a:ext cx="404037" cy="341331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Rutediagram: Proces 30">
              <a:extLst>
                <a:ext uri="{FF2B5EF4-FFF2-40B4-BE49-F238E27FC236}">
                  <a16:creationId xmlns:a16="http://schemas.microsoft.com/office/drawing/2014/main" id="{49CE5CE7-3A49-5835-E669-1AD490CD6923}"/>
                </a:ext>
              </a:extLst>
            </p:cNvPr>
            <p:cNvSpPr/>
            <p:nvPr/>
          </p:nvSpPr>
          <p:spPr>
            <a:xfrm>
              <a:off x="2158408" y="2895321"/>
              <a:ext cx="404037" cy="341331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Rutediagram: Proces 32">
              <a:extLst>
                <a:ext uri="{FF2B5EF4-FFF2-40B4-BE49-F238E27FC236}">
                  <a16:creationId xmlns:a16="http://schemas.microsoft.com/office/drawing/2014/main" id="{280BEA6B-B64C-8688-97DE-A68896418E31}"/>
                </a:ext>
              </a:extLst>
            </p:cNvPr>
            <p:cNvSpPr/>
            <p:nvPr/>
          </p:nvSpPr>
          <p:spPr>
            <a:xfrm>
              <a:off x="2158408" y="3235735"/>
              <a:ext cx="404037" cy="341331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Rutediagram: Proces 34">
              <a:extLst>
                <a:ext uri="{FF2B5EF4-FFF2-40B4-BE49-F238E27FC236}">
                  <a16:creationId xmlns:a16="http://schemas.microsoft.com/office/drawing/2014/main" id="{C981B71C-ED51-5A44-39DB-42C6E596D7EE}"/>
                </a:ext>
              </a:extLst>
            </p:cNvPr>
            <p:cNvSpPr/>
            <p:nvPr/>
          </p:nvSpPr>
          <p:spPr>
            <a:xfrm>
              <a:off x="2158408" y="3576148"/>
              <a:ext cx="404037" cy="341331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6" name="Rutediagram: Proces 35">
              <a:extLst>
                <a:ext uri="{FF2B5EF4-FFF2-40B4-BE49-F238E27FC236}">
                  <a16:creationId xmlns:a16="http://schemas.microsoft.com/office/drawing/2014/main" id="{3A1AE95D-52DF-DE21-7120-2B7F00CAA14D}"/>
                </a:ext>
              </a:extLst>
            </p:cNvPr>
            <p:cNvSpPr/>
            <p:nvPr/>
          </p:nvSpPr>
          <p:spPr>
            <a:xfrm>
              <a:off x="2158407" y="3879790"/>
              <a:ext cx="404037" cy="341331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N</a:t>
              </a:r>
            </a:p>
          </p:txBody>
        </p:sp>
      </p:grpSp>
      <p:grpSp>
        <p:nvGrpSpPr>
          <p:cNvPr id="38" name="Gruppe 37">
            <a:extLst>
              <a:ext uri="{FF2B5EF4-FFF2-40B4-BE49-F238E27FC236}">
                <a16:creationId xmlns:a16="http://schemas.microsoft.com/office/drawing/2014/main" id="{60EC34C0-A7A3-0F2E-32C8-18ED0D6FC49D}"/>
              </a:ext>
            </a:extLst>
          </p:cNvPr>
          <p:cNvGrpSpPr/>
          <p:nvPr/>
        </p:nvGrpSpPr>
        <p:grpSpPr>
          <a:xfrm>
            <a:off x="3612049" y="4842501"/>
            <a:ext cx="1913862" cy="1632181"/>
            <a:chOff x="2534090" y="3503428"/>
            <a:chExt cx="1913862" cy="1747256"/>
          </a:xfrm>
        </p:grpSpPr>
        <p:sp>
          <p:nvSpPr>
            <p:cNvPr id="39" name="Rutediagram: Proces 38">
              <a:extLst>
                <a:ext uri="{FF2B5EF4-FFF2-40B4-BE49-F238E27FC236}">
                  <a16:creationId xmlns:a16="http://schemas.microsoft.com/office/drawing/2014/main" id="{4E7B3519-F652-7FC7-6743-EE6527C4A49F}"/>
                </a:ext>
              </a:extLst>
            </p:cNvPr>
            <p:cNvSpPr/>
            <p:nvPr/>
          </p:nvSpPr>
          <p:spPr>
            <a:xfrm>
              <a:off x="2534090" y="3503428"/>
              <a:ext cx="1913861" cy="606056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Process</a:t>
              </a: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40" name="Rutediagram: Proces 39">
              <a:extLst>
                <a:ext uri="{FF2B5EF4-FFF2-40B4-BE49-F238E27FC236}">
                  <a16:creationId xmlns:a16="http://schemas.microsoft.com/office/drawing/2014/main" id="{A391392A-9EF5-8F5A-337F-219B6C91F07E}"/>
                </a:ext>
              </a:extLst>
            </p:cNvPr>
            <p:cNvSpPr/>
            <p:nvPr/>
          </p:nvSpPr>
          <p:spPr>
            <a:xfrm>
              <a:off x="2534091" y="4020243"/>
              <a:ext cx="1913861" cy="1230441"/>
            </a:xfrm>
            <a:prstGeom prst="flowChartProcess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ID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Memory</a:t>
              </a:r>
              <a:b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</a:br>
              <a:r>
                <a:rPr kumimoji="0" lang="da-DK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Priority</a:t>
              </a:r>
              <a:b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</a:b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41" name="Gruppe 40">
            <a:extLst>
              <a:ext uri="{FF2B5EF4-FFF2-40B4-BE49-F238E27FC236}">
                <a16:creationId xmlns:a16="http://schemas.microsoft.com/office/drawing/2014/main" id="{56CA818D-A20F-4730-BDF8-8EE1455634A4}"/>
              </a:ext>
            </a:extLst>
          </p:cNvPr>
          <p:cNvGrpSpPr/>
          <p:nvPr/>
        </p:nvGrpSpPr>
        <p:grpSpPr>
          <a:xfrm>
            <a:off x="3612049" y="2881128"/>
            <a:ext cx="1913862" cy="1632181"/>
            <a:chOff x="2534090" y="3503428"/>
            <a:chExt cx="1913862" cy="1747256"/>
          </a:xfrm>
        </p:grpSpPr>
        <p:sp>
          <p:nvSpPr>
            <p:cNvPr id="42" name="Rutediagram: Proces 41">
              <a:extLst>
                <a:ext uri="{FF2B5EF4-FFF2-40B4-BE49-F238E27FC236}">
                  <a16:creationId xmlns:a16="http://schemas.microsoft.com/office/drawing/2014/main" id="{21FBB4E3-4C2A-3B1D-2E41-DAEF0E1C802E}"/>
                </a:ext>
              </a:extLst>
            </p:cNvPr>
            <p:cNvSpPr/>
            <p:nvPr/>
          </p:nvSpPr>
          <p:spPr>
            <a:xfrm>
              <a:off x="2534090" y="3503428"/>
              <a:ext cx="1913861" cy="606056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Process</a:t>
              </a: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43" name="Rutediagram: Proces 42">
              <a:extLst>
                <a:ext uri="{FF2B5EF4-FFF2-40B4-BE49-F238E27FC236}">
                  <a16:creationId xmlns:a16="http://schemas.microsoft.com/office/drawing/2014/main" id="{BB0879F4-73AD-71C2-207A-1A6BA49208DB}"/>
                </a:ext>
              </a:extLst>
            </p:cNvPr>
            <p:cNvSpPr/>
            <p:nvPr/>
          </p:nvSpPr>
          <p:spPr>
            <a:xfrm>
              <a:off x="2534091" y="4020243"/>
              <a:ext cx="1913861" cy="1230441"/>
            </a:xfrm>
            <a:prstGeom prst="flowChartProcess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ID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Memory</a:t>
              </a:r>
              <a:b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</a:br>
              <a:r>
                <a:rPr kumimoji="0" lang="da-DK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Priority</a:t>
              </a:r>
              <a:b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</a:b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 </a:t>
              </a:r>
            </a:p>
          </p:txBody>
        </p:sp>
      </p:grpSp>
      <p:cxnSp>
        <p:nvCxnSpPr>
          <p:cNvPr id="45" name="Forbindelse: vinklet 44">
            <a:extLst>
              <a:ext uri="{FF2B5EF4-FFF2-40B4-BE49-F238E27FC236}">
                <a16:creationId xmlns:a16="http://schemas.microsoft.com/office/drawing/2014/main" id="{6847C389-2AB1-ED6B-FF42-3DA1D24AC643}"/>
              </a:ext>
            </a:extLst>
          </p:cNvPr>
          <p:cNvCxnSpPr>
            <a:cxnSpLocks/>
            <a:stCxn id="18" idx="2"/>
            <a:endCxn id="33" idx="1"/>
          </p:cNvCxnSpPr>
          <p:nvPr/>
        </p:nvCxnSpPr>
        <p:spPr>
          <a:xfrm rot="16200000" flipH="1">
            <a:off x="722471" y="2904455"/>
            <a:ext cx="2500999" cy="587957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Forbindelse: vinklet 48">
            <a:extLst>
              <a:ext uri="{FF2B5EF4-FFF2-40B4-BE49-F238E27FC236}">
                <a16:creationId xmlns:a16="http://schemas.microsoft.com/office/drawing/2014/main" id="{65FEF7FF-2432-90A9-592C-B8C2D13EA944}"/>
              </a:ext>
            </a:extLst>
          </p:cNvPr>
          <p:cNvCxnSpPr>
            <a:stCxn id="28" idx="3"/>
            <a:endCxn id="43" idx="1"/>
          </p:cNvCxnSpPr>
          <p:nvPr/>
        </p:nvCxnSpPr>
        <p:spPr>
          <a:xfrm>
            <a:off x="2670986" y="3084529"/>
            <a:ext cx="941064" cy="854078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Forbindelse: vinklet 51">
            <a:extLst>
              <a:ext uri="{FF2B5EF4-FFF2-40B4-BE49-F238E27FC236}">
                <a16:creationId xmlns:a16="http://schemas.microsoft.com/office/drawing/2014/main" id="{86814B3B-DDF4-5F64-AC9A-406DB7056A98}"/>
              </a:ext>
            </a:extLst>
          </p:cNvPr>
          <p:cNvCxnSpPr>
            <a:stCxn id="33" idx="3"/>
            <a:endCxn id="40" idx="1"/>
          </p:cNvCxnSpPr>
          <p:nvPr/>
        </p:nvCxnSpPr>
        <p:spPr>
          <a:xfrm>
            <a:off x="2670986" y="4448934"/>
            <a:ext cx="941064" cy="1451046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uppe 52">
            <a:extLst>
              <a:ext uri="{FF2B5EF4-FFF2-40B4-BE49-F238E27FC236}">
                <a16:creationId xmlns:a16="http://schemas.microsoft.com/office/drawing/2014/main" id="{A2ECFDA4-280A-804F-E94B-37EBB680C142}"/>
              </a:ext>
            </a:extLst>
          </p:cNvPr>
          <p:cNvGrpSpPr/>
          <p:nvPr/>
        </p:nvGrpSpPr>
        <p:grpSpPr>
          <a:xfrm>
            <a:off x="7181488" y="3210320"/>
            <a:ext cx="1913862" cy="1632181"/>
            <a:chOff x="2534090" y="3503428"/>
            <a:chExt cx="1913862" cy="1747256"/>
          </a:xfrm>
        </p:grpSpPr>
        <p:sp>
          <p:nvSpPr>
            <p:cNvPr id="54" name="Rutediagram: Proces 53">
              <a:extLst>
                <a:ext uri="{FF2B5EF4-FFF2-40B4-BE49-F238E27FC236}">
                  <a16:creationId xmlns:a16="http://schemas.microsoft.com/office/drawing/2014/main" id="{B24AED45-E779-71F2-ACEC-95E2DF27DDCF}"/>
                </a:ext>
              </a:extLst>
            </p:cNvPr>
            <p:cNvSpPr/>
            <p:nvPr/>
          </p:nvSpPr>
          <p:spPr>
            <a:xfrm>
              <a:off x="2534090" y="3503428"/>
              <a:ext cx="1913861" cy="606056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Thread 1..n</a:t>
              </a:r>
            </a:p>
          </p:txBody>
        </p:sp>
        <p:sp>
          <p:nvSpPr>
            <p:cNvPr id="55" name="Rutediagram: Proces 54">
              <a:extLst>
                <a:ext uri="{FF2B5EF4-FFF2-40B4-BE49-F238E27FC236}">
                  <a16:creationId xmlns:a16="http://schemas.microsoft.com/office/drawing/2014/main" id="{71366ECC-BAE3-B8E4-2C67-97AB2E160A24}"/>
                </a:ext>
              </a:extLst>
            </p:cNvPr>
            <p:cNvSpPr/>
            <p:nvPr/>
          </p:nvSpPr>
          <p:spPr>
            <a:xfrm>
              <a:off x="2534091" y="4020243"/>
              <a:ext cx="1913861" cy="1230441"/>
            </a:xfrm>
            <a:prstGeom prst="flowChartProcess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ID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Shared Memory</a:t>
              </a:r>
              <a:b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</a:br>
              <a:b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</a:b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 </a:t>
              </a:r>
            </a:p>
          </p:txBody>
        </p:sp>
      </p:grpSp>
      <p:cxnSp>
        <p:nvCxnSpPr>
          <p:cNvPr id="57" name="Forbindelse: vinklet 56">
            <a:extLst>
              <a:ext uri="{FF2B5EF4-FFF2-40B4-BE49-F238E27FC236}">
                <a16:creationId xmlns:a16="http://schemas.microsoft.com/office/drawing/2014/main" id="{9B4FAEF0-A58F-7A54-C6DD-F6E23AE91F95}"/>
              </a:ext>
            </a:extLst>
          </p:cNvPr>
          <p:cNvCxnSpPr>
            <a:cxnSpLocks/>
            <a:stCxn id="43" idx="3"/>
            <a:endCxn id="55" idx="1"/>
          </p:cNvCxnSpPr>
          <p:nvPr/>
        </p:nvCxnSpPr>
        <p:spPr>
          <a:xfrm>
            <a:off x="5525911" y="3938607"/>
            <a:ext cx="1655578" cy="329192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kstfelt 57">
            <a:extLst>
              <a:ext uri="{FF2B5EF4-FFF2-40B4-BE49-F238E27FC236}">
                <a16:creationId xmlns:a16="http://schemas.microsoft.com/office/drawing/2014/main" id="{75061B6D-8CA6-1B0A-4EFD-2DEEDDDC3268}"/>
              </a:ext>
            </a:extLst>
          </p:cNvPr>
          <p:cNvSpPr txBox="1"/>
          <p:nvPr/>
        </p:nvSpPr>
        <p:spPr>
          <a:xfrm>
            <a:off x="5754783" y="5149515"/>
            <a:ext cx="1265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FORK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</p:txBody>
      </p:sp>
      <p:sp>
        <p:nvSpPr>
          <p:cNvPr id="59" name="Rutediagram: Proces 58">
            <a:extLst>
              <a:ext uri="{FF2B5EF4-FFF2-40B4-BE49-F238E27FC236}">
                <a16:creationId xmlns:a16="http://schemas.microsoft.com/office/drawing/2014/main" id="{2A507E86-9EEA-7608-55E7-F99CC4690DA6}"/>
              </a:ext>
            </a:extLst>
          </p:cNvPr>
          <p:cNvSpPr/>
          <p:nvPr/>
        </p:nvSpPr>
        <p:spPr>
          <a:xfrm>
            <a:off x="5983656" y="2754312"/>
            <a:ext cx="966632" cy="36392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Thread</a:t>
            </a:r>
          </a:p>
        </p:txBody>
      </p:sp>
      <p:cxnSp>
        <p:nvCxnSpPr>
          <p:cNvPr id="61" name="Forbindelse: vinklet 60">
            <a:extLst>
              <a:ext uri="{FF2B5EF4-FFF2-40B4-BE49-F238E27FC236}">
                <a16:creationId xmlns:a16="http://schemas.microsoft.com/office/drawing/2014/main" id="{B78AC7A4-1178-E8BD-CAFE-1529457F26FA}"/>
              </a:ext>
            </a:extLst>
          </p:cNvPr>
          <p:cNvCxnSpPr>
            <a:stCxn id="42" idx="3"/>
            <a:endCxn id="59" idx="1"/>
          </p:cNvCxnSpPr>
          <p:nvPr/>
        </p:nvCxnSpPr>
        <p:spPr>
          <a:xfrm flipV="1">
            <a:off x="5525910" y="2936274"/>
            <a:ext cx="457746" cy="227925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Forbindelse: vinklet 62">
            <a:extLst>
              <a:ext uri="{FF2B5EF4-FFF2-40B4-BE49-F238E27FC236}">
                <a16:creationId xmlns:a16="http://schemas.microsoft.com/office/drawing/2014/main" id="{3720CAA6-3BB2-40D1-5735-9BFB85EEE86A}"/>
              </a:ext>
            </a:extLst>
          </p:cNvPr>
          <p:cNvCxnSpPr>
            <a:stCxn id="54" idx="0"/>
            <a:endCxn id="59" idx="3"/>
          </p:cNvCxnSpPr>
          <p:nvPr/>
        </p:nvCxnSpPr>
        <p:spPr>
          <a:xfrm rot="16200000" flipV="1">
            <a:off x="7407331" y="2479231"/>
            <a:ext cx="274046" cy="1188131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uppe 64">
            <a:extLst>
              <a:ext uri="{FF2B5EF4-FFF2-40B4-BE49-F238E27FC236}">
                <a16:creationId xmlns:a16="http://schemas.microsoft.com/office/drawing/2014/main" id="{4FA7DCD6-A7F1-EBBD-12AA-7EE8B6104E96}"/>
              </a:ext>
            </a:extLst>
          </p:cNvPr>
          <p:cNvGrpSpPr/>
          <p:nvPr/>
        </p:nvGrpSpPr>
        <p:grpSpPr>
          <a:xfrm>
            <a:off x="7181487" y="5125571"/>
            <a:ext cx="1913862" cy="1632181"/>
            <a:chOff x="2534090" y="3503428"/>
            <a:chExt cx="1913862" cy="1747256"/>
          </a:xfrm>
        </p:grpSpPr>
        <p:sp>
          <p:nvSpPr>
            <p:cNvPr id="66" name="Rutediagram: Proces 65">
              <a:extLst>
                <a:ext uri="{FF2B5EF4-FFF2-40B4-BE49-F238E27FC236}">
                  <a16:creationId xmlns:a16="http://schemas.microsoft.com/office/drawing/2014/main" id="{EEDE3E72-EE40-6E20-071B-A8865590297E}"/>
                </a:ext>
              </a:extLst>
            </p:cNvPr>
            <p:cNvSpPr/>
            <p:nvPr/>
          </p:nvSpPr>
          <p:spPr>
            <a:xfrm>
              <a:off x="2534090" y="3503428"/>
              <a:ext cx="1913861" cy="606056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Process</a:t>
              </a:r>
              <a:endPara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ll MT"/>
                <a:ea typeface="+mn-ea"/>
                <a:cs typeface="+mn-cs"/>
              </a:endParaRPr>
            </a:p>
          </p:txBody>
        </p:sp>
        <p:sp>
          <p:nvSpPr>
            <p:cNvPr id="67" name="Rutediagram: Proces 66">
              <a:extLst>
                <a:ext uri="{FF2B5EF4-FFF2-40B4-BE49-F238E27FC236}">
                  <a16:creationId xmlns:a16="http://schemas.microsoft.com/office/drawing/2014/main" id="{17EF6A97-C7F6-E88F-3960-0D783297B436}"/>
                </a:ext>
              </a:extLst>
            </p:cNvPr>
            <p:cNvSpPr/>
            <p:nvPr/>
          </p:nvSpPr>
          <p:spPr>
            <a:xfrm>
              <a:off x="2534091" y="4020243"/>
              <a:ext cx="1913861" cy="1230441"/>
            </a:xfrm>
            <a:prstGeom prst="flowChartProcess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ID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Memory</a:t>
              </a:r>
              <a:b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</a:br>
              <a:r>
                <a:rPr kumimoji="0" lang="da-DK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Priority</a:t>
              </a:r>
              <a:b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</a:b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ell MT"/>
                  <a:ea typeface="+mn-ea"/>
                  <a:cs typeface="+mn-cs"/>
                </a:rPr>
                <a:t> </a:t>
              </a:r>
            </a:p>
          </p:txBody>
        </p:sp>
      </p:grpSp>
      <p:cxnSp>
        <p:nvCxnSpPr>
          <p:cNvPr id="70" name="Forbindelse: vinklet 69">
            <a:extLst>
              <a:ext uri="{FF2B5EF4-FFF2-40B4-BE49-F238E27FC236}">
                <a16:creationId xmlns:a16="http://schemas.microsoft.com/office/drawing/2014/main" id="{A5AEE021-636E-D1BB-1BFE-596C036DB04B}"/>
              </a:ext>
            </a:extLst>
          </p:cNvPr>
          <p:cNvCxnSpPr>
            <a:stCxn id="40" idx="3"/>
            <a:endCxn id="67" idx="1"/>
          </p:cNvCxnSpPr>
          <p:nvPr/>
        </p:nvCxnSpPr>
        <p:spPr>
          <a:xfrm>
            <a:off x="5525911" y="5899980"/>
            <a:ext cx="1655577" cy="283070"/>
          </a:xfrm>
          <a:prstGeom prst="bentConnector3">
            <a:avLst/>
          </a:prstGeom>
          <a:ln>
            <a:solidFill>
              <a:schemeClr val="bg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kstfelt 70">
            <a:extLst>
              <a:ext uri="{FF2B5EF4-FFF2-40B4-BE49-F238E27FC236}">
                <a16:creationId xmlns:a16="http://schemas.microsoft.com/office/drawing/2014/main" id="{2608AD3D-5816-F7E8-0648-79F73F43C761}"/>
              </a:ext>
            </a:extLst>
          </p:cNvPr>
          <p:cNvSpPr txBox="1"/>
          <p:nvPr/>
        </p:nvSpPr>
        <p:spPr>
          <a:xfrm>
            <a:off x="9352384" y="2308680"/>
            <a:ext cx="2483144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Thread</a:t>
            </a:r>
            <a:b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</a:b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Share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an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area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of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memory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for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communication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–– same CPU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</p:txBody>
      </p:sp>
      <p:sp>
        <p:nvSpPr>
          <p:cNvPr id="72" name="Tekstfelt 71">
            <a:extLst>
              <a:ext uri="{FF2B5EF4-FFF2-40B4-BE49-F238E27FC236}">
                <a16:creationId xmlns:a16="http://schemas.microsoft.com/office/drawing/2014/main" id="{289A1578-48F5-0E5F-6CC2-E8D544835116}"/>
              </a:ext>
            </a:extLst>
          </p:cNvPr>
          <p:cNvSpPr txBox="1"/>
          <p:nvPr/>
        </p:nvSpPr>
        <p:spPr>
          <a:xfrm>
            <a:off x="9352384" y="4448933"/>
            <a:ext cx="2483144" cy="23083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New </a:t>
            </a:r>
            <a:r>
              <a:rPr kumimoji="0" lang="da-DK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Process</a:t>
            </a:r>
            <a:endParaRPr kumimoji="0" lang="da-D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Handled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by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scheduler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Complex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communication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with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other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processes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lvl="0"/>
            <a:r>
              <a:rPr lang="da-DK" b="1" dirty="0" err="1">
                <a:solidFill>
                  <a:prstClr val="black"/>
                </a:solidFill>
              </a:rPr>
              <a:t>can</a:t>
            </a:r>
            <a:r>
              <a:rPr lang="da-DK" b="1" dirty="0">
                <a:solidFill>
                  <a:prstClr val="black"/>
                </a:solidFill>
              </a:rPr>
              <a:t> </a:t>
            </a:r>
            <a:r>
              <a:rPr lang="da-DK" b="1" dirty="0" err="1">
                <a:solidFill>
                  <a:prstClr val="black"/>
                </a:solidFill>
              </a:rPr>
              <a:t>be</a:t>
            </a:r>
            <a:r>
              <a:rPr lang="da-DK" b="1" dirty="0">
                <a:solidFill>
                  <a:prstClr val="black"/>
                </a:solidFill>
              </a:rPr>
              <a:t> </a:t>
            </a:r>
            <a:r>
              <a:rPr lang="da-DK" b="1" dirty="0" err="1">
                <a:solidFill>
                  <a:prstClr val="black"/>
                </a:solidFill>
              </a:rPr>
              <a:t>killed</a:t>
            </a:r>
            <a:r>
              <a:rPr lang="da-DK" b="1" dirty="0">
                <a:solidFill>
                  <a:prstClr val="black"/>
                </a:solidFill>
              </a:rPr>
              <a:t> by </a:t>
            </a:r>
            <a:r>
              <a:rPr lang="da-DK" b="1" dirty="0" err="1">
                <a:solidFill>
                  <a:prstClr val="black"/>
                </a:solidFill>
              </a:rPr>
              <a:t>process</a:t>
            </a:r>
            <a:r>
              <a:rPr lang="da-DK" b="1" dirty="0">
                <a:solidFill>
                  <a:prstClr val="black"/>
                </a:solidFill>
              </a:rPr>
              <a:t> ID </a:t>
            </a:r>
            <a:r>
              <a:rPr lang="da-DK" b="1" dirty="0" err="1">
                <a:solidFill>
                  <a:prstClr val="black"/>
                </a:solidFill>
              </a:rPr>
              <a:t>directly</a:t>
            </a:r>
            <a:endParaRPr kumimoji="0" lang="da-D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</p:txBody>
      </p:sp>
      <p:sp>
        <p:nvSpPr>
          <p:cNvPr id="73" name="Tekstfelt 72">
            <a:extLst>
              <a:ext uri="{FF2B5EF4-FFF2-40B4-BE49-F238E27FC236}">
                <a16:creationId xmlns:a16="http://schemas.microsoft.com/office/drawing/2014/main" id="{9B7D1362-9EAB-72C7-4D3C-6197DC7313AF}"/>
              </a:ext>
            </a:extLst>
          </p:cNvPr>
          <p:cNvSpPr txBox="1"/>
          <p:nvPr/>
        </p:nvSpPr>
        <p:spPr>
          <a:xfrm>
            <a:off x="5659179" y="3464830"/>
            <a:ext cx="1265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/>
                <a:ea typeface="+mn-ea"/>
                <a:cs typeface="+mn-cs"/>
              </a:rPr>
              <a:t>Thread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ll MT"/>
              <a:ea typeface="+mn-ea"/>
              <a:cs typeface="+mn-cs"/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F9D6351D-34E4-5798-6B60-29BDF6618996}"/>
              </a:ext>
            </a:extLst>
          </p:cNvPr>
          <p:cNvSpPr txBox="1"/>
          <p:nvPr/>
        </p:nvSpPr>
        <p:spPr>
          <a:xfrm>
            <a:off x="8138417" y="231453"/>
            <a:ext cx="36839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b="1" dirty="0">
                <a:solidFill>
                  <a:srgbClr val="FF0000"/>
                </a:solidFill>
              </a:rPr>
              <a:t>Ikke målepind, men must </a:t>
            </a:r>
            <a:r>
              <a:rPr lang="da-DK" sz="2000" b="1" dirty="0" err="1">
                <a:solidFill>
                  <a:srgbClr val="FF0000"/>
                </a:solidFill>
              </a:rPr>
              <a:t>know</a:t>
            </a:r>
            <a:endParaRPr lang="da-DK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626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4FABEB-ED2E-82E9-F7DA-AADBFC2A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Unix </a:t>
            </a:r>
            <a:r>
              <a:rPr lang="da-DK" dirty="0" err="1"/>
              <a:t>Process</a:t>
            </a:r>
            <a:endParaRPr lang="da-DK" dirty="0"/>
          </a:p>
        </p:txBody>
      </p:sp>
      <p:sp>
        <p:nvSpPr>
          <p:cNvPr id="15" name="Tekstfelt 14">
            <a:extLst>
              <a:ext uri="{FF2B5EF4-FFF2-40B4-BE49-F238E27FC236}">
                <a16:creationId xmlns:a16="http://schemas.microsoft.com/office/drawing/2014/main" id="{69DA1A8B-92C4-7D89-2E76-36EBCF84F802}"/>
              </a:ext>
            </a:extLst>
          </p:cNvPr>
          <p:cNvSpPr txBox="1"/>
          <p:nvPr/>
        </p:nvSpPr>
        <p:spPr>
          <a:xfrm>
            <a:off x="5579533" y="0"/>
            <a:ext cx="6096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#include &lt;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arpa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inet.h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#include &lt;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signal.h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#include &lt;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stdio.h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#include &lt;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string.h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#include &lt;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unistd.h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</a:t>
            </a: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main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 {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server =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socket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(AF_INET, SOCK_STREAM, 0);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struct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sockaddr_in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addr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{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.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sin_family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AF_INET,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.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sin_port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htons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(8080),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.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sin_addr.s_addr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INADDR_ANY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};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bind(server, (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struct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sockaddr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*)&amp;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addr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sizeof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addr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));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listen(server, 10);</a:t>
            </a: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signal(SIGCHLD, SIG_IGN);</a:t>
            </a: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while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(1) {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client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accept(server, NULL, NULL);</a:t>
            </a:r>
          </a:p>
          <a:p>
            <a:r>
              <a:rPr lang="da-DK" sz="1400" dirty="0">
                <a:solidFill>
                  <a:srgbClr val="FF0000"/>
                </a:solidFill>
              </a:rPr>
              <a:t>        </a:t>
            </a:r>
            <a:r>
              <a:rPr lang="da-DK" sz="1400" dirty="0" err="1">
                <a:solidFill>
                  <a:srgbClr val="FF0000"/>
                </a:solidFill>
              </a:rPr>
              <a:t>if</a:t>
            </a:r>
            <a:r>
              <a:rPr lang="da-DK" sz="1400" dirty="0">
                <a:solidFill>
                  <a:srgbClr val="FF0000"/>
                </a:solidFill>
              </a:rPr>
              <a:t> (fork() == 0) {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const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char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*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"HTTP/1.1 200 OK\r\n"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"Content-Type: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text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plain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\r\n"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"\r\n"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"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Hello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World\n";</a:t>
            </a: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send(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client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strlen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 0);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close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client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);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return 0;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}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close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client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);    }}</a:t>
            </a:r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7ADEDA1A-517E-5C06-F98D-FCE67B660A06}"/>
              </a:ext>
            </a:extLst>
          </p:cNvPr>
          <p:cNvSpPr txBox="1"/>
          <p:nvPr/>
        </p:nvSpPr>
        <p:spPr>
          <a:xfrm>
            <a:off x="919479" y="2316481"/>
            <a:ext cx="403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Komplet </a:t>
            </a:r>
            <a:r>
              <a:rPr lang="da-DK" dirty="0" err="1">
                <a:solidFill>
                  <a:schemeClr val="bg1"/>
                </a:solidFill>
              </a:rPr>
              <a:t>webserver</a:t>
            </a:r>
            <a:r>
              <a:rPr lang="da-DK" dirty="0">
                <a:solidFill>
                  <a:schemeClr val="bg1"/>
                </a:solidFill>
              </a:rPr>
              <a:t> skrevet i C++ (skole eksempel)  forklar linjen med rødt !</a:t>
            </a:r>
          </a:p>
        </p:txBody>
      </p:sp>
      <p:sp>
        <p:nvSpPr>
          <p:cNvPr id="17" name="Tekstfelt 16">
            <a:extLst>
              <a:ext uri="{FF2B5EF4-FFF2-40B4-BE49-F238E27FC236}">
                <a16:creationId xmlns:a16="http://schemas.microsoft.com/office/drawing/2014/main" id="{ED490248-4A43-8658-98F0-A47447B05A47}"/>
              </a:ext>
            </a:extLst>
          </p:cNvPr>
          <p:cNvSpPr txBox="1"/>
          <p:nvPr/>
        </p:nvSpPr>
        <p:spPr>
          <a:xfrm>
            <a:off x="1012612" y="5292546"/>
            <a:ext cx="2624667" cy="120032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Ofte bruger vi i dag tråde i stedet for fork </a:t>
            </a:r>
            <a:r>
              <a:rPr lang="da-DK" dirty="0" err="1">
                <a:solidFill>
                  <a:schemeClr val="bg1"/>
                </a:solidFill>
              </a:rPr>
              <a:t>pga</a:t>
            </a:r>
            <a:r>
              <a:rPr lang="da-DK" dirty="0">
                <a:solidFill>
                  <a:schemeClr val="bg1"/>
                </a:solidFill>
              </a:rPr>
              <a:t> ressource overhead i fork</a:t>
            </a:r>
          </a:p>
        </p:txBody>
      </p:sp>
    </p:spTree>
    <p:extLst>
      <p:ext uri="{BB962C8B-B14F-4D97-AF65-F5344CB8AC3E}">
        <p14:creationId xmlns:p14="http://schemas.microsoft.com/office/powerpoint/2010/main" val="404276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CD3B2319-1FA2-55F4-92C2-BD5516842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458" y="865410"/>
            <a:ext cx="5121084" cy="512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833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AC13FB-E849-F665-78A2-31D021CD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Server &amp; Client </a:t>
            </a:r>
            <a:r>
              <a:rPr lang="da-DK" dirty="0" err="1"/>
              <a:t>process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830308EF-DB07-AA61-FDB2-B9D5914CE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34" y="1751648"/>
            <a:ext cx="10449266" cy="362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92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9FDB4-560F-C9A6-3AEB-B188F031E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Terminologi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561AF5DB-C568-31D6-30F4-A5461C162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890916"/>
              </p:ext>
            </p:extLst>
          </p:nvPr>
        </p:nvGraphicFramePr>
        <p:xfrm>
          <a:off x="1060944" y="1427693"/>
          <a:ext cx="7767177" cy="5197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7310">
                  <a:extLst>
                    <a:ext uri="{9D8B030D-6E8A-4147-A177-3AD203B41FA5}">
                      <a16:colId xmlns:a16="http://schemas.microsoft.com/office/drawing/2014/main" val="2843989949"/>
                    </a:ext>
                  </a:extLst>
                </a:gridCol>
                <a:gridCol w="6129867">
                  <a:extLst>
                    <a:ext uri="{9D8B030D-6E8A-4147-A177-3AD203B41FA5}">
                      <a16:colId xmlns:a16="http://schemas.microsoft.com/office/drawing/2014/main" val="205254169"/>
                    </a:ext>
                  </a:extLst>
                </a:gridCol>
              </a:tblGrid>
              <a:tr h="212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 dirty="0">
                          <a:solidFill>
                            <a:schemeClr val="bg1"/>
                          </a:solidFill>
                        </a:rPr>
                        <a:t>Begreb</a:t>
                      </a:r>
                    </a:p>
                  </a:txBody>
                  <a:tcPr marL="53065" marR="53065" marT="26533" marB="26533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 dirty="0">
                          <a:solidFill>
                            <a:schemeClr val="bg1"/>
                          </a:solidFill>
                        </a:rPr>
                        <a:t>Betydning</a:t>
                      </a:r>
                    </a:p>
                  </a:txBody>
                  <a:tcPr marL="53065" marR="53065" marT="26533" marB="26533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125406"/>
                  </a:ext>
                </a:extLst>
              </a:tr>
              <a:tr h="37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Client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 dirty="0"/>
                        <a:t>Programmet der sender en </a:t>
                      </a:r>
                      <a:r>
                        <a:rPr lang="da-DK" sz="1600" dirty="0" err="1"/>
                        <a:t>request</a:t>
                      </a:r>
                      <a:r>
                        <a:rPr lang="da-DK" sz="1600" dirty="0"/>
                        <a:t>, fx browser eller app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4180287234"/>
                  </a:ext>
                </a:extLst>
              </a:tr>
              <a:tr h="212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Server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Programmet der modtager og behandler requests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2789752797"/>
                  </a:ext>
                </a:extLst>
              </a:tr>
              <a:tr h="212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Request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En forespørgsel fra client til server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2769539386"/>
                  </a:ext>
                </a:extLst>
              </a:tr>
              <a:tr h="212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Response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Serverens svar på en request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2269028193"/>
                  </a:ext>
                </a:extLst>
              </a:tr>
              <a:tr h="212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HTTP Method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Angiver handlingen, fx GET, POST, PUT, DELETE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3071116182"/>
                  </a:ext>
                </a:extLst>
              </a:tr>
              <a:tr h="37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URL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 dirty="0"/>
                        <a:t>Adressen </a:t>
                      </a:r>
                      <a:r>
                        <a:rPr lang="da-DK" sz="1600" dirty="0" err="1"/>
                        <a:t>clienten</a:t>
                      </a:r>
                      <a:r>
                        <a:rPr lang="da-DK" sz="1600" dirty="0"/>
                        <a:t> kalder, fx http://server:5000/users/42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794773063"/>
                  </a:ext>
                </a:extLst>
              </a:tr>
              <a:tr h="212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Path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Delen af URL'en efter hosten, fx /users/42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3658464886"/>
                  </a:ext>
                </a:extLst>
              </a:tr>
              <a:tr h="37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Route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Regel i serverprogrammet der kobler en path + HTTP method til kode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2065794019"/>
                  </a:ext>
                </a:extLst>
              </a:tr>
              <a:tr h="212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Endpoint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Et konkret API-adgangspunkt, fx GET /users/42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1488397646"/>
                  </a:ext>
                </a:extLst>
              </a:tr>
              <a:tr h="212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Parameter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Værdi sendt som del af path eller query string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1819404507"/>
                  </a:ext>
                </a:extLst>
              </a:tr>
              <a:tr h="212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Header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Metadata om request eller response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2366119337"/>
                  </a:ext>
                </a:extLst>
              </a:tr>
              <a:tr h="37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Body / Payload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De data der sendes med request eller response, ofte JSON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1124383286"/>
                  </a:ext>
                </a:extLst>
              </a:tr>
              <a:tr h="212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Status code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Resultatet af requesten, fx 200, 404, 500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1411480367"/>
                  </a:ext>
                </a:extLst>
              </a:tr>
              <a:tr h="37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Resource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Den data eller det objekt API'et arbejder med, fx en User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2112143772"/>
                  </a:ext>
                </a:extLst>
              </a:tr>
              <a:tr h="37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/>
                        <a:t>API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600" dirty="0"/>
                        <a:t>Det aftalte interface som </a:t>
                      </a:r>
                      <a:r>
                        <a:rPr lang="da-DK" sz="1600" dirty="0" err="1"/>
                        <a:t>clients</a:t>
                      </a:r>
                      <a:r>
                        <a:rPr lang="da-DK" sz="1600" dirty="0"/>
                        <a:t> kan kommunikere med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597689238"/>
                  </a:ext>
                </a:extLst>
              </a:tr>
            </a:tbl>
          </a:graphicData>
        </a:graphic>
      </p:graphicFrame>
      <p:sp>
        <p:nvSpPr>
          <p:cNvPr id="6" name="Tekstfelt 5">
            <a:extLst>
              <a:ext uri="{FF2B5EF4-FFF2-40B4-BE49-F238E27FC236}">
                <a16:creationId xmlns:a16="http://schemas.microsoft.com/office/drawing/2014/main" id="{5C67519B-3411-D41F-ADC0-C5137FF0E7FD}"/>
              </a:ext>
            </a:extLst>
          </p:cNvPr>
          <p:cNvSpPr txBox="1"/>
          <p:nvPr/>
        </p:nvSpPr>
        <p:spPr>
          <a:xfrm>
            <a:off x="8957734" y="1427693"/>
            <a:ext cx="3098800" cy="14773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da-DK" b="1" dirty="0"/>
              <a:t>Route</a:t>
            </a:r>
            <a:r>
              <a:rPr lang="da-DK" dirty="0"/>
              <a:t> er serverens regel for, hvilken kode der skal køres.</a:t>
            </a:r>
          </a:p>
          <a:p>
            <a:br>
              <a:rPr lang="da-DK" dirty="0"/>
            </a:br>
            <a:r>
              <a:rPr lang="da-DK" b="1" dirty="0" err="1"/>
              <a:t>Endpoint</a:t>
            </a:r>
            <a:r>
              <a:rPr lang="da-DK" dirty="0"/>
              <a:t> er det konkrete sted, </a:t>
            </a:r>
            <a:r>
              <a:rPr lang="da-DK" dirty="0" err="1"/>
              <a:t>clienten</a:t>
            </a:r>
            <a:r>
              <a:rPr lang="da-DK" dirty="0"/>
              <a:t> kan kalde.</a:t>
            </a:r>
          </a:p>
        </p:txBody>
      </p:sp>
    </p:spTree>
    <p:extLst>
      <p:ext uri="{BB962C8B-B14F-4D97-AF65-F5344CB8AC3E}">
        <p14:creationId xmlns:p14="http://schemas.microsoft.com/office/powerpoint/2010/main" val="3951577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379E-9BB4-F8B4-8588-8BC6BF4A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CE5109A2-04DB-B4ED-9FAF-8C95A66428B0}"/>
              </a:ext>
            </a:extLst>
          </p:cNvPr>
          <p:cNvSpPr/>
          <p:nvPr/>
        </p:nvSpPr>
        <p:spPr>
          <a:xfrm>
            <a:off x="1037968" y="1672739"/>
            <a:ext cx="5288691" cy="366537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AEA4F7-24F9-6B1C-ADEE-3A84AF16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Sockets I</a:t>
            </a:r>
          </a:p>
        </p:txBody>
      </p:sp>
      <p:grpSp>
        <p:nvGrpSpPr>
          <p:cNvPr id="22" name="Gruppe 21">
            <a:extLst>
              <a:ext uri="{FF2B5EF4-FFF2-40B4-BE49-F238E27FC236}">
                <a16:creationId xmlns:a16="http://schemas.microsoft.com/office/drawing/2014/main" id="{ACF959F3-AEFC-70B5-F9D6-D51DE5086138}"/>
              </a:ext>
            </a:extLst>
          </p:cNvPr>
          <p:cNvGrpSpPr/>
          <p:nvPr/>
        </p:nvGrpSpPr>
        <p:grpSpPr>
          <a:xfrm>
            <a:off x="3991028" y="1714409"/>
            <a:ext cx="2198451" cy="3470851"/>
            <a:chOff x="7237379" y="974689"/>
            <a:chExt cx="2198451" cy="3470851"/>
          </a:xfrm>
        </p:grpSpPr>
        <p:sp>
          <p:nvSpPr>
            <p:cNvPr id="16" name="Rektangel 15">
              <a:extLst>
                <a:ext uri="{FF2B5EF4-FFF2-40B4-BE49-F238E27FC236}">
                  <a16:creationId xmlns:a16="http://schemas.microsoft.com/office/drawing/2014/main" id="{4895BE57-D377-371B-41C1-EA8A02363B19}"/>
                </a:ext>
              </a:extLst>
            </p:cNvPr>
            <p:cNvSpPr/>
            <p:nvPr/>
          </p:nvSpPr>
          <p:spPr>
            <a:xfrm>
              <a:off x="7237379" y="1313234"/>
              <a:ext cx="2198451" cy="31323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CBBB7A50-1F91-9895-475F-92721D3A4B8B}"/>
                </a:ext>
              </a:extLst>
            </p:cNvPr>
            <p:cNvSpPr/>
            <p:nvPr/>
          </p:nvSpPr>
          <p:spPr>
            <a:xfrm>
              <a:off x="7378995" y="1435395"/>
              <a:ext cx="1913861" cy="2455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 dirty="0" err="1"/>
                <a:t>Socket</a:t>
              </a:r>
              <a:endParaRPr lang="da-DK" sz="1600" dirty="0"/>
            </a:p>
          </p:txBody>
        </p:sp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CD597B8B-252F-E032-6E86-F6C2AAE9C19A}"/>
                </a:ext>
              </a:extLst>
            </p:cNvPr>
            <p:cNvSpPr/>
            <p:nvPr/>
          </p:nvSpPr>
          <p:spPr>
            <a:xfrm>
              <a:off x="7378995" y="1862946"/>
              <a:ext cx="1913861" cy="2455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 dirty="0" err="1"/>
                <a:t>setsockopt</a:t>
              </a:r>
              <a:endParaRPr lang="da-DK" sz="1600" dirty="0"/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E39E6A6C-93CE-8A78-AF03-ECB67C2CFB7C}"/>
                </a:ext>
              </a:extLst>
            </p:cNvPr>
            <p:cNvSpPr/>
            <p:nvPr/>
          </p:nvSpPr>
          <p:spPr>
            <a:xfrm>
              <a:off x="7378995" y="2322150"/>
              <a:ext cx="1913861" cy="2455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 dirty="0"/>
                <a:t>Bind</a:t>
              </a:r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CA62A83F-0046-6216-71C8-7AB129F33834}"/>
                </a:ext>
              </a:extLst>
            </p:cNvPr>
            <p:cNvSpPr/>
            <p:nvPr/>
          </p:nvSpPr>
          <p:spPr>
            <a:xfrm>
              <a:off x="7378995" y="2781354"/>
              <a:ext cx="1913861" cy="2455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 dirty="0"/>
                <a:t>Listen</a:t>
              </a:r>
            </a:p>
          </p:txBody>
        </p:sp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4FA7F85D-D957-877C-8031-ED16084B8209}"/>
                </a:ext>
              </a:extLst>
            </p:cNvPr>
            <p:cNvSpPr/>
            <p:nvPr/>
          </p:nvSpPr>
          <p:spPr>
            <a:xfrm>
              <a:off x="7378995" y="3183497"/>
              <a:ext cx="1913861" cy="2455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 dirty="0"/>
                <a:t>Accept</a:t>
              </a:r>
            </a:p>
          </p:txBody>
        </p:sp>
        <p:sp>
          <p:nvSpPr>
            <p:cNvPr id="13" name="Rektangel 12">
              <a:extLst>
                <a:ext uri="{FF2B5EF4-FFF2-40B4-BE49-F238E27FC236}">
                  <a16:creationId xmlns:a16="http://schemas.microsoft.com/office/drawing/2014/main" id="{DDB37C6D-FD59-EA4B-B223-C777A6FD7795}"/>
                </a:ext>
              </a:extLst>
            </p:cNvPr>
            <p:cNvSpPr/>
            <p:nvPr/>
          </p:nvSpPr>
          <p:spPr>
            <a:xfrm>
              <a:off x="7378995" y="3619687"/>
              <a:ext cx="1913861" cy="24550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 dirty="0">
                  <a:solidFill>
                    <a:schemeClr val="tx1"/>
                  </a:solidFill>
                </a:rPr>
                <a:t>Do </a:t>
              </a:r>
              <a:r>
                <a:rPr lang="da-DK" sz="1600" dirty="0" err="1">
                  <a:solidFill>
                    <a:schemeClr val="tx1"/>
                  </a:solidFill>
                </a:rPr>
                <a:t>Something</a:t>
              </a:r>
              <a:endParaRPr lang="da-DK" sz="1600" dirty="0">
                <a:solidFill>
                  <a:schemeClr val="tx1"/>
                </a:solidFill>
              </a:endParaRPr>
            </a:p>
          </p:txBody>
        </p:sp>
        <p:sp>
          <p:nvSpPr>
            <p:cNvPr id="14" name="Rektangel 13">
              <a:extLst>
                <a:ext uri="{FF2B5EF4-FFF2-40B4-BE49-F238E27FC236}">
                  <a16:creationId xmlns:a16="http://schemas.microsoft.com/office/drawing/2014/main" id="{5DB1E9B5-F0E2-802F-BFF8-996928C76FCA}"/>
                </a:ext>
              </a:extLst>
            </p:cNvPr>
            <p:cNvSpPr/>
            <p:nvPr/>
          </p:nvSpPr>
          <p:spPr>
            <a:xfrm>
              <a:off x="7378995" y="4055877"/>
              <a:ext cx="1913861" cy="2455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 dirty="0"/>
                <a:t>Send/</a:t>
              </a:r>
              <a:r>
                <a:rPr lang="da-DK" sz="1600" dirty="0" err="1"/>
                <a:t>Recv</a:t>
              </a:r>
              <a:endParaRPr lang="da-DK" sz="1600" dirty="0"/>
            </a:p>
          </p:txBody>
        </p:sp>
        <p:sp>
          <p:nvSpPr>
            <p:cNvPr id="15" name="Tekstfelt 14">
              <a:extLst>
                <a:ext uri="{FF2B5EF4-FFF2-40B4-BE49-F238E27FC236}">
                  <a16:creationId xmlns:a16="http://schemas.microsoft.com/office/drawing/2014/main" id="{CD8075F3-D85D-A33F-6045-1E2A6ACE25E1}"/>
                </a:ext>
              </a:extLst>
            </p:cNvPr>
            <p:cNvSpPr txBox="1"/>
            <p:nvPr/>
          </p:nvSpPr>
          <p:spPr>
            <a:xfrm>
              <a:off x="7903754" y="974689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Server</a:t>
              </a:r>
            </a:p>
          </p:txBody>
        </p:sp>
      </p:grpSp>
      <p:grpSp>
        <p:nvGrpSpPr>
          <p:cNvPr id="23" name="Gruppe 22">
            <a:extLst>
              <a:ext uri="{FF2B5EF4-FFF2-40B4-BE49-F238E27FC236}">
                <a16:creationId xmlns:a16="http://schemas.microsoft.com/office/drawing/2014/main" id="{E219F42F-92EB-06B2-E116-6DA08200A20B}"/>
              </a:ext>
            </a:extLst>
          </p:cNvPr>
          <p:cNvGrpSpPr/>
          <p:nvPr/>
        </p:nvGrpSpPr>
        <p:grpSpPr>
          <a:xfrm>
            <a:off x="1124840" y="1690688"/>
            <a:ext cx="2198451" cy="3463759"/>
            <a:chOff x="4039842" y="1012568"/>
            <a:chExt cx="2198451" cy="3463759"/>
          </a:xfrm>
        </p:grpSpPr>
        <p:sp>
          <p:nvSpPr>
            <p:cNvPr id="20" name="Rektangel 19">
              <a:extLst>
                <a:ext uri="{FF2B5EF4-FFF2-40B4-BE49-F238E27FC236}">
                  <a16:creationId xmlns:a16="http://schemas.microsoft.com/office/drawing/2014/main" id="{D7DB206F-AB6D-A8C0-E270-BCA6B9536D9E}"/>
                </a:ext>
              </a:extLst>
            </p:cNvPr>
            <p:cNvSpPr/>
            <p:nvPr/>
          </p:nvSpPr>
          <p:spPr>
            <a:xfrm>
              <a:off x="4039842" y="1344021"/>
              <a:ext cx="2198451" cy="31323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7" name="Rektangel 16">
              <a:extLst>
                <a:ext uri="{FF2B5EF4-FFF2-40B4-BE49-F238E27FC236}">
                  <a16:creationId xmlns:a16="http://schemas.microsoft.com/office/drawing/2014/main" id="{FCAA8395-DC7C-E7F7-3C8B-716A476BC52C}"/>
                </a:ext>
              </a:extLst>
            </p:cNvPr>
            <p:cNvSpPr/>
            <p:nvPr/>
          </p:nvSpPr>
          <p:spPr>
            <a:xfrm>
              <a:off x="4182139" y="1419778"/>
              <a:ext cx="1913861" cy="2455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 dirty="0" err="1"/>
                <a:t>Socket</a:t>
              </a:r>
              <a:endParaRPr lang="da-DK" sz="1600" dirty="0"/>
            </a:p>
          </p:txBody>
        </p:sp>
        <p:sp>
          <p:nvSpPr>
            <p:cNvPr id="18" name="Rektangel 17">
              <a:extLst>
                <a:ext uri="{FF2B5EF4-FFF2-40B4-BE49-F238E27FC236}">
                  <a16:creationId xmlns:a16="http://schemas.microsoft.com/office/drawing/2014/main" id="{A5E15055-B891-5BF4-F4F6-3501582D3988}"/>
                </a:ext>
              </a:extLst>
            </p:cNvPr>
            <p:cNvSpPr/>
            <p:nvPr/>
          </p:nvSpPr>
          <p:spPr>
            <a:xfrm>
              <a:off x="4182138" y="2836884"/>
              <a:ext cx="1913861" cy="2455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 dirty="0"/>
                <a:t>Connect</a:t>
              </a:r>
            </a:p>
          </p:txBody>
        </p:sp>
        <p:sp>
          <p:nvSpPr>
            <p:cNvPr id="19" name="Rektangel 18">
              <a:extLst>
                <a:ext uri="{FF2B5EF4-FFF2-40B4-BE49-F238E27FC236}">
                  <a16:creationId xmlns:a16="http://schemas.microsoft.com/office/drawing/2014/main" id="{6A7ABF0D-6496-8038-083D-1E131A72A9EB}"/>
                </a:ext>
              </a:extLst>
            </p:cNvPr>
            <p:cNvSpPr/>
            <p:nvPr/>
          </p:nvSpPr>
          <p:spPr>
            <a:xfrm>
              <a:off x="4182138" y="4117477"/>
              <a:ext cx="1913861" cy="2455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600" dirty="0"/>
                <a:t>Send/</a:t>
              </a:r>
              <a:r>
                <a:rPr lang="da-DK" sz="1600" dirty="0" err="1"/>
                <a:t>Recvt</a:t>
              </a:r>
              <a:endParaRPr lang="da-DK" sz="1600" dirty="0"/>
            </a:p>
          </p:txBody>
        </p:sp>
        <p:sp>
          <p:nvSpPr>
            <p:cNvPr id="21" name="Tekstfelt 20">
              <a:extLst>
                <a:ext uri="{FF2B5EF4-FFF2-40B4-BE49-F238E27FC236}">
                  <a16:creationId xmlns:a16="http://schemas.microsoft.com/office/drawing/2014/main" id="{29F30435-1A57-655C-9302-A596CC589AB4}"/>
                </a:ext>
              </a:extLst>
            </p:cNvPr>
            <p:cNvSpPr txBox="1"/>
            <p:nvPr/>
          </p:nvSpPr>
          <p:spPr>
            <a:xfrm>
              <a:off x="4739246" y="1012568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Client</a:t>
              </a:r>
            </a:p>
          </p:txBody>
        </p:sp>
      </p:grpSp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93A1AAF0-F72C-3BBF-F0B8-CA826A4AB26B}"/>
              </a:ext>
            </a:extLst>
          </p:cNvPr>
          <p:cNvCxnSpPr>
            <a:stCxn id="18" idx="3"/>
            <a:endCxn id="11" idx="1"/>
          </p:cNvCxnSpPr>
          <p:nvPr/>
        </p:nvCxnSpPr>
        <p:spPr>
          <a:xfrm>
            <a:off x="3180997" y="3637756"/>
            <a:ext cx="951647" cy="60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Lige pilforbindelse 25">
            <a:extLst>
              <a:ext uri="{FF2B5EF4-FFF2-40B4-BE49-F238E27FC236}">
                <a16:creationId xmlns:a16="http://schemas.microsoft.com/office/drawing/2014/main" id="{888B2FE1-9A42-59E6-A825-C0B731F82CD1}"/>
              </a:ext>
            </a:extLst>
          </p:cNvPr>
          <p:cNvCxnSpPr>
            <a:cxnSpLocks/>
            <a:stCxn id="14" idx="1"/>
            <a:endCxn id="19" idx="3"/>
          </p:cNvCxnSpPr>
          <p:nvPr/>
        </p:nvCxnSpPr>
        <p:spPr>
          <a:xfrm flipH="1">
            <a:off x="3180997" y="4918349"/>
            <a:ext cx="9516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kstfelt 31">
            <a:extLst>
              <a:ext uri="{FF2B5EF4-FFF2-40B4-BE49-F238E27FC236}">
                <a16:creationId xmlns:a16="http://schemas.microsoft.com/office/drawing/2014/main" id="{27F67E0B-DE2E-EF4C-C429-90434138BE20}"/>
              </a:ext>
            </a:extLst>
          </p:cNvPr>
          <p:cNvSpPr txBox="1"/>
          <p:nvPr/>
        </p:nvSpPr>
        <p:spPr>
          <a:xfrm>
            <a:off x="6873990" y="1496429"/>
            <a:ext cx="4288203" cy="26776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a-DK" sz="1400" dirty="0"/>
              <a:t>import </a:t>
            </a:r>
            <a:r>
              <a:rPr lang="da-DK" sz="1400" dirty="0" err="1"/>
              <a:t>socket</a:t>
            </a:r>
            <a:endParaRPr lang="da-DK" sz="1400" dirty="0"/>
          </a:p>
          <a:p>
            <a:endParaRPr lang="da-DK" sz="1400" dirty="0"/>
          </a:p>
          <a:p>
            <a:r>
              <a:rPr lang="da-DK" sz="1400" dirty="0" err="1"/>
              <a:t>server_socket</a:t>
            </a:r>
            <a:r>
              <a:rPr lang="da-DK" sz="1400" dirty="0"/>
              <a:t> = </a:t>
            </a:r>
            <a:r>
              <a:rPr lang="da-DK" sz="1400" dirty="0" err="1"/>
              <a:t>socket.socket</a:t>
            </a:r>
            <a:r>
              <a:rPr lang="da-DK" sz="1400" dirty="0"/>
              <a:t>(</a:t>
            </a:r>
            <a:r>
              <a:rPr lang="da-DK" sz="1400" dirty="0" err="1"/>
              <a:t>socket.AF_INET</a:t>
            </a:r>
            <a:r>
              <a:rPr lang="da-DK" sz="1400" dirty="0"/>
              <a:t>, </a:t>
            </a:r>
            <a:r>
              <a:rPr lang="da-DK" sz="1400" dirty="0" err="1"/>
              <a:t>socket.SOCK_STREAM</a:t>
            </a:r>
            <a:r>
              <a:rPr lang="da-DK" sz="1400" dirty="0"/>
              <a:t>)</a:t>
            </a:r>
          </a:p>
          <a:p>
            <a:r>
              <a:rPr lang="da-DK" sz="1400" dirty="0" err="1"/>
              <a:t>server_socket.bind</a:t>
            </a:r>
            <a:r>
              <a:rPr lang="da-DK" sz="1400" dirty="0"/>
              <a:t>(("127.0.0.1", 5000))</a:t>
            </a:r>
          </a:p>
          <a:p>
            <a:r>
              <a:rPr lang="da-DK" sz="1400" dirty="0" err="1"/>
              <a:t>server_socket.listen</a:t>
            </a:r>
            <a:r>
              <a:rPr lang="da-DK" sz="1400" dirty="0"/>
              <a:t>(1)</a:t>
            </a:r>
          </a:p>
          <a:p>
            <a:endParaRPr lang="da-DK" sz="1400" dirty="0"/>
          </a:p>
          <a:p>
            <a:r>
              <a:rPr lang="da-DK" sz="1400" dirty="0" err="1"/>
              <a:t>conn</a:t>
            </a:r>
            <a:r>
              <a:rPr lang="da-DK" sz="1400" dirty="0"/>
              <a:t>, </a:t>
            </a:r>
            <a:r>
              <a:rPr lang="da-DK" sz="1400" dirty="0" err="1"/>
              <a:t>addr</a:t>
            </a:r>
            <a:r>
              <a:rPr lang="da-DK" sz="1400" dirty="0"/>
              <a:t> = </a:t>
            </a:r>
            <a:r>
              <a:rPr lang="da-DK" sz="1400" dirty="0" err="1"/>
              <a:t>server_socket.accept</a:t>
            </a:r>
            <a:r>
              <a:rPr lang="da-DK" sz="1400" dirty="0"/>
              <a:t>()</a:t>
            </a:r>
          </a:p>
          <a:p>
            <a:r>
              <a:rPr lang="da-DK" sz="1400" dirty="0"/>
              <a:t>data = </a:t>
            </a:r>
            <a:r>
              <a:rPr lang="da-DK" sz="1400" dirty="0" err="1"/>
              <a:t>conn.recv</a:t>
            </a:r>
            <a:r>
              <a:rPr lang="da-DK" sz="1400" dirty="0"/>
              <a:t>(1024)</a:t>
            </a:r>
          </a:p>
          <a:p>
            <a:r>
              <a:rPr lang="da-DK" sz="1400" dirty="0" err="1"/>
              <a:t>conn.send</a:t>
            </a:r>
            <a:r>
              <a:rPr lang="da-DK" sz="1400" dirty="0"/>
              <a:t>(</a:t>
            </a:r>
            <a:r>
              <a:rPr lang="da-DK" sz="1400" dirty="0" err="1"/>
              <a:t>b"OK</a:t>
            </a:r>
            <a:r>
              <a:rPr lang="da-DK" sz="1400" dirty="0"/>
              <a:t> modtaget")</a:t>
            </a:r>
          </a:p>
          <a:p>
            <a:r>
              <a:rPr lang="da-DK" sz="1400" dirty="0" err="1"/>
              <a:t>conn.close</a:t>
            </a:r>
            <a:r>
              <a:rPr lang="da-DK" sz="1400" dirty="0"/>
              <a:t>()</a:t>
            </a:r>
          </a:p>
          <a:p>
            <a:r>
              <a:rPr lang="da-DK" sz="1400" dirty="0" err="1"/>
              <a:t>server_socket.close</a:t>
            </a:r>
            <a:r>
              <a:rPr lang="da-DK" sz="1400" dirty="0"/>
              <a:t>()</a:t>
            </a:r>
          </a:p>
        </p:txBody>
      </p:sp>
      <p:sp>
        <p:nvSpPr>
          <p:cNvPr id="33" name="Tekstfelt 32">
            <a:extLst>
              <a:ext uri="{FF2B5EF4-FFF2-40B4-BE49-F238E27FC236}">
                <a16:creationId xmlns:a16="http://schemas.microsoft.com/office/drawing/2014/main" id="{7393737C-67EB-067E-4BE1-8EF8296BB235}"/>
              </a:ext>
            </a:extLst>
          </p:cNvPr>
          <p:cNvSpPr txBox="1"/>
          <p:nvPr/>
        </p:nvSpPr>
        <p:spPr>
          <a:xfrm>
            <a:off x="6873990" y="1114769"/>
            <a:ext cx="228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Python Server </a:t>
            </a:r>
            <a:r>
              <a:rPr lang="da-DK" dirty="0" err="1">
                <a:solidFill>
                  <a:schemeClr val="bg1"/>
                </a:solidFill>
              </a:rPr>
              <a:t>Socket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35" name="Tekstfelt 34">
            <a:extLst>
              <a:ext uri="{FF2B5EF4-FFF2-40B4-BE49-F238E27FC236}">
                <a16:creationId xmlns:a16="http://schemas.microsoft.com/office/drawing/2014/main" id="{B2EEFEC1-9F0F-8862-F84C-F2C253AE988A}"/>
              </a:ext>
            </a:extLst>
          </p:cNvPr>
          <p:cNvSpPr txBox="1"/>
          <p:nvPr/>
        </p:nvSpPr>
        <p:spPr>
          <a:xfrm>
            <a:off x="6873990" y="4661302"/>
            <a:ext cx="4288203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a-DK" sz="1400" dirty="0"/>
              <a:t>import </a:t>
            </a:r>
            <a:r>
              <a:rPr lang="da-DK" sz="1400" dirty="0" err="1"/>
              <a:t>socket</a:t>
            </a:r>
            <a:endParaRPr lang="da-DK" sz="1400" dirty="0"/>
          </a:p>
          <a:p>
            <a:endParaRPr lang="da-DK" sz="1400" dirty="0"/>
          </a:p>
          <a:p>
            <a:r>
              <a:rPr lang="da-DK" sz="1400" dirty="0" err="1"/>
              <a:t>client_socket</a:t>
            </a:r>
            <a:r>
              <a:rPr lang="da-DK" sz="1400" dirty="0"/>
              <a:t> = </a:t>
            </a:r>
            <a:r>
              <a:rPr lang="da-DK" sz="1400" dirty="0" err="1"/>
              <a:t>socket.socket</a:t>
            </a:r>
            <a:r>
              <a:rPr lang="da-DK" sz="1400" dirty="0"/>
              <a:t>(</a:t>
            </a:r>
            <a:r>
              <a:rPr lang="da-DK" sz="1400" dirty="0" err="1"/>
              <a:t>socket.AF_INET</a:t>
            </a:r>
            <a:r>
              <a:rPr lang="da-DK" sz="1400" dirty="0"/>
              <a:t>, </a:t>
            </a:r>
            <a:r>
              <a:rPr lang="da-DK" sz="1400" dirty="0" err="1"/>
              <a:t>socket.SOCK_STREAM</a:t>
            </a:r>
            <a:r>
              <a:rPr lang="da-DK" sz="1400" dirty="0"/>
              <a:t>)</a:t>
            </a:r>
          </a:p>
          <a:p>
            <a:r>
              <a:rPr lang="da-DK" sz="1400" dirty="0" err="1"/>
              <a:t>client_socket.connect</a:t>
            </a:r>
            <a:r>
              <a:rPr lang="da-DK" sz="1400" dirty="0"/>
              <a:t>(("127.0.0.1", 5000))</a:t>
            </a:r>
          </a:p>
          <a:p>
            <a:endParaRPr lang="da-DK" sz="1400" dirty="0"/>
          </a:p>
          <a:p>
            <a:r>
              <a:rPr lang="da-DK" sz="1400" dirty="0" err="1"/>
              <a:t>client_socket.send</a:t>
            </a:r>
            <a:r>
              <a:rPr lang="da-DK" sz="1400" dirty="0"/>
              <a:t>(</a:t>
            </a:r>
            <a:r>
              <a:rPr lang="da-DK" sz="1400" dirty="0" err="1"/>
              <a:t>b"Hej</a:t>
            </a:r>
            <a:r>
              <a:rPr lang="da-DK" sz="1400" dirty="0"/>
              <a:t> server")</a:t>
            </a:r>
          </a:p>
          <a:p>
            <a:r>
              <a:rPr lang="da-DK" sz="1400" dirty="0" err="1"/>
              <a:t>response</a:t>
            </a:r>
            <a:r>
              <a:rPr lang="da-DK" sz="1400" dirty="0"/>
              <a:t> = </a:t>
            </a:r>
            <a:r>
              <a:rPr lang="da-DK" sz="1400" dirty="0" err="1"/>
              <a:t>client_socket.recv</a:t>
            </a:r>
            <a:r>
              <a:rPr lang="da-DK" sz="1400" dirty="0"/>
              <a:t>(1024)</a:t>
            </a:r>
          </a:p>
          <a:p>
            <a:r>
              <a:rPr lang="da-DK" sz="1400" dirty="0" err="1"/>
              <a:t>client_socket.close</a:t>
            </a:r>
            <a:r>
              <a:rPr lang="da-DK" sz="1400" dirty="0"/>
              <a:t>()</a:t>
            </a:r>
          </a:p>
        </p:txBody>
      </p:sp>
      <p:sp>
        <p:nvSpPr>
          <p:cNvPr id="37" name="Tekstfelt 36">
            <a:extLst>
              <a:ext uri="{FF2B5EF4-FFF2-40B4-BE49-F238E27FC236}">
                <a16:creationId xmlns:a16="http://schemas.microsoft.com/office/drawing/2014/main" id="{67C22DFF-847D-92C9-5ADF-C7BD1FD7ADC7}"/>
              </a:ext>
            </a:extLst>
          </p:cNvPr>
          <p:cNvSpPr txBox="1"/>
          <p:nvPr/>
        </p:nvSpPr>
        <p:spPr>
          <a:xfrm>
            <a:off x="6802654" y="4294997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Python </a:t>
            </a:r>
            <a:r>
              <a:rPr lang="da-DK" dirty="0">
                <a:solidFill>
                  <a:schemeClr val="bg1"/>
                </a:solidFill>
              </a:rPr>
              <a:t>Client</a:t>
            </a:r>
            <a:r>
              <a:rPr lang="da-DK" dirty="0"/>
              <a:t> </a:t>
            </a:r>
            <a:r>
              <a:rPr lang="da-DK" dirty="0" err="1">
                <a:solidFill>
                  <a:schemeClr val="bg1"/>
                </a:solidFill>
              </a:rPr>
              <a:t>Socket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38" name="Tekstfelt 37">
            <a:extLst>
              <a:ext uri="{FF2B5EF4-FFF2-40B4-BE49-F238E27FC236}">
                <a16:creationId xmlns:a16="http://schemas.microsoft.com/office/drawing/2014/main" id="{F82DB21A-6E7A-C168-A952-CDC4CE984323}"/>
              </a:ext>
            </a:extLst>
          </p:cNvPr>
          <p:cNvSpPr txBox="1"/>
          <p:nvPr/>
        </p:nvSpPr>
        <p:spPr>
          <a:xfrm>
            <a:off x="9947232" y="411849"/>
            <a:ext cx="1879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b="1" dirty="0">
                <a:solidFill>
                  <a:srgbClr val="FF0000"/>
                </a:solidFill>
              </a:rPr>
              <a:t>Ikke målepind</a:t>
            </a:r>
          </a:p>
        </p:txBody>
      </p:sp>
    </p:spTree>
    <p:extLst>
      <p:ext uri="{BB962C8B-B14F-4D97-AF65-F5344CB8AC3E}">
        <p14:creationId xmlns:p14="http://schemas.microsoft.com/office/powerpoint/2010/main" val="684354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895A6-B945-B072-FF66-EAEC5A3C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Python </a:t>
            </a:r>
            <a:r>
              <a:rPr lang="da-DK" dirty="0" err="1"/>
              <a:t>webserver</a:t>
            </a:r>
            <a:r>
              <a:rPr lang="da-DK" dirty="0"/>
              <a:t> 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DD92C74E-5A8D-53D0-1031-0EE33D7EE957}"/>
              </a:ext>
            </a:extLst>
          </p:cNvPr>
          <p:cNvSpPr txBox="1"/>
          <p:nvPr/>
        </p:nvSpPr>
        <p:spPr>
          <a:xfrm>
            <a:off x="1235163" y="1444539"/>
            <a:ext cx="10118637" cy="5048336"/>
          </a:xfrm>
          <a:prstGeom prst="rect">
            <a:avLst/>
          </a:prstGeom>
          <a:noFill/>
        </p:spPr>
        <p:txBody>
          <a:bodyPr wrap="square" numCol="3" spcCol="180000">
            <a:noAutofit/>
          </a:bodyPr>
          <a:lstStyle/>
          <a:p>
            <a:r>
              <a:rPr lang="da-DK" sz="1200" dirty="0">
                <a:solidFill>
                  <a:schemeClr val="accent6"/>
                </a:solidFill>
              </a:rPr>
              <a:t>import </a:t>
            </a:r>
            <a:r>
              <a:rPr lang="da-DK" sz="1200" dirty="0" err="1">
                <a:solidFill>
                  <a:schemeClr val="accent6"/>
                </a:solidFill>
              </a:rPr>
              <a:t>socket</a:t>
            </a:r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import </a:t>
            </a:r>
            <a:r>
              <a:rPr lang="da-DK" sz="1200" dirty="0" err="1">
                <a:solidFill>
                  <a:schemeClr val="accent6"/>
                </a:solidFill>
              </a:rPr>
              <a:t>threading</a:t>
            </a:r>
            <a:endParaRPr lang="da-DK" sz="1200" dirty="0">
              <a:solidFill>
                <a:schemeClr val="accent6"/>
              </a:solidFill>
            </a:endParaRP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HOST = "127.0.0.1"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PORT = 8080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# Denne funktion køres i en separat tråd for hver klient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def </a:t>
            </a:r>
            <a:r>
              <a:rPr lang="da-DK" sz="1200" dirty="0" err="1">
                <a:solidFill>
                  <a:schemeClr val="accent6"/>
                </a:solidFill>
              </a:rPr>
              <a:t>handle_client</a:t>
            </a:r>
            <a:r>
              <a:rPr lang="da-DK" sz="1200" dirty="0">
                <a:solidFill>
                  <a:schemeClr val="accent6"/>
                </a:solidFill>
              </a:rPr>
              <a:t>(</a:t>
            </a:r>
            <a:r>
              <a:rPr lang="da-DK" sz="1200" dirty="0" err="1">
                <a:solidFill>
                  <a:schemeClr val="accent6"/>
                </a:solidFill>
              </a:rPr>
              <a:t>client_socket</a:t>
            </a:r>
            <a:r>
              <a:rPr lang="da-DK" sz="1200" dirty="0">
                <a:solidFill>
                  <a:schemeClr val="accent6"/>
                </a:solidFill>
              </a:rPr>
              <a:t>, </a:t>
            </a:r>
            <a:r>
              <a:rPr lang="da-DK" sz="1200" dirty="0" err="1">
                <a:solidFill>
                  <a:schemeClr val="accent6"/>
                </a:solidFill>
              </a:rPr>
              <a:t>client_address</a:t>
            </a:r>
            <a:r>
              <a:rPr lang="da-DK" sz="1200" dirty="0">
                <a:solidFill>
                  <a:schemeClr val="accent6"/>
                </a:solidFill>
              </a:rPr>
              <a:t>):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print("Ny klient:", </a:t>
            </a:r>
            <a:r>
              <a:rPr lang="da-DK" sz="1200" dirty="0" err="1">
                <a:solidFill>
                  <a:schemeClr val="accent6"/>
                </a:solidFill>
              </a:rPr>
              <a:t>client_address</a:t>
            </a:r>
            <a:r>
              <a:rPr lang="da-DK" sz="1200" dirty="0">
                <a:solidFill>
                  <a:schemeClr val="accent6"/>
                </a:solidFill>
              </a:rPr>
              <a:t>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    # Modtag HTTP-</a:t>
            </a:r>
            <a:r>
              <a:rPr lang="da-DK" sz="1200" dirty="0" err="1">
                <a:solidFill>
                  <a:schemeClr val="accent6"/>
                </a:solidFill>
              </a:rPr>
              <a:t>request</a:t>
            </a:r>
            <a:r>
              <a:rPr lang="da-DK" sz="1200" dirty="0">
                <a:solidFill>
                  <a:schemeClr val="accent6"/>
                </a:solidFill>
              </a:rPr>
              <a:t> fra klienten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</a:t>
            </a:r>
            <a:r>
              <a:rPr lang="da-DK" sz="1200" dirty="0" err="1">
                <a:solidFill>
                  <a:schemeClr val="accent6"/>
                </a:solidFill>
              </a:rPr>
              <a:t>request</a:t>
            </a:r>
            <a:r>
              <a:rPr lang="da-DK" sz="1200" dirty="0">
                <a:solidFill>
                  <a:schemeClr val="accent6"/>
                </a:solidFill>
              </a:rPr>
              <a:t> = </a:t>
            </a:r>
            <a:r>
              <a:rPr lang="da-DK" sz="1200" dirty="0" err="1">
                <a:solidFill>
                  <a:schemeClr val="accent6"/>
                </a:solidFill>
              </a:rPr>
              <a:t>client_socket.recv</a:t>
            </a:r>
            <a:r>
              <a:rPr lang="da-DK" sz="1200" dirty="0">
                <a:solidFill>
                  <a:schemeClr val="accent6"/>
                </a:solidFill>
              </a:rPr>
              <a:t>(1024)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    print(</a:t>
            </a:r>
            <a:r>
              <a:rPr lang="da-DK" sz="1200" dirty="0" err="1">
                <a:solidFill>
                  <a:schemeClr val="accent6"/>
                </a:solidFill>
              </a:rPr>
              <a:t>request.decode</a:t>
            </a:r>
            <a:r>
              <a:rPr lang="da-DK" sz="1200" dirty="0">
                <a:solidFill>
                  <a:schemeClr val="accent6"/>
                </a:solidFill>
              </a:rPr>
              <a:t>())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    # HTML som sendes tilbage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html = """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&lt;html&gt;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    &lt;body&gt;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        &lt;h1&gt;</a:t>
            </a:r>
            <a:r>
              <a:rPr lang="da-DK" sz="1200" dirty="0" err="1">
                <a:solidFill>
                  <a:schemeClr val="accent6"/>
                </a:solidFill>
              </a:rPr>
              <a:t>Hello</a:t>
            </a:r>
            <a:r>
              <a:rPr lang="da-DK" sz="1200" dirty="0">
                <a:solidFill>
                  <a:schemeClr val="accent6"/>
                </a:solidFill>
              </a:rPr>
              <a:t> World&lt;/h1&gt;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    &lt;/body&gt;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&lt;/html&gt;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"""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    # HTTP-</a:t>
            </a:r>
            <a:r>
              <a:rPr lang="da-DK" sz="1200" dirty="0" err="1">
                <a:solidFill>
                  <a:schemeClr val="accent6"/>
                </a:solidFill>
              </a:rPr>
              <a:t>response</a:t>
            </a:r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    </a:t>
            </a:r>
            <a:r>
              <a:rPr lang="da-DK" sz="1200" dirty="0" err="1">
                <a:solidFill>
                  <a:schemeClr val="accent6"/>
                </a:solidFill>
              </a:rPr>
              <a:t>response</a:t>
            </a:r>
            <a:r>
              <a:rPr lang="da-DK" sz="1200" dirty="0">
                <a:solidFill>
                  <a:schemeClr val="accent6"/>
                </a:solidFill>
              </a:rPr>
              <a:t> = (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    "HTTP/1.1 200 OK\r\n"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    "Content-Type: </a:t>
            </a:r>
            <a:r>
              <a:rPr lang="da-DK" sz="1200" dirty="0" err="1">
                <a:solidFill>
                  <a:schemeClr val="accent6"/>
                </a:solidFill>
              </a:rPr>
              <a:t>text</a:t>
            </a:r>
            <a:r>
              <a:rPr lang="da-DK" sz="1200" dirty="0">
                <a:solidFill>
                  <a:schemeClr val="accent6"/>
                </a:solidFill>
              </a:rPr>
              <a:t>/html\r\n"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    </a:t>
            </a:r>
            <a:r>
              <a:rPr lang="da-DK" sz="1200" dirty="0" err="1">
                <a:solidFill>
                  <a:schemeClr val="accent6"/>
                </a:solidFill>
              </a:rPr>
              <a:t>f"Content-Length</a:t>
            </a:r>
            <a:r>
              <a:rPr lang="da-DK" sz="1200" dirty="0">
                <a:solidFill>
                  <a:schemeClr val="accent6"/>
                </a:solidFill>
              </a:rPr>
              <a:t>: {len(</a:t>
            </a:r>
            <a:r>
              <a:rPr lang="da-DK" sz="1200" dirty="0" err="1">
                <a:solidFill>
                  <a:schemeClr val="accent6"/>
                </a:solidFill>
              </a:rPr>
              <a:t>html.encode</a:t>
            </a:r>
            <a:r>
              <a:rPr lang="da-DK" sz="1200" dirty="0">
                <a:solidFill>
                  <a:schemeClr val="accent6"/>
                </a:solidFill>
              </a:rPr>
              <a:t>())}\r\n"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    "\r\n"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    + html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    # Send svaret til klienten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</a:t>
            </a:r>
            <a:r>
              <a:rPr lang="da-DK" sz="1200" dirty="0" err="1">
                <a:solidFill>
                  <a:schemeClr val="accent6"/>
                </a:solidFill>
              </a:rPr>
              <a:t>client_socket.sendall</a:t>
            </a:r>
            <a:r>
              <a:rPr lang="da-DK" sz="1200" dirty="0">
                <a:solidFill>
                  <a:schemeClr val="accent6"/>
                </a:solidFill>
              </a:rPr>
              <a:t>(</a:t>
            </a:r>
            <a:r>
              <a:rPr lang="da-DK" sz="1200" dirty="0" err="1">
                <a:solidFill>
                  <a:schemeClr val="accent6"/>
                </a:solidFill>
              </a:rPr>
              <a:t>response.encode</a:t>
            </a:r>
            <a:r>
              <a:rPr lang="da-DK" sz="1200" dirty="0">
                <a:solidFill>
                  <a:schemeClr val="accent6"/>
                </a:solidFill>
              </a:rPr>
              <a:t>())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    # Luk forbindelsen til denne klient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</a:t>
            </a:r>
            <a:r>
              <a:rPr lang="da-DK" sz="1200" dirty="0" err="1">
                <a:solidFill>
                  <a:schemeClr val="accent6"/>
                </a:solidFill>
              </a:rPr>
              <a:t>client_socket.close</a:t>
            </a:r>
            <a:r>
              <a:rPr lang="da-DK" sz="1200" dirty="0">
                <a:solidFill>
                  <a:schemeClr val="accent6"/>
                </a:solidFill>
              </a:rPr>
              <a:t>()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    print("Klient afsluttet:", </a:t>
            </a:r>
            <a:r>
              <a:rPr lang="da-DK" sz="1200" dirty="0" err="1">
                <a:solidFill>
                  <a:schemeClr val="accent6"/>
                </a:solidFill>
              </a:rPr>
              <a:t>client_address</a:t>
            </a:r>
            <a:r>
              <a:rPr lang="da-DK" sz="1200" dirty="0">
                <a:solidFill>
                  <a:schemeClr val="accent6"/>
                </a:solidFill>
              </a:rPr>
              <a:t>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# Opret serverens </a:t>
            </a:r>
            <a:r>
              <a:rPr lang="da-DK" sz="1200" dirty="0" err="1">
                <a:solidFill>
                  <a:schemeClr val="accent6"/>
                </a:solidFill>
              </a:rPr>
              <a:t>socket</a:t>
            </a:r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 err="1">
                <a:solidFill>
                  <a:schemeClr val="accent6"/>
                </a:solidFill>
              </a:rPr>
              <a:t>server_socket</a:t>
            </a:r>
            <a:r>
              <a:rPr lang="da-DK" sz="1200" dirty="0">
                <a:solidFill>
                  <a:schemeClr val="accent6"/>
                </a:solidFill>
              </a:rPr>
              <a:t> = </a:t>
            </a:r>
            <a:r>
              <a:rPr lang="da-DK" sz="1200" dirty="0" err="1">
                <a:solidFill>
                  <a:schemeClr val="accent6"/>
                </a:solidFill>
              </a:rPr>
              <a:t>socket.socket</a:t>
            </a:r>
            <a:r>
              <a:rPr lang="da-DK" sz="1200" dirty="0">
                <a:solidFill>
                  <a:schemeClr val="accent6"/>
                </a:solidFill>
              </a:rPr>
              <a:t>(</a:t>
            </a:r>
            <a:r>
              <a:rPr lang="da-DK" sz="1200" dirty="0" err="1">
                <a:solidFill>
                  <a:schemeClr val="accent6"/>
                </a:solidFill>
              </a:rPr>
              <a:t>socket.AF_INET</a:t>
            </a:r>
            <a:r>
              <a:rPr lang="da-DK" sz="1200" dirty="0">
                <a:solidFill>
                  <a:schemeClr val="accent6"/>
                </a:solidFill>
              </a:rPr>
              <a:t>, </a:t>
            </a:r>
            <a:r>
              <a:rPr lang="da-DK" sz="1200" dirty="0" err="1">
                <a:solidFill>
                  <a:schemeClr val="accent6"/>
                </a:solidFill>
              </a:rPr>
              <a:t>socket.SOCK_STREAM</a:t>
            </a:r>
            <a:r>
              <a:rPr lang="da-DK" sz="1200" dirty="0">
                <a:solidFill>
                  <a:schemeClr val="accent6"/>
                </a:solidFill>
              </a:rPr>
              <a:t>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# Bind </a:t>
            </a:r>
            <a:r>
              <a:rPr lang="da-DK" sz="1200" dirty="0" err="1">
                <a:solidFill>
                  <a:schemeClr val="accent6"/>
                </a:solidFill>
              </a:rPr>
              <a:t>socketen</a:t>
            </a:r>
            <a:r>
              <a:rPr lang="da-DK" sz="1200" dirty="0">
                <a:solidFill>
                  <a:schemeClr val="accent6"/>
                </a:solidFill>
              </a:rPr>
              <a:t> til IP-adresse og port</a:t>
            </a:r>
          </a:p>
          <a:p>
            <a:r>
              <a:rPr lang="da-DK" sz="1200" dirty="0" err="1">
                <a:solidFill>
                  <a:schemeClr val="accent6"/>
                </a:solidFill>
              </a:rPr>
              <a:t>server_socket.bind</a:t>
            </a:r>
            <a:r>
              <a:rPr lang="da-DK" sz="1200" dirty="0">
                <a:solidFill>
                  <a:schemeClr val="accent6"/>
                </a:solidFill>
              </a:rPr>
              <a:t>((HOST, PORT))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# Begynd at lytte efter forbindelser</a:t>
            </a:r>
          </a:p>
          <a:p>
            <a:r>
              <a:rPr lang="da-DK" sz="1200" dirty="0" err="1">
                <a:solidFill>
                  <a:schemeClr val="accent6"/>
                </a:solidFill>
              </a:rPr>
              <a:t>server_socket.listen</a:t>
            </a:r>
            <a:r>
              <a:rPr lang="da-DK" sz="1200" dirty="0">
                <a:solidFill>
                  <a:schemeClr val="accent6"/>
                </a:solidFill>
              </a:rPr>
              <a:t>()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print("Serveren lytter på http://127.0.0.1:8080")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 err="1">
                <a:solidFill>
                  <a:schemeClr val="accent6"/>
                </a:solidFill>
              </a:rPr>
              <a:t>while</a:t>
            </a:r>
            <a:r>
              <a:rPr lang="da-DK" sz="1200" dirty="0">
                <a:solidFill>
                  <a:schemeClr val="accent6"/>
                </a:solidFill>
              </a:rPr>
              <a:t> True: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# Main </a:t>
            </a:r>
            <a:r>
              <a:rPr lang="da-DK" sz="1200" dirty="0" err="1">
                <a:solidFill>
                  <a:schemeClr val="accent6"/>
                </a:solidFill>
              </a:rPr>
              <a:t>thread</a:t>
            </a:r>
            <a:r>
              <a:rPr lang="da-DK" sz="1200" dirty="0">
                <a:solidFill>
                  <a:schemeClr val="accent6"/>
                </a:solidFill>
              </a:rPr>
              <a:t> venter på en ny klient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</a:t>
            </a:r>
            <a:r>
              <a:rPr lang="da-DK" sz="1200" dirty="0" err="1">
                <a:solidFill>
                  <a:schemeClr val="accent6"/>
                </a:solidFill>
              </a:rPr>
              <a:t>client_socket</a:t>
            </a:r>
            <a:r>
              <a:rPr lang="da-DK" sz="1200" dirty="0">
                <a:solidFill>
                  <a:schemeClr val="accent6"/>
                </a:solidFill>
              </a:rPr>
              <a:t>, </a:t>
            </a:r>
            <a:r>
              <a:rPr lang="da-DK" sz="1200" dirty="0" err="1">
                <a:solidFill>
                  <a:schemeClr val="accent6"/>
                </a:solidFill>
              </a:rPr>
              <a:t>client_address</a:t>
            </a:r>
            <a:r>
              <a:rPr lang="da-DK" sz="1200" dirty="0">
                <a:solidFill>
                  <a:schemeClr val="accent6"/>
                </a:solidFill>
              </a:rPr>
              <a:t> = </a:t>
            </a:r>
            <a:r>
              <a:rPr lang="da-DK" sz="1200" dirty="0" err="1">
                <a:solidFill>
                  <a:schemeClr val="accent6"/>
                </a:solidFill>
              </a:rPr>
              <a:t>server_socket.accept</a:t>
            </a:r>
            <a:r>
              <a:rPr lang="da-DK" sz="1200" dirty="0">
                <a:solidFill>
                  <a:schemeClr val="accent6"/>
                </a:solidFill>
              </a:rPr>
              <a:t>()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    # Opret en ny tråd til klienten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</a:t>
            </a:r>
            <a:r>
              <a:rPr lang="da-DK" sz="1200" dirty="0" err="1">
                <a:solidFill>
                  <a:schemeClr val="accent6"/>
                </a:solidFill>
              </a:rPr>
              <a:t>thread</a:t>
            </a:r>
            <a:r>
              <a:rPr lang="da-DK" sz="1200" dirty="0">
                <a:solidFill>
                  <a:schemeClr val="accent6"/>
                </a:solidFill>
              </a:rPr>
              <a:t> = </a:t>
            </a:r>
            <a:r>
              <a:rPr lang="da-DK" sz="1200" dirty="0" err="1">
                <a:solidFill>
                  <a:schemeClr val="accent6"/>
                </a:solidFill>
              </a:rPr>
              <a:t>threading.Thread</a:t>
            </a:r>
            <a:r>
              <a:rPr lang="da-DK" sz="1200" dirty="0">
                <a:solidFill>
                  <a:schemeClr val="accent6"/>
                </a:solidFill>
              </a:rPr>
              <a:t>(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    </a:t>
            </a:r>
            <a:r>
              <a:rPr lang="da-DK" sz="1200" dirty="0" err="1">
                <a:solidFill>
                  <a:schemeClr val="accent6"/>
                </a:solidFill>
              </a:rPr>
              <a:t>target</a:t>
            </a:r>
            <a:r>
              <a:rPr lang="da-DK" sz="1200" dirty="0">
                <a:solidFill>
                  <a:schemeClr val="accent6"/>
                </a:solidFill>
              </a:rPr>
              <a:t>=</a:t>
            </a:r>
            <a:r>
              <a:rPr lang="da-DK" sz="1200" dirty="0" err="1">
                <a:solidFill>
                  <a:schemeClr val="accent6"/>
                </a:solidFill>
              </a:rPr>
              <a:t>handle_client</a:t>
            </a:r>
            <a:r>
              <a:rPr lang="da-DK" sz="1200" dirty="0">
                <a:solidFill>
                  <a:schemeClr val="accent6"/>
                </a:solidFill>
              </a:rPr>
              <a:t>,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    </a:t>
            </a:r>
            <a:r>
              <a:rPr lang="da-DK" sz="1200" dirty="0" err="1">
                <a:solidFill>
                  <a:schemeClr val="accent6"/>
                </a:solidFill>
              </a:rPr>
              <a:t>args</a:t>
            </a:r>
            <a:r>
              <a:rPr lang="da-DK" sz="1200" dirty="0">
                <a:solidFill>
                  <a:schemeClr val="accent6"/>
                </a:solidFill>
              </a:rPr>
              <a:t>=(</a:t>
            </a:r>
            <a:r>
              <a:rPr lang="da-DK" sz="1200" dirty="0" err="1">
                <a:solidFill>
                  <a:schemeClr val="accent6"/>
                </a:solidFill>
              </a:rPr>
              <a:t>client_socket</a:t>
            </a:r>
            <a:r>
              <a:rPr lang="da-DK" sz="1200" dirty="0">
                <a:solidFill>
                  <a:schemeClr val="accent6"/>
                </a:solidFill>
              </a:rPr>
              <a:t>, </a:t>
            </a:r>
            <a:r>
              <a:rPr lang="da-DK" sz="1200" dirty="0" err="1">
                <a:solidFill>
                  <a:schemeClr val="accent6"/>
                </a:solidFill>
              </a:rPr>
              <a:t>client_address</a:t>
            </a:r>
            <a:r>
              <a:rPr lang="da-DK" sz="1200" dirty="0">
                <a:solidFill>
                  <a:schemeClr val="accent6"/>
                </a:solidFill>
              </a:rPr>
              <a:t>)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    # Start tråden</a:t>
            </a:r>
          </a:p>
          <a:p>
            <a:r>
              <a:rPr lang="da-DK" sz="1200" dirty="0">
                <a:solidFill>
                  <a:schemeClr val="accent6"/>
                </a:solidFill>
              </a:rPr>
              <a:t>    </a:t>
            </a:r>
            <a:r>
              <a:rPr lang="da-DK" sz="1200" dirty="0" err="1">
                <a:solidFill>
                  <a:schemeClr val="accent6"/>
                </a:solidFill>
              </a:rPr>
              <a:t>thread.start</a:t>
            </a:r>
            <a:r>
              <a:rPr lang="da-DK" sz="1200" dirty="0">
                <a:solidFill>
                  <a:schemeClr val="accent6"/>
                </a:solidFill>
              </a:rPr>
              <a:t>()</a:t>
            </a:r>
          </a:p>
          <a:p>
            <a:endParaRPr lang="da-DK" sz="1200" dirty="0">
              <a:solidFill>
                <a:schemeClr val="accent6"/>
              </a:solidFill>
            </a:endParaRPr>
          </a:p>
          <a:p>
            <a:r>
              <a:rPr lang="da-DK" sz="1200" dirty="0">
                <a:solidFill>
                  <a:schemeClr val="accent6"/>
                </a:solidFill>
              </a:rPr>
              <a:t>    print("Aktive tråde:", </a:t>
            </a:r>
            <a:r>
              <a:rPr lang="da-DK" sz="1200" dirty="0" err="1">
                <a:solidFill>
                  <a:schemeClr val="accent6"/>
                </a:solidFill>
              </a:rPr>
              <a:t>threading.active_count</a:t>
            </a:r>
            <a:r>
              <a:rPr lang="da-DK" sz="1200" dirty="0">
                <a:solidFill>
                  <a:schemeClr val="accent6"/>
                </a:solidFill>
              </a:rPr>
              <a:t>())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BFFE7F96-1C40-7068-A718-895E57460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175" y="5417496"/>
            <a:ext cx="3896588" cy="107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72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5BA58D-60DD-3E47-2CC8-80D70EC4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Programmeringssprog Serverside </a:t>
            </a:r>
          </a:p>
        </p:txBody>
      </p:sp>
      <p:pic>
        <p:nvPicPr>
          <p:cNvPr id="5" name="Billede 4" descr="Et billede, der indeholder tekst, skærmbillede, Font/skrifttype&#10;&#10;AI-genereret indhold kan være ukorrekt.">
            <a:extLst>
              <a:ext uri="{FF2B5EF4-FFF2-40B4-BE49-F238E27FC236}">
                <a16:creationId xmlns:a16="http://schemas.microsoft.com/office/drawing/2014/main" id="{4270BEAB-6EC2-EFE3-129D-81370149D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147" y="1530974"/>
            <a:ext cx="3581710" cy="233954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E018F601-A6F6-7891-7400-2C96DA4B8D13}"/>
              </a:ext>
            </a:extLst>
          </p:cNvPr>
          <p:cNvSpPr txBox="1"/>
          <p:nvPr/>
        </p:nvSpPr>
        <p:spPr>
          <a:xfrm>
            <a:off x="8137849" y="4562233"/>
            <a:ext cx="1871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Hvorfor Python ? </a:t>
            </a:r>
          </a:p>
        </p:txBody>
      </p:sp>
      <p:graphicFrame>
        <p:nvGraphicFramePr>
          <p:cNvPr id="9" name="Tabel 8">
            <a:extLst>
              <a:ext uri="{FF2B5EF4-FFF2-40B4-BE49-F238E27FC236}">
                <a16:creationId xmlns:a16="http://schemas.microsoft.com/office/drawing/2014/main" id="{E4712DE0-286A-5D8B-0E3B-4B615E2FE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032597"/>
              </p:ext>
            </p:extLst>
          </p:nvPr>
        </p:nvGraphicFramePr>
        <p:xfrm>
          <a:off x="998798" y="1533805"/>
          <a:ext cx="6773292" cy="4592635"/>
        </p:xfrm>
        <a:graphic>
          <a:graphicData uri="http://schemas.openxmlformats.org/drawingml/2006/table">
            <a:tbl>
              <a:tblPr/>
              <a:tblGrid>
                <a:gridCol w="1693323">
                  <a:extLst>
                    <a:ext uri="{9D8B030D-6E8A-4147-A177-3AD203B41FA5}">
                      <a16:colId xmlns:a16="http://schemas.microsoft.com/office/drawing/2014/main" val="3080435491"/>
                    </a:ext>
                  </a:extLst>
                </a:gridCol>
                <a:gridCol w="1693323">
                  <a:extLst>
                    <a:ext uri="{9D8B030D-6E8A-4147-A177-3AD203B41FA5}">
                      <a16:colId xmlns:a16="http://schemas.microsoft.com/office/drawing/2014/main" val="604980926"/>
                    </a:ext>
                  </a:extLst>
                </a:gridCol>
                <a:gridCol w="1693323">
                  <a:extLst>
                    <a:ext uri="{9D8B030D-6E8A-4147-A177-3AD203B41FA5}">
                      <a16:colId xmlns:a16="http://schemas.microsoft.com/office/drawing/2014/main" val="1882935028"/>
                    </a:ext>
                  </a:extLst>
                </a:gridCol>
                <a:gridCol w="1693323">
                  <a:extLst>
                    <a:ext uri="{9D8B030D-6E8A-4147-A177-3AD203B41FA5}">
                      <a16:colId xmlns:a16="http://schemas.microsoft.com/office/drawing/2014/main" val="2930355892"/>
                    </a:ext>
                  </a:extLst>
                </a:gridCol>
              </a:tblGrid>
              <a:tr h="232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 dirty="0"/>
                        <a:t>Sprog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/>
                        <a:t>Hvorfor vælges det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 dirty="0"/>
                        <a:t>Ulemper i containere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 dirty="0"/>
                        <a:t>Typiske </a:t>
                      </a:r>
                      <a:r>
                        <a:rPr lang="da-DK" sz="1100" b="1" dirty="0" err="1"/>
                        <a:t>use</a:t>
                      </a:r>
                      <a:r>
                        <a:rPr lang="da-DK" sz="1100" b="1" dirty="0"/>
                        <a:t> cases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443027"/>
                  </a:ext>
                </a:extLst>
              </a:tr>
              <a:tr h="755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Python</a:t>
                      </a:r>
                      <a:endParaRPr lang="da-DK" sz="11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Meget høj udviklingshastighed, stort økosystem, let at læse og vedligeholde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Lavere performance, højere CPU-forbrug, dårligere </a:t>
                      </a:r>
                      <a:r>
                        <a:rPr lang="da-DK" sz="11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concurrency</a:t>
                      </a:r>
                      <a:r>
                        <a:rPr lang="da-DK" sz="1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til CPU-tunge </a:t>
                      </a:r>
                      <a:r>
                        <a:rPr lang="da-DK" sz="11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workloads</a:t>
                      </a:r>
                      <a:endParaRPr lang="da-DK" sz="11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API’er</a:t>
                      </a:r>
                      <a:r>
                        <a:rPr lang="da-DK" sz="1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, integrationer, automation, data- og ML-opgaver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790082"/>
                  </a:ext>
                </a:extLst>
              </a:tr>
              <a:tr h="755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>
                          <a:solidFill>
                            <a:schemeClr val="bg1"/>
                          </a:solidFill>
                        </a:rPr>
                        <a:t>C# / .NET</a:t>
                      </a:r>
                      <a:endParaRPr lang="da-DK" sz="1100">
                        <a:solidFill>
                          <a:schemeClr val="bg1"/>
                        </a:solidFill>
                      </a:endParaRP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>
                          <a:solidFill>
                            <a:schemeClr val="bg1"/>
                          </a:solidFill>
                        </a:rPr>
                        <a:t>God balance mellem produktivitet og performance, stærk tooling, type-sikkerhed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solidFill>
                            <a:schemeClr val="bg1"/>
                          </a:solidFill>
                        </a:rPr>
                        <a:t>Større images, højere runtime-overhead, langsommere opstart end Go og Python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 err="1">
                          <a:solidFill>
                            <a:schemeClr val="bg1"/>
                          </a:solidFill>
                        </a:rPr>
                        <a:t>Mid</a:t>
                      </a:r>
                      <a:r>
                        <a:rPr lang="da-DK" sz="1100" dirty="0">
                          <a:solidFill>
                            <a:schemeClr val="bg1"/>
                          </a:solidFill>
                        </a:rPr>
                        <a:t> Enterprise-services, </a:t>
                      </a:r>
                      <a:r>
                        <a:rPr lang="da-DK" sz="1100" dirty="0" err="1">
                          <a:solidFill>
                            <a:schemeClr val="bg1"/>
                          </a:solidFill>
                        </a:rPr>
                        <a:t>web-API’er</a:t>
                      </a:r>
                      <a:r>
                        <a:rPr lang="da-DK" sz="1100" dirty="0">
                          <a:solidFill>
                            <a:schemeClr val="bg1"/>
                          </a:solidFill>
                        </a:rPr>
                        <a:t>, business-logik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34679"/>
                  </a:ext>
                </a:extLst>
              </a:tr>
              <a:tr h="755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>
                          <a:solidFill>
                            <a:schemeClr val="bg1"/>
                          </a:solidFill>
                        </a:rPr>
                        <a:t>Java</a:t>
                      </a:r>
                      <a:endParaRPr lang="da-DK" sz="1100">
                        <a:solidFill>
                          <a:schemeClr val="bg1"/>
                        </a:solidFill>
                      </a:endParaRP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>
                          <a:solidFill>
                            <a:schemeClr val="bg1"/>
                          </a:solidFill>
                        </a:rPr>
                        <a:t>Modent enterprise-økosystem, høj stabilitet, god performance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>
                          <a:solidFill>
                            <a:schemeClr val="bg1"/>
                          </a:solidFill>
                        </a:rPr>
                        <a:t>Højere memory-forbrug, langsommere opstart, kræver JVM-tuning i containere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solidFill>
                            <a:schemeClr val="bg1"/>
                          </a:solidFill>
                        </a:rPr>
                        <a:t>Store platforme, langlivede services, komplekse domæner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031381"/>
                  </a:ext>
                </a:extLst>
              </a:tr>
              <a:tr h="755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 dirty="0">
                          <a:solidFill>
                            <a:schemeClr val="bg1"/>
                          </a:solidFill>
                        </a:rPr>
                        <a:t>C – ( C++)</a:t>
                      </a:r>
                      <a:endParaRPr lang="da-DK" sz="1100" dirty="0">
                        <a:solidFill>
                          <a:schemeClr val="bg1"/>
                        </a:solidFill>
                      </a:endParaRP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solidFill>
                            <a:schemeClr val="bg1"/>
                          </a:solidFill>
                        </a:rPr>
                        <a:t>Maksimal performance, meget små binaries, ingen </a:t>
                      </a:r>
                      <a:r>
                        <a:rPr lang="da-DK" sz="1100" dirty="0" err="1">
                          <a:solidFill>
                            <a:schemeClr val="bg1"/>
                          </a:solidFill>
                        </a:rPr>
                        <a:t>runtime</a:t>
                      </a:r>
                      <a:endParaRPr lang="da-DK" sz="1100" dirty="0">
                        <a:solidFill>
                          <a:schemeClr val="bg1"/>
                        </a:solidFill>
                      </a:endParaRP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>
                          <a:solidFill>
                            <a:schemeClr val="bg1"/>
                          </a:solidFill>
                        </a:rPr>
                        <a:t>Lav produktivitet, høj fejlrisiko, svært at vedligeholde i store teams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solidFill>
                            <a:schemeClr val="bg1"/>
                          </a:solidFill>
                        </a:rPr>
                        <a:t>Systemnære komponenter, performance-kritiske biblioteker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500675"/>
                  </a:ext>
                </a:extLst>
              </a:tr>
              <a:tr h="755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>
                          <a:solidFill>
                            <a:schemeClr val="bg1"/>
                          </a:solidFill>
                        </a:rPr>
                        <a:t>Go</a:t>
                      </a:r>
                      <a:endParaRPr lang="da-DK" sz="1100">
                        <a:solidFill>
                          <a:schemeClr val="bg1"/>
                        </a:solidFill>
                      </a:endParaRP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>
                          <a:solidFill>
                            <a:schemeClr val="bg1"/>
                          </a:solidFill>
                        </a:rPr>
                        <a:t>Hurtig opstart, lavt memory-forbrug, små images, simpelt runtime-setup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>
                          <a:solidFill>
                            <a:schemeClr val="bg1"/>
                          </a:solidFill>
                        </a:rPr>
                        <a:t>Mindre fleksibelt sprog, færre high-level abstractions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solidFill>
                            <a:schemeClr val="bg1"/>
                          </a:solidFill>
                        </a:rPr>
                        <a:t>Cloud-</a:t>
                      </a:r>
                      <a:r>
                        <a:rPr lang="da-DK" sz="1100" dirty="0" err="1">
                          <a:solidFill>
                            <a:schemeClr val="bg1"/>
                          </a:solidFill>
                        </a:rPr>
                        <a:t>native</a:t>
                      </a:r>
                      <a:r>
                        <a:rPr lang="da-DK" sz="1100" dirty="0">
                          <a:solidFill>
                            <a:schemeClr val="bg1"/>
                          </a:solidFill>
                        </a:rPr>
                        <a:t> services, </a:t>
                      </a:r>
                      <a:r>
                        <a:rPr lang="da-DK" sz="1100" dirty="0" err="1">
                          <a:solidFill>
                            <a:schemeClr val="bg1"/>
                          </a:solidFill>
                        </a:rPr>
                        <a:t>microservices</a:t>
                      </a:r>
                      <a:r>
                        <a:rPr lang="da-DK" sz="1100" dirty="0">
                          <a:solidFill>
                            <a:schemeClr val="bg1"/>
                          </a:solidFill>
                        </a:rPr>
                        <a:t>, CLI-værktøjer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439448"/>
                  </a:ext>
                </a:extLst>
              </a:tr>
              <a:tr h="581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>
                          <a:solidFill>
                            <a:schemeClr val="bg1"/>
                          </a:solidFill>
                        </a:rPr>
                        <a:t>Rust</a:t>
                      </a:r>
                      <a:endParaRPr lang="da-DK" sz="1100">
                        <a:solidFill>
                          <a:schemeClr val="bg1"/>
                        </a:solidFill>
                      </a:endParaRP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>
                          <a:solidFill>
                            <a:schemeClr val="bg1"/>
                          </a:solidFill>
                        </a:rPr>
                        <a:t>Høj performance + memory-sikkerhed, meget effektive binaries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solidFill>
                            <a:schemeClr val="bg1"/>
                          </a:solidFill>
                        </a:rPr>
                        <a:t>Stejl indlæringskurve, lavere udviklingshastighed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solidFill>
                            <a:schemeClr val="bg1"/>
                          </a:solidFill>
                        </a:rPr>
                        <a:t>Performance-kritiske services, sikre systemer</a:t>
                      </a:r>
                    </a:p>
                  </a:txBody>
                  <a:tcPr marL="58135" marR="58135" marT="29067" marB="29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39830"/>
                  </a:ext>
                </a:extLst>
              </a:tr>
            </a:tbl>
          </a:graphicData>
        </a:graphic>
      </p:graphicFrame>
      <p:sp>
        <p:nvSpPr>
          <p:cNvPr id="11" name="Tekstfelt 10">
            <a:extLst>
              <a:ext uri="{FF2B5EF4-FFF2-40B4-BE49-F238E27FC236}">
                <a16:creationId xmlns:a16="http://schemas.microsoft.com/office/drawing/2014/main" id="{EA6583BB-16DA-C04C-9229-781987C96C66}"/>
              </a:ext>
            </a:extLst>
          </p:cNvPr>
          <p:cNvSpPr txBox="1"/>
          <p:nvPr/>
        </p:nvSpPr>
        <p:spPr>
          <a:xfrm>
            <a:off x="8139143" y="3870517"/>
            <a:ext cx="23246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chemeClr val="bg1"/>
                </a:solidFill>
              </a:rPr>
              <a:t>Komplet </a:t>
            </a:r>
            <a:r>
              <a:rPr lang="da-DK" sz="1400" dirty="0" err="1">
                <a:solidFill>
                  <a:schemeClr val="bg1"/>
                </a:solidFill>
              </a:rPr>
              <a:t>webserver</a:t>
            </a:r>
            <a:r>
              <a:rPr lang="da-DK" sz="1400" dirty="0">
                <a:solidFill>
                  <a:schemeClr val="bg1"/>
                </a:solidFill>
              </a:rPr>
              <a:t> Python</a:t>
            </a:r>
          </a:p>
        </p:txBody>
      </p:sp>
    </p:spTree>
    <p:extLst>
      <p:ext uri="{BB962C8B-B14F-4D97-AF65-F5344CB8AC3E}">
        <p14:creationId xmlns:p14="http://schemas.microsoft.com/office/powerpoint/2010/main" val="1426267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41B47F-E97E-9559-C3EB-477B04A4F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Fremtiden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EE53376-FE05-B152-AA06-8EDD35F7D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b="1" dirty="0"/>
              <a:t>EU Open Source </a:t>
            </a:r>
            <a:r>
              <a:rPr lang="da-DK" b="1" dirty="0" err="1"/>
              <a:t>Strategy</a:t>
            </a:r>
            <a:r>
              <a:rPr lang="da-DK" b="1" dirty="0"/>
              <a:t> 2026</a:t>
            </a:r>
            <a:br>
              <a:rPr lang="da-DK" dirty="0"/>
            </a:br>
            <a:r>
              <a:rPr lang="da-DK" sz="2000" dirty="0"/>
              <a:t>EU ønsker at reducere afhængigheden af ikke-europæiske teknologileverandører gennem øget udvikling, anvendelse og genbrug af open source, især i kritisk digital infrastruktur og offentlig administration.</a:t>
            </a:r>
          </a:p>
          <a:p>
            <a:r>
              <a:rPr lang="da-DK" sz="2000" b="1" dirty="0"/>
              <a:t>Open Source </a:t>
            </a:r>
            <a:r>
              <a:rPr lang="da-DK" sz="2000" b="1" dirty="0" err="1"/>
              <a:t>Strategy</a:t>
            </a:r>
            <a:r>
              <a:rPr lang="da-DK" sz="2000" b="1" dirty="0"/>
              <a:t> er en strategi/meddelelse, ikke et direktiv, der generelt pålægger virksomheder eller offentlige myndigheder at vælge open source.</a:t>
            </a:r>
          </a:p>
          <a:p>
            <a:r>
              <a:rPr lang="da-DK" sz="2000" dirty="0"/>
              <a:t> I samme 2026-pakke ligger egentlige lovforslag som </a:t>
            </a:r>
            <a:r>
              <a:rPr lang="da-DK" sz="2000" b="1" dirty="0"/>
              <a:t>Cloud and AI Development </a:t>
            </a:r>
            <a:r>
              <a:rPr lang="da-DK" sz="2000" b="1" dirty="0" err="1"/>
              <a:t>Act</a:t>
            </a:r>
            <a:r>
              <a:rPr lang="da-DK" sz="2000" dirty="0"/>
              <a:t> (EU vil have mere cloud- og AI-computerkapacitet placeret og kontrolleret i Europa.)</a:t>
            </a:r>
          </a:p>
          <a:p>
            <a:r>
              <a:rPr lang="da-DK" sz="2000" dirty="0"/>
              <a:t>og </a:t>
            </a:r>
            <a:r>
              <a:rPr lang="da-DK" sz="2000" b="1" dirty="0"/>
              <a:t>Chips </a:t>
            </a:r>
            <a:r>
              <a:rPr lang="da-DK" sz="2000" b="1" dirty="0" err="1"/>
              <a:t>Act</a:t>
            </a:r>
            <a:r>
              <a:rPr lang="da-DK" sz="2000" b="1" dirty="0"/>
              <a:t> 2.0(</a:t>
            </a:r>
            <a:r>
              <a:rPr lang="da-DK" sz="2000" dirty="0"/>
              <a:t>styrke både europæisk chipdesign og chipproduktion) , mens open-source-delen er strategisk.</a:t>
            </a:r>
            <a:br>
              <a:rPr lang="da-DK" sz="2000" dirty="0"/>
            </a:br>
            <a:br>
              <a:rPr lang="da-DK" sz="2000" dirty="0"/>
            </a:br>
            <a:r>
              <a:rPr lang="da-DK" sz="2000" dirty="0"/>
              <a:t>I fremtiden er det </a:t>
            </a:r>
            <a:r>
              <a:rPr lang="da-DK" sz="2000" dirty="0" err="1"/>
              <a:t>defor</a:t>
            </a:r>
            <a:r>
              <a:rPr lang="da-DK" sz="2000" dirty="0"/>
              <a:t> muligt at vi kommer til at se mere diversitet i vores IT landskab. Både på hardware og software, vi skal derfor være </a:t>
            </a:r>
            <a:r>
              <a:rPr lang="da-DK" sz="2000" dirty="0" err="1"/>
              <a:t>istand</a:t>
            </a:r>
            <a:r>
              <a:rPr lang="da-DK" sz="2000" dirty="0"/>
              <a:t>  til at tilpasse og nye situationer. </a:t>
            </a:r>
          </a:p>
        </p:txBody>
      </p:sp>
    </p:spTree>
    <p:extLst>
      <p:ext uri="{BB962C8B-B14F-4D97-AF65-F5344CB8AC3E}">
        <p14:creationId xmlns:p14="http://schemas.microsoft.com/office/powerpoint/2010/main" val="689384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F5B3A8-AA9A-BC85-AF35-972D0B53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Python &amp; Linux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423A803-D7CB-0999-F1B8-0ACEF9F34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a-DK" sz="2400" dirty="0"/>
              <a:t>Python og Linux er valgt som platform til serverside-programmering, fordi kombinationen gør det muligt at fokusere på de grundlæggende serverbegreber uden unødvendig kompleksitet, i modsætning til C-C++ med en stejl indlæringskurve.</a:t>
            </a:r>
          </a:p>
          <a:p>
            <a:r>
              <a:rPr lang="da-DK" sz="2400" dirty="0"/>
              <a:t>Python har en relativt enkel syntaks og gør det hurtigt at udvikle en fungerende webservice med for eksempel Flask.( I </a:t>
            </a:r>
            <a:r>
              <a:rPr lang="da-DK" sz="2400" dirty="0" err="1"/>
              <a:t>python</a:t>
            </a:r>
            <a:r>
              <a:rPr lang="da-DK" sz="2400" dirty="0"/>
              <a:t> er der et </a:t>
            </a:r>
            <a:r>
              <a:rPr lang="da-DK" sz="2400" dirty="0" err="1"/>
              <a:t>library</a:t>
            </a:r>
            <a:r>
              <a:rPr lang="da-DK" sz="2400" dirty="0"/>
              <a:t> til næsten alt- hvilket giver hurtigere udvikling)Vi kan derfor koncentrere os om HTTP, routing, </a:t>
            </a:r>
            <a:r>
              <a:rPr lang="da-DK" sz="2400" dirty="0" err="1"/>
              <a:t>API'er</a:t>
            </a:r>
            <a:r>
              <a:rPr lang="da-DK" sz="2400" dirty="0"/>
              <a:t>, databaser, services, </a:t>
            </a:r>
            <a:r>
              <a:rPr lang="da-DK" sz="2400" dirty="0" err="1"/>
              <a:t>concurrency</a:t>
            </a:r>
            <a:r>
              <a:rPr lang="da-DK" sz="2400" dirty="0"/>
              <a:t>, sikkerhed og </a:t>
            </a:r>
            <a:r>
              <a:rPr lang="da-DK" sz="2400" dirty="0" err="1"/>
              <a:t>deployment</a:t>
            </a:r>
            <a:r>
              <a:rPr lang="da-DK" sz="2400" dirty="0"/>
              <a:t> frem for sprogets syntaks.</a:t>
            </a:r>
          </a:p>
          <a:p>
            <a:r>
              <a:rPr lang="da-DK" sz="2400" dirty="0"/>
              <a:t>Linux er en naturlig serverplatform og bruges bredt i cloud-, container- og webmiljøer. Det gør det samtidig muligt at arbejde direkte med processer, </a:t>
            </a:r>
            <a:r>
              <a:rPr lang="da-DK" sz="2400" dirty="0" err="1"/>
              <a:t>threads</a:t>
            </a:r>
            <a:r>
              <a:rPr lang="da-DK" sz="2400" dirty="0"/>
              <a:t>, </a:t>
            </a:r>
            <a:r>
              <a:rPr lang="da-DK" sz="2400" dirty="0" err="1"/>
              <a:t>sockets</a:t>
            </a:r>
            <a:r>
              <a:rPr lang="da-DK" sz="2400" dirty="0"/>
              <a:t>, fork, signals og IPC. Windows er ikke længere størst på server området.</a:t>
            </a:r>
          </a:p>
          <a:p>
            <a:r>
              <a:rPr lang="da-DK" sz="2400" dirty="0"/>
              <a:t>Python og Linux fungerer godt sammen med Flask, </a:t>
            </a:r>
            <a:r>
              <a:rPr lang="da-DK" sz="2400" dirty="0" err="1"/>
              <a:t>Gunicorn</a:t>
            </a:r>
            <a:r>
              <a:rPr lang="da-DK" sz="2400" dirty="0"/>
              <a:t>, Docker og </a:t>
            </a:r>
            <a:r>
              <a:rPr lang="da-DK" sz="2400" dirty="0" err="1"/>
              <a:t>Kubernetes</a:t>
            </a:r>
            <a:r>
              <a:rPr lang="da-DK" sz="2400" dirty="0"/>
              <a:t> og kan anvendes på både x86-64 og ARM64. Begge teknologier er open source og reducerer afhængigheden af bestemte leverandører og licensmodeller.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07216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BA4AEF-C5D3-64C9-3F1A-049F151E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Tråde</a:t>
            </a:r>
          </a:p>
        </p:txBody>
      </p:sp>
      <p:grpSp>
        <p:nvGrpSpPr>
          <p:cNvPr id="22" name="Gruppe 21">
            <a:extLst>
              <a:ext uri="{FF2B5EF4-FFF2-40B4-BE49-F238E27FC236}">
                <a16:creationId xmlns:a16="http://schemas.microsoft.com/office/drawing/2014/main" id="{0323826D-03CA-2235-BBC5-D3ED41BBE3C9}"/>
              </a:ext>
            </a:extLst>
          </p:cNvPr>
          <p:cNvGrpSpPr/>
          <p:nvPr/>
        </p:nvGrpSpPr>
        <p:grpSpPr>
          <a:xfrm>
            <a:off x="8365066" y="808567"/>
            <a:ext cx="3513667" cy="2319866"/>
            <a:chOff x="8187266" y="833967"/>
            <a:chExt cx="3513667" cy="2319866"/>
          </a:xfrm>
        </p:grpSpPr>
        <p:sp>
          <p:nvSpPr>
            <p:cNvPr id="19" name="Rektangel 18">
              <a:extLst>
                <a:ext uri="{FF2B5EF4-FFF2-40B4-BE49-F238E27FC236}">
                  <a16:creationId xmlns:a16="http://schemas.microsoft.com/office/drawing/2014/main" id="{55221B4E-0963-B852-080E-C3D5B76203AB}"/>
                </a:ext>
              </a:extLst>
            </p:cNvPr>
            <p:cNvSpPr/>
            <p:nvPr/>
          </p:nvSpPr>
          <p:spPr>
            <a:xfrm>
              <a:off x="8187266" y="833967"/>
              <a:ext cx="3513667" cy="23198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" name="Rektangel 3">
              <a:extLst>
                <a:ext uri="{FF2B5EF4-FFF2-40B4-BE49-F238E27FC236}">
                  <a16:creationId xmlns:a16="http://schemas.microsoft.com/office/drawing/2014/main" id="{FB2DBB12-5C02-7D94-18F2-54D8C2186E3A}"/>
                </a:ext>
              </a:extLst>
            </p:cNvPr>
            <p:cNvSpPr/>
            <p:nvPr/>
          </p:nvSpPr>
          <p:spPr>
            <a:xfrm>
              <a:off x="8280399" y="971549"/>
              <a:ext cx="1837267" cy="4392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Program(PID)</a:t>
              </a:r>
            </a:p>
          </p:txBody>
        </p:sp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A1582FA4-AF4C-51B4-3A50-04FE6795CED9}"/>
                </a:ext>
              </a:extLst>
            </p:cNvPr>
            <p:cNvSpPr/>
            <p:nvPr/>
          </p:nvSpPr>
          <p:spPr>
            <a:xfrm>
              <a:off x="9753599" y="1547282"/>
              <a:ext cx="1837267" cy="4392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Thread A</a:t>
              </a:r>
            </a:p>
          </p:txBody>
        </p:sp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57B749F4-6CDD-CB6F-4FFB-933908BCC870}"/>
                </a:ext>
              </a:extLst>
            </p:cNvPr>
            <p:cNvSpPr/>
            <p:nvPr/>
          </p:nvSpPr>
          <p:spPr>
            <a:xfrm>
              <a:off x="9753599" y="2077507"/>
              <a:ext cx="1837267" cy="4392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Thread B</a:t>
              </a:r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1CC9B9E2-26EB-BD4F-47FC-0BF016178A4B}"/>
                </a:ext>
              </a:extLst>
            </p:cNvPr>
            <p:cNvSpPr/>
            <p:nvPr/>
          </p:nvSpPr>
          <p:spPr>
            <a:xfrm>
              <a:off x="9753599" y="2607732"/>
              <a:ext cx="1837267" cy="4392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Thread C</a:t>
              </a:r>
            </a:p>
          </p:txBody>
        </p:sp>
        <p:cxnSp>
          <p:nvCxnSpPr>
            <p:cNvPr id="12" name="Forbindelse: vinklet 11">
              <a:extLst>
                <a:ext uri="{FF2B5EF4-FFF2-40B4-BE49-F238E27FC236}">
                  <a16:creationId xmlns:a16="http://schemas.microsoft.com/office/drawing/2014/main" id="{ABC6487D-6C3E-E677-D638-B0E2F26BF8A8}"/>
                </a:ext>
              </a:extLst>
            </p:cNvPr>
            <p:cNvCxnSpPr>
              <a:stCxn id="4" idx="2"/>
              <a:endCxn id="6" idx="1"/>
            </p:cNvCxnSpPr>
            <p:nvPr/>
          </p:nvCxnSpPr>
          <p:spPr>
            <a:xfrm rot="16200000" flipH="1">
              <a:off x="9298252" y="1311539"/>
              <a:ext cx="356129" cy="554566"/>
            </a:xfrm>
            <a:prstGeom prst="bentConnector2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Forbindelse: vinklet 12">
              <a:extLst>
                <a:ext uri="{FF2B5EF4-FFF2-40B4-BE49-F238E27FC236}">
                  <a16:creationId xmlns:a16="http://schemas.microsoft.com/office/drawing/2014/main" id="{079FB2D1-4007-8CB4-13A5-A7E86CED13EE}"/>
                </a:ext>
              </a:extLst>
            </p:cNvPr>
            <p:cNvCxnSpPr>
              <a:cxnSpLocks/>
              <a:stCxn id="4" idx="2"/>
              <a:endCxn id="8" idx="1"/>
            </p:cNvCxnSpPr>
            <p:nvPr/>
          </p:nvCxnSpPr>
          <p:spPr>
            <a:xfrm rot="16200000" flipH="1">
              <a:off x="9033139" y="1576652"/>
              <a:ext cx="886354" cy="554566"/>
            </a:xfrm>
            <a:prstGeom prst="bentConnector2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Forbindelse: vinklet 15">
              <a:extLst>
                <a:ext uri="{FF2B5EF4-FFF2-40B4-BE49-F238E27FC236}">
                  <a16:creationId xmlns:a16="http://schemas.microsoft.com/office/drawing/2014/main" id="{C54E833F-83DD-FC4D-9D23-78B7E9DAB8E4}"/>
                </a:ext>
              </a:extLst>
            </p:cNvPr>
            <p:cNvCxnSpPr>
              <a:cxnSpLocks/>
              <a:stCxn id="4" idx="2"/>
              <a:endCxn id="10" idx="1"/>
            </p:cNvCxnSpPr>
            <p:nvPr/>
          </p:nvCxnSpPr>
          <p:spPr>
            <a:xfrm rot="16200000" flipH="1">
              <a:off x="8768027" y="1841764"/>
              <a:ext cx="1416579" cy="554566"/>
            </a:xfrm>
            <a:prstGeom prst="bentConnector2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kstfelt 20">
            <a:extLst>
              <a:ext uri="{FF2B5EF4-FFF2-40B4-BE49-F238E27FC236}">
                <a16:creationId xmlns:a16="http://schemas.microsoft.com/office/drawing/2014/main" id="{3D01FDC2-0F0D-DD97-9B57-C976F3CC39CF}"/>
              </a:ext>
            </a:extLst>
          </p:cNvPr>
          <p:cNvSpPr txBox="1"/>
          <p:nvPr/>
        </p:nvSpPr>
        <p:spPr>
          <a:xfrm>
            <a:off x="948267" y="1410757"/>
            <a:ext cx="71289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a-DK" dirty="0">
                <a:solidFill>
                  <a:schemeClr val="bg1"/>
                </a:solidFill>
              </a:rPr>
              <a:t>Når vi koder med tråde er det vigtigt at forstå at vi stadigvæk arbejder i den samme </a:t>
            </a:r>
            <a:r>
              <a:rPr lang="da-DK" dirty="0" err="1">
                <a:solidFill>
                  <a:schemeClr val="bg1"/>
                </a:solidFill>
              </a:rPr>
              <a:t>process</a:t>
            </a:r>
            <a:r>
              <a:rPr lang="da-DK" dirty="0">
                <a:solidFill>
                  <a:schemeClr val="bg1"/>
                </a:solidFill>
              </a:rPr>
              <a:t> – IE en global variabel kan vi ændre fra et hvilket som helst sted i koden.  (TIP: pas på med globale ændringer)</a:t>
            </a:r>
          </a:p>
          <a:p>
            <a:pPr marL="0" indent="0">
              <a:buNone/>
            </a:pPr>
            <a:r>
              <a:rPr lang="da-DK" dirty="0">
                <a:solidFill>
                  <a:schemeClr val="bg1"/>
                </a:solidFill>
              </a:rPr>
              <a:t>Fordi tråde deler programmets hukommelse(</a:t>
            </a:r>
            <a:r>
              <a:rPr lang="da-DK" dirty="0" err="1">
                <a:solidFill>
                  <a:schemeClr val="bg1"/>
                </a:solidFill>
              </a:rPr>
              <a:t>stack</a:t>
            </a:r>
            <a:r>
              <a:rPr lang="da-DK" dirty="0">
                <a:solidFill>
                  <a:schemeClr val="bg1"/>
                </a:solidFill>
              </a:rPr>
              <a:t>/</a:t>
            </a:r>
            <a:r>
              <a:rPr lang="da-DK" dirty="0" err="1">
                <a:solidFill>
                  <a:schemeClr val="bg1"/>
                </a:solidFill>
              </a:rPr>
              <a:t>heap</a:t>
            </a:r>
            <a:r>
              <a:rPr lang="da-DK" dirty="0">
                <a:solidFill>
                  <a:schemeClr val="bg1"/>
                </a:solidFill>
              </a:rPr>
              <a:t>), er det bare en opdeling af opgaven , man får ikke flere </a:t>
            </a:r>
            <a:r>
              <a:rPr lang="da-DK" dirty="0" err="1">
                <a:solidFill>
                  <a:schemeClr val="bg1"/>
                </a:solidFill>
              </a:rPr>
              <a:t>resourcer</a:t>
            </a:r>
            <a:r>
              <a:rPr lang="da-DK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da-DK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dirty="0">
                <a:solidFill>
                  <a:schemeClr val="bg1"/>
                </a:solidFill>
              </a:rPr>
              <a:t>Hvad kan vi bruge opdelingen til ?</a:t>
            </a:r>
          </a:p>
          <a:p>
            <a:pPr marL="0" indent="0">
              <a:buNone/>
            </a:pPr>
            <a:br>
              <a:rPr lang="da-DK" dirty="0">
                <a:solidFill>
                  <a:schemeClr val="bg1"/>
                </a:solidFill>
              </a:rPr>
            </a:br>
            <a:r>
              <a:rPr lang="da-DK" dirty="0">
                <a:solidFill>
                  <a:schemeClr val="bg1"/>
                </a:solidFill>
              </a:rPr>
              <a:t>Hvis vi vil have et stykke kode til at køre i baggrunden </a:t>
            </a:r>
          </a:p>
          <a:p>
            <a:pPr marL="0" indent="0">
              <a:buNone/>
            </a:pPr>
            <a:r>
              <a:rPr lang="da-DK" dirty="0">
                <a:solidFill>
                  <a:schemeClr val="bg1"/>
                </a:solidFill>
              </a:rPr>
              <a:t>Når vi laver spil</a:t>
            </a:r>
          </a:p>
          <a:p>
            <a:pPr marL="0" indent="0">
              <a:buNone/>
            </a:pPr>
            <a:r>
              <a:rPr lang="da-DK" dirty="0">
                <a:solidFill>
                  <a:schemeClr val="bg1"/>
                </a:solidFill>
              </a:rPr>
              <a:t>Når vi håndterer den samme opgave igen(</a:t>
            </a:r>
            <a:r>
              <a:rPr lang="da-DK" dirty="0" err="1">
                <a:solidFill>
                  <a:schemeClr val="bg1"/>
                </a:solidFill>
              </a:rPr>
              <a:t>webserver</a:t>
            </a:r>
            <a:r>
              <a:rPr lang="da-DK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da-DK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a-DK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a-D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075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90DFA9-1ECE-0131-2BDA-E912986DB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Python tråde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A22B09AD-781B-B3C8-C578-85AEA3C39AAD}"/>
              </a:ext>
            </a:extLst>
          </p:cNvPr>
          <p:cNvSpPr txBox="1"/>
          <p:nvPr/>
        </p:nvSpPr>
        <p:spPr>
          <a:xfrm>
            <a:off x="5542235" y="518984"/>
            <a:ext cx="6096000" cy="6215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numCol="2" spcCol="36000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threading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time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Denne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funktion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skal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køres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separat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thread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 worker():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for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range(5):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print("Worker thread:",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</a:t>
            </a:r>
            <a:r>
              <a:rPr lang="da-DK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Threaden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venter i 1 sekund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da-DK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time.sleep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(1)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Opret en ny </a:t>
            </a:r>
            <a:r>
              <a:rPr lang="da-DK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</a:t>
            </a:r>
            <a:r>
              <a:rPr lang="da-DK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target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angiver hvilken funktion </a:t>
            </a:r>
            <a:r>
              <a:rPr lang="da-DK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threaden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skal udføre.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 =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threading.Thread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(target=worker)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Start den nye </a:t>
            </a:r>
            <a:r>
              <a:rPr lang="da-DK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</a:t>
            </a:r>
            <a:r>
              <a:rPr lang="da-DK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worker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begynder nu at køre.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thread.start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Main thread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fortsætter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samtidig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med worker-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threaden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range(5):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print("Main thread:  ",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Main </a:t>
            </a:r>
            <a:r>
              <a:rPr lang="da-DK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venter også i 1 sekund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time.sleep</a:t>
            </a: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(1)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Main thread venter her,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indtil </a:t>
            </a:r>
            <a:r>
              <a:rPr lang="da-DK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worker-threaden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færdig.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thread.join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print("Begge </a:t>
            </a:r>
            <a:r>
              <a:rPr lang="da-DK" sz="1400" dirty="0" err="1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threads</a:t>
            </a:r>
            <a:r>
              <a:rPr lang="da-DK" sz="1400" dirty="0">
                <a:solidFill>
                  <a:schemeClr val="accent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færdige")</a:t>
            </a:r>
            <a:endParaRPr lang="da-DK" sz="14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Lige forbindelse 14">
            <a:extLst>
              <a:ext uri="{FF2B5EF4-FFF2-40B4-BE49-F238E27FC236}">
                <a16:creationId xmlns:a16="http://schemas.microsoft.com/office/drawing/2014/main" id="{C149F4C0-E633-70CD-02DE-18B88B44B3C8}"/>
              </a:ext>
            </a:extLst>
          </p:cNvPr>
          <p:cNvCxnSpPr>
            <a:cxnSpLocks/>
          </p:cNvCxnSpPr>
          <p:nvPr/>
        </p:nvCxnSpPr>
        <p:spPr>
          <a:xfrm>
            <a:off x="8503738" y="518984"/>
            <a:ext cx="0" cy="62154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kstfelt 16">
            <a:extLst>
              <a:ext uri="{FF2B5EF4-FFF2-40B4-BE49-F238E27FC236}">
                <a16:creationId xmlns:a16="http://schemas.microsoft.com/office/drawing/2014/main" id="{C76C0509-FCFC-320A-0827-43F6FF831DDB}"/>
              </a:ext>
            </a:extLst>
          </p:cNvPr>
          <p:cNvSpPr txBox="1"/>
          <p:nvPr/>
        </p:nvSpPr>
        <p:spPr>
          <a:xfrm>
            <a:off x="1075038" y="1964724"/>
            <a:ext cx="32745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I Python bruger vi import </a:t>
            </a:r>
            <a:r>
              <a:rPr lang="da-DK" dirty="0" err="1">
                <a:solidFill>
                  <a:schemeClr val="bg1"/>
                </a:solidFill>
              </a:rPr>
              <a:t>threading</a:t>
            </a:r>
            <a:r>
              <a:rPr lang="da-DK" dirty="0">
                <a:solidFill>
                  <a:schemeClr val="bg1"/>
                </a:solidFill>
              </a:rPr>
              <a:t> lave tråde med og time til at lave </a:t>
            </a:r>
            <a:r>
              <a:rPr lang="da-DK" dirty="0" err="1">
                <a:solidFill>
                  <a:schemeClr val="bg1"/>
                </a:solidFill>
              </a:rPr>
              <a:t>delays</a:t>
            </a:r>
            <a:r>
              <a:rPr lang="da-DK" dirty="0">
                <a:solidFill>
                  <a:schemeClr val="bg1"/>
                </a:solidFill>
              </a:rPr>
              <a:t> .</a:t>
            </a:r>
          </a:p>
          <a:p>
            <a:r>
              <a:rPr lang="da-DK" dirty="0" err="1">
                <a:solidFill>
                  <a:schemeClr val="bg1"/>
                </a:solidFill>
              </a:rPr>
              <a:t>Eksemeplet</a:t>
            </a:r>
            <a:r>
              <a:rPr lang="da-DK" dirty="0">
                <a:solidFill>
                  <a:schemeClr val="bg1"/>
                </a:solidFill>
              </a:rPr>
              <a:t> ved siden af kan køres og viser hvordan tråde i </a:t>
            </a:r>
            <a:r>
              <a:rPr lang="da-DK" dirty="0" err="1">
                <a:solidFill>
                  <a:schemeClr val="bg1"/>
                </a:solidFill>
              </a:rPr>
              <a:t>python</a:t>
            </a:r>
            <a:r>
              <a:rPr lang="da-DK" dirty="0">
                <a:solidFill>
                  <a:schemeClr val="bg1"/>
                </a:solidFill>
              </a:rPr>
              <a:t> interager</a:t>
            </a:r>
          </a:p>
          <a:p>
            <a:endParaRPr lang="da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bg1"/>
                </a:solidFill>
              </a:rPr>
              <a:t>Obs : def </a:t>
            </a:r>
            <a:r>
              <a:rPr lang="da-DK" dirty="0" err="1">
                <a:solidFill>
                  <a:schemeClr val="bg1"/>
                </a:solidFill>
              </a:rPr>
              <a:t>myfunction</a:t>
            </a:r>
            <a:r>
              <a:rPr lang="da-DK" dirty="0">
                <a:solidFill>
                  <a:schemeClr val="bg1"/>
                </a:solidFill>
              </a:rPr>
              <a:t>():  er signaturen for en funktion i </a:t>
            </a:r>
            <a:r>
              <a:rPr lang="da-DK" dirty="0" err="1">
                <a:solidFill>
                  <a:schemeClr val="bg1"/>
                </a:solidFill>
              </a:rPr>
              <a:t>python</a:t>
            </a:r>
            <a:r>
              <a:rPr lang="da-DK" dirty="0">
                <a:solidFill>
                  <a:schemeClr val="bg1"/>
                </a:solidFill>
              </a:rPr>
              <a:t>. Man kan udvide med def </a:t>
            </a:r>
            <a:r>
              <a:rPr lang="da-DK" dirty="0" err="1">
                <a:solidFill>
                  <a:schemeClr val="bg1"/>
                </a:solidFill>
              </a:rPr>
              <a:t>myfunction</a:t>
            </a:r>
            <a:r>
              <a:rPr lang="da-DK" dirty="0">
                <a:solidFill>
                  <a:schemeClr val="bg1"/>
                </a:solidFill>
              </a:rPr>
              <a:t>(variable): </a:t>
            </a:r>
            <a:br>
              <a:rPr lang="da-DK" dirty="0">
                <a:solidFill>
                  <a:schemeClr val="bg1"/>
                </a:solidFill>
              </a:rPr>
            </a:br>
            <a:r>
              <a:rPr lang="da-DK" dirty="0">
                <a:solidFill>
                  <a:schemeClr val="bg1"/>
                </a:solidFill>
              </a:rPr>
              <a:t>Den variabel som vi laver ligge så i funktionens </a:t>
            </a:r>
            <a:r>
              <a:rPr lang="da-DK" dirty="0" err="1">
                <a:solidFill>
                  <a:schemeClr val="bg1"/>
                </a:solidFill>
              </a:rPr>
              <a:t>scope</a:t>
            </a:r>
            <a:r>
              <a:rPr lang="da-DK" dirty="0">
                <a:solidFill>
                  <a:schemeClr val="bg1"/>
                </a:solidFill>
              </a:rPr>
              <a:t> og bliver ikke ændre udefra. </a:t>
            </a:r>
          </a:p>
        </p:txBody>
      </p:sp>
    </p:spTree>
    <p:extLst>
      <p:ext uri="{BB962C8B-B14F-4D97-AF65-F5344CB8AC3E}">
        <p14:creationId xmlns:p14="http://schemas.microsoft.com/office/powerpoint/2010/main" val="143830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EACB70-3100-4E0B-1884-1301339F4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Processer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4DE0703-5A86-D3F0-13D4-7A6F9FA93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0686" cy="4351338"/>
          </a:xfrm>
        </p:spPr>
        <p:txBody>
          <a:bodyPr/>
          <a:lstStyle/>
          <a:p>
            <a:r>
              <a:rPr lang="da-DK" sz="1800" dirty="0"/>
              <a:t>Når vi arbejder med processer  og bruger fork – så laver vi et kopi af den kørende kode, med alle variable.  </a:t>
            </a:r>
            <a:r>
              <a:rPr lang="da-DK" sz="1800" dirty="0" err="1"/>
              <a:t>Parent</a:t>
            </a:r>
            <a:r>
              <a:rPr lang="da-DK" sz="1800" dirty="0"/>
              <a:t> (som vi forker fra ) får ID på den nye </a:t>
            </a:r>
            <a:r>
              <a:rPr lang="da-DK" sz="1800" dirty="0" err="1"/>
              <a:t>process</a:t>
            </a:r>
            <a:r>
              <a:rPr lang="da-DK" sz="1800" dirty="0"/>
              <a:t> som svar, og Child får en returkode 0 som indikation på at operationen gik godt</a:t>
            </a:r>
          </a:p>
          <a:p>
            <a:endParaRPr lang="da-DK" sz="1800" dirty="0"/>
          </a:p>
          <a:p>
            <a:r>
              <a:rPr lang="da-DK" sz="1800" dirty="0"/>
              <a:t>Programmet ved siden af viser i al sin enkelhed hvordan man kan lave en selvstændig </a:t>
            </a:r>
            <a:r>
              <a:rPr lang="da-DK" sz="1800" dirty="0" err="1"/>
              <a:t>process</a:t>
            </a:r>
            <a:r>
              <a:rPr lang="da-DK" sz="1800" dirty="0"/>
              <a:t> i </a:t>
            </a:r>
            <a:r>
              <a:rPr lang="da-DK" sz="1800" dirty="0" err="1"/>
              <a:t>python</a:t>
            </a:r>
            <a:r>
              <a:rPr lang="da-DK" sz="1800" dirty="0"/>
              <a:t>, man kan også kommunikere med processer på forskellige måder . </a:t>
            </a:r>
          </a:p>
          <a:p>
            <a:endParaRPr lang="da-DK" sz="1800" dirty="0"/>
          </a:p>
          <a:p>
            <a:r>
              <a:rPr lang="da-DK" sz="1800" dirty="0"/>
              <a:t>Dræb en </a:t>
            </a:r>
            <a:r>
              <a:rPr lang="da-DK" sz="1800" dirty="0" err="1"/>
              <a:t>process</a:t>
            </a:r>
            <a:r>
              <a:rPr lang="da-DK" sz="1800" dirty="0"/>
              <a:t> med  : </a:t>
            </a:r>
            <a:r>
              <a:rPr lang="da-DK" sz="1800" dirty="0" err="1"/>
              <a:t>kill</a:t>
            </a:r>
            <a:r>
              <a:rPr lang="da-DK" sz="1800" dirty="0"/>
              <a:t> </a:t>
            </a:r>
            <a:r>
              <a:rPr lang="da-DK" sz="1800" dirty="0" err="1"/>
              <a:t>pid</a:t>
            </a:r>
            <a:br>
              <a:rPr lang="da-DK" sz="1800" dirty="0"/>
            </a:br>
            <a:br>
              <a:rPr lang="da-DK" sz="1800" dirty="0"/>
            </a:br>
            <a:endParaRPr lang="da-DK" dirty="0"/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008C62A7-8225-3693-772F-4C372681B7CF}"/>
              </a:ext>
            </a:extLst>
          </p:cNvPr>
          <p:cNvGrpSpPr/>
          <p:nvPr/>
        </p:nvGrpSpPr>
        <p:grpSpPr>
          <a:xfrm>
            <a:off x="7051587" y="315365"/>
            <a:ext cx="3513667" cy="2319866"/>
            <a:chOff x="8187266" y="833967"/>
            <a:chExt cx="3513667" cy="2319866"/>
          </a:xfrm>
        </p:grpSpPr>
        <p:sp>
          <p:nvSpPr>
            <p:cNvPr id="5" name="Rektangel 4">
              <a:extLst>
                <a:ext uri="{FF2B5EF4-FFF2-40B4-BE49-F238E27FC236}">
                  <a16:creationId xmlns:a16="http://schemas.microsoft.com/office/drawing/2014/main" id="{31D83EAA-4FC3-F4A0-1DC8-82E72424250D}"/>
                </a:ext>
              </a:extLst>
            </p:cNvPr>
            <p:cNvSpPr/>
            <p:nvPr/>
          </p:nvSpPr>
          <p:spPr>
            <a:xfrm>
              <a:off x="8187266" y="833967"/>
              <a:ext cx="3513667" cy="23198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32B77721-C2BD-8C78-FDD0-263F5E61444E}"/>
                </a:ext>
              </a:extLst>
            </p:cNvPr>
            <p:cNvSpPr/>
            <p:nvPr/>
          </p:nvSpPr>
          <p:spPr>
            <a:xfrm>
              <a:off x="8280399" y="971549"/>
              <a:ext cx="1837267" cy="4392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Program(PID)</a:t>
              </a:r>
            </a:p>
          </p:txBody>
        </p:sp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6E7BC181-4F68-8BF1-5A79-CC06E218ACC2}"/>
                </a:ext>
              </a:extLst>
            </p:cNvPr>
            <p:cNvSpPr/>
            <p:nvPr/>
          </p:nvSpPr>
          <p:spPr>
            <a:xfrm>
              <a:off x="9587583" y="1509712"/>
              <a:ext cx="1837267" cy="4392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Thread (PID)</a:t>
              </a:r>
            </a:p>
          </p:txBody>
        </p:sp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128C4F2C-15F8-7DD9-1D6D-90A349683D1A}"/>
                </a:ext>
              </a:extLst>
            </p:cNvPr>
            <p:cNvSpPr/>
            <p:nvPr/>
          </p:nvSpPr>
          <p:spPr>
            <a:xfrm>
              <a:off x="8668949" y="2047875"/>
              <a:ext cx="1837267" cy="4392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Thread (PID)</a:t>
              </a:r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9D9C55E2-D398-21C4-DD88-FD32ECA2BDAD}"/>
                </a:ext>
              </a:extLst>
            </p:cNvPr>
            <p:cNvSpPr/>
            <p:nvPr/>
          </p:nvSpPr>
          <p:spPr>
            <a:xfrm>
              <a:off x="9333469" y="2600854"/>
              <a:ext cx="1837267" cy="4392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Thread (PID)</a:t>
              </a:r>
            </a:p>
          </p:txBody>
        </p:sp>
      </p:grpSp>
      <p:sp>
        <p:nvSpPr>
          <p:cNvPr id="14" name="Tekstfelt 13">
            <a:extLst>
              <a:ext uri="{FF2B5EF4-FFF2-40B4-BE49-F238E27FC236}">
                <a16:creationId xmlns:a16="http://schemas.microsoft.com/office/drawing/2014/main" id="{398F6002-5445-98C8-18A3-F857A3A137C7}"/>
              </a:ext>
            </a:extLst>
          </p:cNvPr>
          <p:cNvSpPr txBox="1"/>
          <p:nvPr/>
        </p:nvSpPr>
        <p:spPr>
          <a:xfrm>
            <a:off x="6442214" y="3126315"/>
            <a:ext cx="5424390" cy="3416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da-DK" dirty="0">
                <a:solidFill>
                  <a:schemeClr val="accent6"/>
                </a:solidFill>
              </a:rPr>
              <a:t>import os</a:t>
            </a:r>
          </a:p>
          <a:p>
            <a:endParaRPr lang="da-DK" dirty="0">
              <a:solidFill>
                <a:schemeClr val="accent6"/>
              </a:solidFill>
            </a:endParaRPr>
          </a:p>
          <a:p>
            <a:r>
              <a:rPr lang="da-DK" dirty="0">
                <a:solidFill>
                  <a:schemeClr val="accent6"/>
                </a:solidFill>
              </a:rPr>
              <a:t>print("Program starter")</a:t>
            </a:r>
          </a:p>
          <a:p>
            <a:endParaRPr lang="da-DK" dirty="0">
              <a:solidFill>
                <a:schemeClr val="accent6"/>
              </a:solidFill>
            </a:endParaRPr>
          </a:p>
          <a:p>
            <a:r>
              <a:rPr lang="da-DK" dirty="0" err="1">
                <a:solidFill>
                  <a:schemeClr val="accent6"/>
                </a:solidFill>
              </a:rPr>
              <a:t>pid</a:t>
            </a:r>
            <a:r>
              <a:rPr lang="da-DK" dirty="0">
                <a:solidFill>
                  <a:schemeClr val="accent6"/>
                </a:solidFill>
              </a:rPr>
              <a:t> = </a:t>
            </a:r>
            <a:r>
              <a:rPr lang="da-DK" dirty="0" err="1">
                <a:solidFill>
                  <a:schemeClr val="accent6"/>
                </a:solidFill>
              </a:rPr>
              <a:t>os.fork</a:t>
            </a:r>
            <a:r>
              <a:rPr lang="da-DK" dirty="0">
                <a:solidFill>
                  <a:schemeClr val="accent6"/>
                </a:solidFill>
              </a:rPr>
              <a:t>()</a:t>
            </a:r>
          </a:p>
          <a:p>
            <a:endParaRPr lang="da-DK" dirty="0">
              <a:solidFill>
                <a:schemeClr val="accent6"/>
              </a:solidFill>
            </a:endParaRPr>
          </a:p>
          <a:p>
            <a:r>
              <a:rPr lang="da-DK" dirty="0" err="1">
                <a:solidFill>
                  <a:schemeClr val="accent6"/>
                </a:solidFill>
              </a:rPr>
              <a:t>if</a:t>
            </a:r>
            <a:r>
              <a:rPr lang="da-DK" dirty="0">
                <a:solidFill>
                  <a:schemeClr val="accent6"/>
                </a:solidFill>
              </a:rPr>
              <a:t> </a:t>
            </a:r>
            <a:r>
              <a:rPr lang="da-DK" dirty="0" err="1">
                <a:solidFill>
                  <a:schemeClr val="accent6"/>
                </a:solidFill>
              </a:rPr>
              <a:t>pid</a:t>
            </a:r>
            <a:r>
              <a:rPr lang="da-DK" dirty="0">
                <a:solidFill>
                  <a:schemeClr val="accent6"/>
                </a:solidFill>
              </a:rPr>
              <a:t> == 0:</a:t>
            </a:r>
          </a:p>
          <a:p>
            <a:r>
              <a:rPr lang="da-DK" dirty="0">
                <a:solidFill>
                  <a:schemeClr val="accent6"/>
                </a:solidFill>
              </a:rPr>
              <a:t>    print("Jeg er child-processen")</a:t>
            </a:r>
          </a:p>
          <a:p>
            <a:r>
              <a:rPr lang="da-DK" dirty="0" err="1">
                <a:solidFill>
                  <a:schemeClr val="accent6"/>
                </a:solidFill>
              </a:rPr>
              <a:t>else</a:t>
            </a:r>
            <a:r>
              <a:rPr lang="da-DK" dirty="0">
                <a:solidFill>
                  <a:schemeClr val="accent6"/>
                </a:solidFill>
              </a:rPr>
              <a:t>:</a:t>
            </a:r>
          </a:p>
          <a:p>
            <a:r>
              <a:rPr lang="da-DK" dirty="0">
                <a:solidFill>
                  <a:schemeClr val="accent6"/>
                </a:solidFill>
              </a:rPr>
              <a:t>    print("Jeg er </a:t>
            </a:r>
            <a:r>
              <a:rPr lang="da-DK" dirty="0" err="1">
                <a:solidFill>
                  <a:schemeClr val="accent6"/>
                </a:solidFill>
              </a:rPr>
              <a:t>parent</a:t>
            </a:r>
            <a:r>
              <a:rPr lang="da-DK" dirty="0">
                <a:solidFill>
                  <a:schemeClr val="accent6"/>
                </a:solidFill>
              </a:rPr>
              <a:t>-processen")</a:t>
            </a:r>
          </a:p>
          <a:p>
            <a:endParaRPr lang="da-DK" dirty="0">
              <a:solidFill>
                <a:schemeClr val="accent6"/>
              </a:solidFill>
            </a:endParaRPr>
          </a:p>
          <a:p>
            <a:r>
              <a:rPr lang="da-DK" dirty="0">
                <a:solidFill>
                  <a:schemeClr val="accent6"/>
                </a:solidFill>
              </a:rPr>
              <a:t>print("Denne linje køres af begge processer")</a:t>
            </a:r>
          </a:p>
        </p:txBody>
      </p:sp>
    </p:spTree>
    <p:extLst>
      <p:ext uri="{BB962C8B-B14F-4D97-AF65-F5344CB8AC3E}">
        <p14:creationId xmlns:p14="http://schemas.microsoft.com/office/powerpoint/2010/main" val="977926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CAE43-A592-105A-028F-A60541AE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Zombies!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9A66032-93FE-B4BB-1CD0-24BC3C3CF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Hvad sker der hvis vi har en </a:t>
            </a:r>
            <a:r>
              <a:rPr lang="da-DK" dirty="0" err="1"/>
              <a:t>Parent</a:t>
            </a:r>
            <a:r>
              <a:rPr lang="da-DK" dirty="0"/>
              <a:t> </a:t>
            </a:r>
            <a:r>
              <a:rPr lang="da-DK" dirty="0" err="1"/>
              <a:t>process</a:t>
            </a:r>
            <a:r>
              <a:rPr lang="da-DK" dirty="0"/>
              <a:t> der dør ?</a:t>
            </a:r>
          </a:p>
          <a:p>
            <a:r>
              <a:rPr lang="da-DK" dirty="0"/>
              <a:t>Hvad sker der hvis vores Child </a:t>
            </a:r>
            <a:r>
              <a:rPr lang="da-DK" dirty="0" err="1"/>
              <a:t>process</a:t>
            </a:r>
            <a:r>
              <a:rPr lang="da-DK" dirty="0"/>
              <a:t> ikke svarer?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sz="1800" dirty="0"/>
              <a:t>En zombie opstår, når en </a:t>
            </a:r>
            <a:r>
              <a:rPr lang="da-DK" sz="1800" dirty="0" err="1"/>
              <a:t>child-process</a:t>
            </a:r>
            <a:r>
              <a:rPr lang="da-DK" sz="1800" dirty="0"/>
              <a:t> er afsluttet, men </a:t>
            </a:r>
            <a:r>
              <a:rPr lang="da-DK" sz="1800" dirty="0" err="1"/>
              <a:t>parent</a:t>
            </a:r>
            <a:r>
              <a:rPr lang="da-DK" sz="1800" dirty="0"/>
              <a:t>-processen endnu ikke har hentet dens exit-status.</a:t>
            </a:r>
          </a:p>
          <a:p>
            <a:pPr marL="0" indent="0">
              <a:buNone/>
            </a:pPr>
            <a:r>
              <a:rPr lang="da-DK" sz="1800" dirty="0"/>
              <a:t>Hvis </a:t>
            </a:r>
            <a:r>
              <a:rPr lang="da-DK" sz="1800" dirty="0" err="1"/>
              <a:t>parent</a:t>
            </a:r>
            <a:r>
              <a:rPr lang="da-DK" sz="1800" dirty="0"/>
              <a:t>-processen selv dør, bliver </a:t>
            </a:r>
            <a:r>
              <a:rPr lang="da-DK" sz="1800" dirty="0" err="1"/>
              <a:t>child</a:t>
            </a:r>
            <a:r>
              <a:rPr lang="da-DK" sz="1800" dirty="0"/>
              <a:t> typisk overtaget af </a:t>
            </a:r>
            <a:r>
              <a:rPr lang="da-DK" sz="1800" b="1" dirty="0"/>
              <a:t>PID 1</a:t>
            </a:r>
            <a:r>
              <a:rPr lang="da-DK" sz="1800" dirty="0"/>
              <a:t>, altså </a:t>
            </a:r>
            <a:r>
              <a:rPr lang="da-DK" sz="1800" dirty="0" err="1"/>
              <a:t>systemd</a:t>
            </a:r>
            <a:r>
              <a:rPr lang="da-DK" sz="1800" dirty="0"/>
              <a:t>/</a:t>
            </a:r>
            <a:r>
              <a:rPr lang="da-DK" sz="1800" dirty="0" err="1"/>
              <a:t>init</a:t>
            </a:r>
            <a:r>
              <a:rPr lang="da-DK" sz="1800" dirty="0"/>
              <a:t>, som senere kan kalde </a:t>
            </a:r>
            <a:r>
              <a:rPr lang="da-DK" sz="1800" dirty="0" err="1"/>
              <a:t>wait</a:t>
            </a:r>
            <a:r>
              <a:rPr lang="da-DK" sz="1800" dirty="0"/>
              <a:t>()/</a:t>
            </a:r>
            <a:r>
              <a:rPr lang="da-DK" sz="1800" dirty="0" err="1"/>
              <a:t>waitid</a:t>
            </a:r>
            <a:r>
              <a:rPr lang="da-DK" sz="1800" dirty="0"/>
              <a:t>() og rydde processen op.</a:t>
            </a:r>
          </a:p>
        </p:txBody>
      </p:sp>
    </p:spTree>
    <p:extLst>
      <p:ext uri="{BB962C8B-B14F-4D97-AF65-F5344CB8AC3E}">
        <p14:creationId xmlns:p14="http://schemas.microsoft.com/office/powerpoint/2010/main" val="1835624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1CA43-7CA2-3520-F9FC-48857821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IPC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4F3CB14-9FD7-EE63-9CA6-B5C73330E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da-DK" b="1" dirty="0" err="1"/>
              <a:t>Pipes</a:t>
            </a:r>
            <a:r>
              <a:rPr lang="da-DK" dirty="0"/>
              <a:t> – simpel byte-stream mellem processer. Typisk </a:t>
            </a:r>
            <a:r>
              <a:rPr lang="da-DK" dirty="0" err="1"/>
              <a:t>parent</a:t>
            </a:r>
            <a:r>
              <a:rPr lang="da-DK" dirty="0"/>
              <a:t>/</a:t>
            </a:r>
            <a:r>
              <a:rPr lang="da-DK" dirty="0" err="1"/>
              <a:t>child</a:t>
            </a:r>
            <a:r>
              <a:rPr lang="da-DK" dirty="0"/>
              <a:t>. </a:t>
            </a:r>
          </a:p>
          <a:p>
            <a:pPr lvl="0"/>
            <a:r>
              <a:rPr lang="da-DK" b="1" dirty="0" err="1"/>
              <a:t>Named</a:t>
            </a:r>
            <a:r>
              <a:rPr lang="da-DK" b="1" dirty="0"/>
              <a:t> </a:t>
            </a:r>
            <a:r>
              <a:rPr lang="da-DK" b="1" dirty="0" err="1"/>
              <a:t>pipes</a:t>
            </a:r>
            <a:r>
              <a:rPr lang="da-DK" b="1" dirty="0"/>
              <a:t> / FIFO</a:t>
            </a:r>
            <a:r>
              <a:rPr lang="da-DK" dirty="0"/>
              <a:t> – som </a:t>
            </a:r>
            <a:r>
              <a:rPr lang="da-DK" dirty="0" err="1"/>
              <a:t>pipes</a:t>
            </a:r>
            <a:r>
              <a:rPr lang="da-DK" dirty="0"/>
              <a:t>, men med et navn i filsystemet, så ikke-relaterede processer kan kommunikere. </a:t>
            </a:r>
          </a:p>
          <a:p>
            <a:pPr lvl="0"/>
            <a:r>
              <a:rPr lang="da-DK" b="1" dirty="0">
                <a:solidFill>
                  <a:schemeClr val="accent6"/>
                </a:solidFill>
              </a:rPr>
              <a:t>Message Queues</a:t>
            </a:r>
            <a:r>
              <a:rPr lang="da-DK" dirty="0">
                <a:solidFill>
                  <a:schemeClr val="accent6"/>
                </a:solidFill>
              </a:rPr>
              <a:t> – processer sender diskrete beskeder til hinanden. Findes både som POSIX MQ og ældre System V MQ. </a:t>
            </a:r>
          </a:p>
          <a:p>
            <a:pPr lvl="0"/>
            <a:r>
              <a:rPr lang="da-DK" b="1" dirty="0"/>
              <a:t>Shared Memory</a:t>
            </a:r>
            <a:r>
              <a:rPr lang="da-DK" dirty="0"/>
              <a:t> – flere processer deler det samme memory-område. Meget hurtigt, men kræver synkronisering. </a:t>
            </a:r>
          </a:p>
          <a:p>
            <a:pPr lvl="0"/>
            <a:r>
              <a:rPr lang="da-DK" b="1" dirty="0" err="1"/>
              <a:t>Semaphores</a:t>
            </a:r>
            <a:r>
              <a:rPr lang="da-DK" dirty="0"/>
              <a:t> – bruges til synkronisering mellem processer, især sammen med </a:t>
            </a:r>
            <a:r>
              <a:rPr lang="da-DK" dirty="0" err="1"/>
              <a:t>shared</a:t>
            </a:r>
            <a:r>
              <a:rPr lang="da-DK" dirty="0"/>
              <a:t> </a:t>
            </a:r>
            <a:r>
              <a:rPr lang="da-DK" dirty="0" err="1"/>
              <a:t>memory</a:t>
            </a:r>
            <a:r>
              <a:rPr lang="da-DK" dirty="0"/>
              <a:t>. </a:t>
            </a:r>
          </a:p>
          <a:p>
            <a:pPr lvl="0"/>
            <a:r>
              <a:rPr lang="da-DK" b="1" dirty="0"/>
              <a:t>Signals</a:t>
            </a:r>
            <a:r>
              <a:rPr lang="da-DK" dirty="0"/>
              <a:t> – meget små kontrolbeskeder som SIGTERM, SIGKILL, SIGCHLD. Ikke egnet til egentlig datatransport. </a:t>
            </a:r>
          </a:p>
          <a:p>
            <a:pPr lvl="0"/>
            <a:r>
              <a:rPr lang="da-DK" b="1" dirty="0">
                <a:solidFill>
                  <a:schemeClr val="accent6"/>
                </a:solidFill>
              </a:rPr>
              <a:t>Sockets</a:t>
            </a:r>
            <a:r>
              <a:rPr lang="da-DK" dirty="0">
                <a:solidFill>
                  <a:schemeClr val="accent6"/>
                </a:solidFill>
              </a:rPr>
              <a:t> – kan bruges lokalt mellem processer via Unix Domain Sockets eller over netværk via TCP/UDP. </a:t>
            </a:r>
          </a:p>
          <a:p>
            <a:pPr lvl="0"/>
            <a:r>
              <a:rPr lang="da-DK" b="1" dirty="0"/>
              <a:t>Memory </a:t>
            </a:r>
            <a:r>
              <a:rPr lang="da-DK" b="1" dirty="0" err="1"/>
              <a:t>mapped</a:t>
            </a:r>
            <a:r>
              <a:rPr lang="da-DK" b="1" dirty="0"/>
              <a:t> files (</a:t>
            </a:r>
            <a:r>
              <a:rPr lang="da-DK" b="1" dirty="0" err="1"/>
              <a:t>mmap</a:t>
            </a:r>
            <a:r>
              <a:rPr lang="da-DK" b="1" dirty="0"/>
              <a:t>)</a:t>
            </a:r>
            <a:r>
              <a:rPr lang="da-DK" dirty="0"/>
              <a:t> – en fil eller et memory-område mappes ind i flere processers virtuelle </a:t>
            </a:r>
            <a:r>
              <a:rPr lang="da-DK" dirty="0" err="1"/>
              <a:t>memory</a:t>
            </a:r>
            <a:r>
              <a:rPr lang="da-DK" dirty="0"/>
              <a:t>. </a:t>
            </a:r>
          </a:p>
          <a:p>
            <a:pPr lvl="0"/>
            <a:r>
              <a:rPr lang="da-DK" b="1" dirty="0"/>
              <a:t>Filer</a:t>
            </a:r>
            <a:r>
              <a:rPr lang="da-DK" dirty="0"/>
              <a:t> – den simpleste form for IPC, men normalt langsommere og med behov for </a:t>
            </a:r>
            <a:r>
              <a:rPr lang="da-DK" dirty="0" err="1"/>
              <a:t>locking</a:t>
            </a:r>
            <a:r>
              <a:rPr lang="da-DK" dirty="0"/>
              <a:t>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10067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49FE0-674A-0C23-B9E3-BB98C160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BE84D6CD-F29C-ECF8-FA03-980AA7882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458" y="865410"/>
            <a:ext cx="5121084" cy="512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173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412B53-2B84-CF31-980C-AA1643DE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Compiler og Oversat kode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F00DA695-AC2F-2B2B-FC37-96AE95E0E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28" y="1277457"/>
            <a:ext cx="11430000" cy="5238750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B8C248B7-F692-1795-6453-3C3683A3AD31}"/>
              </a:ext>
            </a:extLst>
          </p:cNvPr>
          <p:cNvSpPr txBox="1"/>
          <p:nvPr/>
        </p:nvSpPr>
        <p:spPr>
          <a:xfrm>
            <a:off x="9947232" y="411849"/>
            <a:ext cx="1879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Ikke målepind</a:t>
            </a:r>
          </a:p>
        </p:txBody>
      </p:sp>
    </p:spTree>
    <p:extLst>
      <p:ext uri="{BB962C8B-B14F-4D97-AF65-F5344CB8AC3E}">
        <p14:creationId xmlns:p14="http://schemas.microsoft.com/office/powerpoint/2010/main" val="3348446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696E2-0CEE-0CC8-EA45-4D82BE42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Python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C5E5192-0385-9F80-B347-65F5E8DD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565"/>
            <a:ext cx="6155724" cy="5267153"/>
          </a:xfrm>
        </p:spPr>
        <p:txBody>
          <a:bodyPr>
            <a:normAutofit fontScale="40000" lnSpcReduction="20000"/>
          </a:bodyPr>
          <a:lstStyle/>
          <a:p>
            <a:r>
              <a:rPr lang="da-DK" sz="3800" dirty="0"/>
              <a:t>I Python bruger man </a:t>
            </a:r>
            <a:r>
              <a:rPr lang="da-DK" sz="3800" b="1" dirty="0" err="1"/>
              <a:t>indentation</a:t>
            </a:r>
            <a:r>
              <a:rPr lang="da-DK" sz="3800" b="1" dirty="0"/>
              <a:t> som </a:t>
            </a:r>
            <a:r>
              <a:rPr lang="da-DK" sz="3800" b="1" dirty="0" err="1"/>
              <a:t>scope</a:t>
            </a:r>
            <a:r>
              <a:rPr lang="da-DK" sz="3800" b="1" dirty="0"/>
              <a:t>/</a:t>
            </a:r>
            <a:r>
              <a:rPr lang="da-DK" sz="3800" b="1" dirty="0" err="1"/>
              <a:t>block</a:t>
            </a:r>
            <a:r>
              <a:rPr lang="da-DK" sz="3800" b="1" dirty="0"/>
              <a:t>-delimiter</a:t>
            </a:r>
            <a:r>
              <a:rPr lang="da-DK" sz="3800" dirty="0"/>
              <a:t> i stedet for { }, som man kender fra C, C++, Java eller C#.</a:t>
            </a:r>
          </a:p>
          <a:p>
            <a:r>
              <a:rPr lang="da-DK" sz="3800" dirty="0"/>
              <a:t>I Python er en variabel et navn, der refererer til et objekt.</a:t>
            </a:r>
          </a:p>
          <a:p>
            <a:r>
              <a:rPr lang="da-DK" sz="3800" dirty="0"/>
              <a:t>x = 10</a:t>
            </a:r>
          </a:p>
          <a:p>
            <a:r>
              <a:rPr lang="da-DK" sz="3800" dirty="0"/>
              <a:t>x = "Hej"</a:t>
            </a:r>
          </a:p>
          <a:p>
            <a:r>
              <a:rPr lang="da-DK" sz="3800" dirty="0"/>
              <a:t>Det er lovligt, fordi typen hører til objektet, ikke til variabelnavnet.</a:t>
            </a:r>
          </a:p>
          <a:p>
            <a:r>
              <a:rPr lang="da-DK" sz="3800" dirty="0"/>
              <a:t>En variabel, der defineres inde i en funktion, er normalt lokal:</a:t>
            </a:r>
          </a:p>
          <a:p>
            <a:r>
              <a:rPr lang="da-DK" sz="3800" dirty="0"/>
              <a:t>def test():</a:t>
            </a:r>
          </a:p>
          <a:p>
            <a:r>
              <a:rPr lang="da-DK" sz="3800" dirty="0"/>
              <a:t>    x = 10</a:t>
            </a:r>
          </a:p>
          <a:p>
            <a:r>
              <a:rPr lang="da-DK" sz="3800" dirty="0"/>
              <a:t>En variabel uden for funktioner ligger i modulets globale </a:t>
            </a:r>
            <a:r>
              <a:rPr lang="da-DK" sz="3800" dirty="0" err="1"/>
              <a:t>scope</a:t>
            </a:r>
            <a:r>
              <a:rPr lang="da-DK" sz="3800" dirty="0"/>
              <a:t>.</a:t>
            </a:r>
          </a:p>
          <a:p>
            <a:r>
              <a:rPr lang="da-DK" sz="3800" dirty="0"/>
              <a:t>Python laver heller ikke automatisk kopier af objekter:</a:t>
            </a:r>
          </a:p>
          <a:p>
            <a:r>
              <a:rPr lang="da-DK" sz="3800" dirty="0"/>
              <a:t>a = [1, 2, 3]</a:t>
            </a:r>
          </a:p>
          <a:p>
            <a:r>
              <a:rPr lang="da-DK" sz="3800" dirty="0"/>
              <a:t>b = a</a:t>
            </a:r>
          </a:p>
          <a:p>
            <a:r>
              <a:rPr lang="da-DK" sz="3800" dirty="0"/>
              <a:t>Her refererer a og b til den samme liste. Hvis listen ændres via b, kan ændringen også ses via a.</a:t>
            </a:r>
          </a:p>
          <a:p>
            <a:r>
              <a:rPr lang="da-DK" sz="3800" dirty="0"/>
              <a:t>Kort sagt: Python-variabler er referencer til </a:t>
            </a:r>
            <a:r>
              <a:rPr lang="da-DK" sz="3800" dirty="0" err="1"/>
              <a:t>obejkter</a:t>
            </a:r>
            <a:r>
              <a:rPr lang="da-DK" sz="3800" dirty="0"/>
              <a:t>, og </a:t>
            </a:r>
            <a:r>
              <a:rPr lang="da-DK" sz="3800" dirty="0" err="1"/>
              <a:t>scope</a:t>
            </a:r>
            <a:r>
              <a:rPr lang="da-DK" sz="3800" dirty="0"/>
              <a:t> bestemmer, hvor variabelnavnet kan bruges.</a:t>
            </a:r>
          </a:p>
          <a:p>
            <a:r>
              <a:rPr lang="da-DK" sz="3800" dirty="0"/>
              <a:t>Imports – skal ske i rækkefølge og efter afhængigheder</a:t>
            </a:r>
          </a:p>
          <a:p>
            <a:endParaRPr lang="da-DK" sz="2000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C766CC7-65B4-1CB7-5972-C3914F89E8DF}"/>
              </a:ext>
            </a:extLst>
          </p:cNvPr>
          <p:cNvSpPr txBox="1"/>
          <p:nvPr/>
        </p:nvSpPr>
        <p:spPr>
          <a:xfrm>
            <a:off x="7930605" y="1583960"/>
            <a:ext cx="2916568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x=10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 worker():</a:t>
            </a:r>
            <a:endParaRPr lang="da-DK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b=20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for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range(5):</a:t>
            </a:r>
            <a:endParaRPr lang="da-DK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  <a:r>
              <a:rPr lang="da-DK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print(i)</a:t>
            </a:r>
          </a:p>
          <a:p>
            <a:r>
              <a:rPr lang="da-DK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da-DK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print("Loop færdig")</a:t>
            </a:r>
          </a:p>
          <a:p>
            <a:r>
              <a:rPr lang="da-DK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da-DK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print("Uden for funktionen")</a:t>
            </a:r>
          </a:p>
          <a:p>
            <a:r>
              <a:rPr lang="da-DK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x=”hej”</a:t>
            </a:r>
          </a:p>
          <a:p>
            <a:r>
              <a:rPr lang="da-DK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print(x)</a:t>
            </a:r>
          </a:p>
          <a:p>
            <a:r>
              <a:rPr lang="da-DK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#comment</a:t>
            </a:r>
          </a:p>
        </p:txBody>
      </p:sp>
    </p:spTree>
    <p:extLst>
      <p:ext uri="{BB962C8B-B14F-4D97-AF65-F5344CB8AC3E}">
        <p14:creationId xmlns:p14="http://schemas.microsoft.com/office/powerpoint/2010/main" val="4015991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B9AE8C-86D8-02A8-43A3-49D344AF3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LAB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9B0B769-D081-AD07-75D0-A0445CD6E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Lab Guide </a:t>
            </a:r>
          </a:p>
          <a:p>
            <a:r>
              <a:rPr lang="da-DK" dirty="0" err="1"/>
              <a:t>Pycharm</a:t>
            </a:r>
            <a:endParaRPr lang="da-DK" dirty="0"/>
          </a:p>
          <a:p>
            <a:r>
              <a:rPr lang="da-DK" dirty="0">
                <a:hlinkClick r:id="rId2"/>
              </a:rPr>
              <a:t>https://www.youtube.com/watch?v=HHcZbXsZtm0</a:t>
            </a:r>
            <a:br>
              <a:rPr lang="da-DK" dirty="0"/>
            </a:br>
            <a:br>
              <a:rPr lang="da-DK" dirty="0"/>
            </a:br>
            <a:r>
              <a:rPr lang="da-DK" dirty="0"/>
              <a:t>Python</a:t>
            </a:r>
          </a:p>
          <a:p>
            <a:r>
              <a:rPr lang="da-DK" dirty="0"/>
              <a:t>https://pythonbooks.org/think-python-how-to-think-like-a-computer-scientist/</a:t>
            </a:r>
            <a:br>
              <a:rPr lang="da-DK" dirty="0"/>
            </a:b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85959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C155A-3A8F-4D9A-E3BA-E3576E796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Altid et </a:t>
            </a:r>
            <a:r>
              <a:rPr lang="da-DK" dirty="0" err="1"/>
              <a:t>library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7288C94-8164-83CA-31F1-EC3FF2E22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920049" cy="435133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Når vi arbejder med </a:t>
            </a:r>
            <a:r>
              <a:rPr lang="da-DK" dirty="0" err="1"/>
              <a:t>python</a:t>
            </a:r>
            <a:r>
              <a:rPr lang="da-DK" dirty="0"/>
              <a:t> findes der altid et </a:t>
            </a:r>
            <a:r>
              <a:rPr lang="da-DK" dirty="0" err="1"/>
              <a:t>library</a:t>
            </a:r>
            <a:r>
              <a:rPr lang="da-DK" dirty="0"/>
              <a:t> , som kan gøre arbejdet nemmere.  For at lave en </a:t>
            </a:r>
            <a:r>
              <a:rPr lang="da-DK" dirty="0" err="1"/>
              <a:t>webserver</a:t>
            </a:r>
            <a:r>
              <a:rPr lang="da-DK" dirty="0"/>
              <a:t> kan vi bruge flask</a:t>
            </a: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Billede 4" descr="Et billede, der indeholder tekst, skærmbillede, Font/skrifttype&#10;&#10;AI-genereret indhold kan være ukorrekt.">
            <a:extLst>
              <a:ext uri="{FF2B5EF4-FFF2-40B4-BE49-F238E27FC236}">
                <a16:creationId xmlns:a16="http://schemas.microsoft.com/office/drawing/2014/main" id="{3C789BC4-FDBC-B64C-1BB1-0EFEEA8CA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713" y="738895"/>
            <a:ext cx="4756506" cy="31069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B72F33B6-412D-CAFA-2F9F-BAB36CEFC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40" y="4154852"/>
            <a:ext cx="4406354" cy="1644162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99931F40-B2CD-2D34-5A7C-0ED798E66F9F}"/>
              </a:ext>
            </a:extLst>
          </p:cNvPr>
          <p:cNvSpPr txBox="1"/>
          <p:nvPr/>
        </p:nvSpPr>
        <p:spPr>
          <a:xfrm>
            <a:off x="5758248" y="4776878"/>
            <a:ext cx="5026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>
                <a:solidFill>
                  <a:schemeClr val="bg1"/>
                </a:solidFill>
              </a:rPr>
              <a:t>https://flask.palletsprojects.com/en/stable/</a:t>
            </a:r>
          </a:p>
        </p:txBody>
      </p:sp>
    </p:spTree>
    <p:extLst>
      <p:ext uri="{BB962C8B-B14F-4D97-AF65-F5344CB8AC3E}">
        <p14:creationId xmlns:p14="http://schemas.microsoft.com/office/powerpoint/2010/main" val="31431500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E2135-D99B-9F0E-C053-882E74F9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E413366-90EB-CBA9-FF93-F22F14C72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Log på </a:t>
            </a:r>
            <a:r>
              <a:rPr lang="da-DK" dirty="0" err="1"/>
              <a:t>python</a:t>
            </a:r>
            <a:r>
              <a:rPr lang="da-DK" dirty="0"/>
              <a:t> lab!</a:t>
            </a:r>
          </a:p>
          <a:p>
            <a:pPr marL="0" indent="0">
              <a:buNone/>
            </a:pPr>
            <a:r>
              <a:rPr lang="da-DK" dirty="0"/>
              <a:t>Prøv at sammenligne nogle af eksemplerne med det vi har gennemgået – følg koden og se tidligere beskrivelser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Prøv at lege lidt med flask ( i kan kopiere projektet fra eksempler og så ændre lidt på routes )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33127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6442-B69C-0BE2-93A0-2232FA5FA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A9341BF5-D0F4-942E-AEBC-EC4391799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458" y="865410"/>
            <a:ext cx="5121084" cy="512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9451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9EA89AED-F16B-96B3-E8AC-354927B6B7FF}"/>
              </a:ext>
            </a:extLst>
          </p:cNvPr>
          <p:cNvSpPr/>
          <p:nvPr/>
        </p:nvSpPr>
        <p:spPr>
          <a:xfrm>
            <a:off x="790832" y="1092200"/>
            <a:ext cx="11104836" cy="552873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69F24C5-56C7-3637-9E10-A46B5CA15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63" y="62630"/>
            <a:ext cx="10515600" cy="1325563"/>
          </a:xfrm>
        </p:spPr>
        <p:txBody>
          <a:bodyPr/>
          <a:lstStyle/>
          <a:p>
            <a:r>
              <a:rPr lang="da-DK" dirty="0"/>
              <a:t>Parallel Programmering I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3EFE050C-5727-49D2-6BF3-CF18F05076F5}"/>
              </a:ext>
            </a:extLst>
          </p:cNvPr>
          <p:cNvSpPr txBox="1"/>
          <p:nvPr/>
        </p:nvSpPr>
        <p:spPr>
          <a:xfrm>
            <a:off x="878163" y="1388193"/>
            <a:ext cx="5054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400" b="1" dirty="0">
                <a:solidFill>
                  <a:schemeClr val="bg1"/>
                </a:solidFill>
              </a:rPr>
              <a:t>Parallel programmering – grundidé</a:t>
            </a:r>
          </a:p>
          <a:p>
            <a:pPr>
              <a:buNone/>
            </a:pPr>
            <a:r>
              <a:rPr lang="da-DK" sz="1400" dirty="0">
                <a:solidFill>
                  <a:schemeClr val="bg1"/>
                </a:solidFill>
              </a:rPr>
              <a:t>Parallel programmering handler om at udføre </a:t>
            </a:r>
            <a:r>
              <a:rPr lang="da-DK" sz="1400" b="1" dirty="0">
                <a:solidFill>
                  <a:schemeClr val="bg1"/>
                </a:solidFill>
              </a:rPr>
              <a:t>flere opgaver samtidigt</a:t>
            </a:r>
            <a:r>
              <a:rPr lang="da-DK" sz="1400" dirty="0">
                <a:solidFill>
                  <a:schemeClr val="bg1"/>
                </a:solidFill>
              </a:rPr>
              <a:t> for 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øge </a:t>
            </a:r>
            <a:r>
              <a:rPr lang="da-DK" sz="1400" dirty="0" err="1">
                <a:solidFill>
                  <a:schemeClr val="bg1"/>
                </a:solidFill>
              </a:rPr>
              <a:t>throughput</a:t>
            </a:r>
            <a:endParaRPr lang="da-DK" sz="1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reducere svartid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udnytte hardware bedre</a:t>
            </a:r>
          </a:p>
          <a:p>
            <a:endParaRPr lang="da-DK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da-DK" sz="1400" b="1" dirty="0" err="1">
                <a:solidFill>
                  <a:schemeClr val="bg1"/>
                </a:solidFill>
              </a:rPr>
              <a:t>Workload</a:t>
            </a:r>
            <a:endParaRPr lang="da-DK" sz="14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1400" b="1" dirty="0">
                <a:solidFill>
                  <a:schemeClr val="bg1"/>
                </a:solidFill>
              </a:rPr>
              <a:t>CPU-</a:t>
            </a:r>
            <a:r>
              <a:rPr lang="da-DK" sz="1400" b="1" dirty="0" err="1">
                <a:solidFill>
                  <a:schemeClr val="bg1"/>
                </a:solidFill>
              </a:rPr>
              <a:t>bound</a:t>
            </a:r>
            <a:r>
              <a:rPr lang="da-DK" sz="1400" b="1" dirty="0">
                <a:solidFill>
                  <a:schemeClr val="bg1"/>
                </a:solidFill>
              </a:rPr>
              <a:t> </a:t>
            </a:r>
            <a:r>
              <a:rPr lang="da-DK" sz="1400" b="1" dirty="0" err="1">
                <a:solidFill>
                  <a:schemeClr val="bg1"/>
                </a:solidFill>
              </a:rPr>
              <a:t>work</a:t>
            </a:r>
            <a:br>
              <a:rPr lang="da-DK" sz="1400" dirty="0">
                <a:solidFill>
                  <a:schemeClr val="bg1"/>
                </a:solidFill>
              </a:rPr>
            </a:br>
            <a:r>
              <a:rPr lang="da-DK" sz="1400" dirty="0">
                <a:solidFill>
                  <a:schemeClr val="bg1"/>
                </a:solidFill>
              </a:rPr>
              <a:t>Beregningstungt arbejde, der bruger processorkraft.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b="1" dirty="0">
                <a:solidFill>
                  <a:schemeClr val="bg1"/>
                </a:solidFill>
              </a:rPr>
              <a:t>I/O-</a:t>
            </a:r>
            <a:r>
              <a:rPr lang="da-DK" sz="1400" b="1" dirty="0" err="1">
                <a:solidFill>
                  <a:schemeClr val="bg1"/>
                </a:solidFill>
              </a:rPr>
              <a:t>bound</a:t>
            </a:r>
            <a:r>
              <a:rPr lang="da-DK" sz="1400" b="1" dirty="0">
                <a:solidFill>
                  <a:schemeClr val="bg1"/>
                </a:solidFill>
              </a:rPr>
              <a:t> </a:t>
            </a:r>
            <a:r>
              <a:rPr lang="da-DK" sz="1400" b="1" dirty="0" err="1">
                <a:solidFill>
                  <a:schemeClr val="bg1"/>
                </a:solidFill>
              </a:rPr>
              <a:t>work</a:t>
            </a:r>
            <a:endParaRPr lang="da-DK" sz="1400" b="1" dirty="0">
              <a:solidFill>
                <a:schemeClr val="bg1"/>
              </a:solidFill>
            </a:endParaRPr>
          </a:p>
          <a:p>
            <a:r>
              <a:rPr lang="da-DK" sz="1400" dirty="0">
                <a:solidFill>
                  <a:schemeClr val="bg1"/>
                </a:solidFill>
              </a:rPr>
              <a:t>Arbejde der venter på eksterne ressourcer (netværk, disk, database).</a:t>
            </a:r>
          </a:p>
          <a:p>
            <a:endParaRPr lang="da-DK" sz="1400" dirty="0"/>
          </a:p>
          <a:p>
            <a:pPr>
              <a:buNone/>
            </a:pPr>
            <a:endParaRPr lang="da-DK" sz="1400" dirty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C78D3867-93CE-DEC0-6E20-0EB71708396F}"/>
              </a:ext>
            </a:extLst>
          </p:cNvPr>
          <p:cNvSpPr txBox="1"/>
          <p:nvPr/>
        </p:nvSpPr>
        <p:spPr>
          <a:xfrm>
            <a:off x="6688666" y="1328847"/>
            <a:ext cx="5503333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400" b="1" dirty="0">
                <a:solidFill>
                  <a:schemeClr val="bg1"/>
                </a:solidFill>
              </a:rPr>
              <a:t>Tre generelle modeller</a:t>
            </a:r>
          </a:p>
          <a:p>
            <a:pPr>
              <a:buNone/>
            </a:pPr>
            <a:r>
              <a:rPr lang="da-DK" sz="1400" b="1" dirty="0">
                <a:solidFill>
                  <a:schemeClr val="bg1"/>
                </a:solidFill>
              </a:rPr>
              <a:t>1) Tråde (</a:t>
            </a:r>
            <a:r>
              <a:rPr lang="da-DK" sz="1400" b="1" dirty="0" err="1">
                <a:solidFill>
                  <a:schemeClr val="bg1"/>
                </a:solidFill>
              </a:rPr>
              <a:t>threads</a:t>
            </a:r>
            <a:r>
              <a:rPr lang="da-DK" sz="1400" b="1" dirty="0">
                <a:solidFill>
                  <a:schemeClr val="bg1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Flere eksekveringsspor inden for samme proces.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Deler hukommelse.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Effektivt til I/O-ventetid.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Kræver synkronisering (</a:t>
            </a:r>
            <a:r>
              <a:rPr lang="da-DK" sz="1400" dirty="0" err="1">
                <a:solidFill>
                  <a:schemeClr val="bg1"/>
                </a:solidFill>
              </a:rPr>
              <a:t>locks</a:t>
            </a:r>
            <a:r>
              <a:rPr lang="da-DK" sz="1400" dirty="0">
                <a:solidFill>
                  <a:schemeClr val="bg1"/>
                </a:solidFill>
              </a:rPr>
              <a:t>) for delt </a:t>
            </a:r>
            <a:r>
              <a:rPr lang="da-DK" sz="1400" dirty="0" err="1">
                <a:solidFill>
                  <a:schemeClr val="bg1"/>
                </a:solidFill>
              </a:rPr>
              <a:t>state</a:t>
            </a:r>
            <a:r>
              <a:rPr lang="da-DK" sz="1400" dirty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r>
              <a:rPr lang="da-DK" sz="1400" b="1" dirty="0">
                <a:solidFill>
                  <a:schemeClr val="bg1"/>
                </a:solidFill>
              </a:rPr>
              <a:t>2) Processer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Separate processer med hver sin hukommelse.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Ægte parallelisme på flere CPU-kerner.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Mere robust isolation.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Højere kommunikations-overhead.</a:t>
            </a:r>
          </a:p>
          <a:p>
            <a:pPr>
              <a:buNone/>
            </a:pPr>
            <a:r>
              <a:rPr lang="da-DK" sz="1400" b="1" dirty="0">
                <a:solidFill>
                  <a:schemeClr val="bg1"/>
                </a:solidFill>
              </a:rPr>
              <a:t>3) Event-baseret / asynkron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Ét (eller få) eksekveringsspor styrer mange samtidige opgaver.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Opgaver afgiver kontrol, når de venter på I/O.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Meget skalerbar for mange samtidige forbindelser.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Kræver, at alle komponenter er ikke-blokerende.</a:t>
            </a:r>
          </a:p>
          <a:p>
            <a:pPr>
              <a:buFont typeface="Arial" panose="020B0604020202020204" pitchFamily="34" charset="0"/>
              <a:buChar char="•"/>
            </a:pPr>
            <a:endParaRPr lang="da-DK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da-DK" sz="1400" b="1" dirty="0">
                <a:solidFill>
                  <a:schemeClr val="bg1"/>
                </a:solidFill>
              </a:rPr>
              <a:t>Centrale udfordringer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Race </a:t>
            </a:r>
            <a:r>
              <a:rPr lang="da-DK" sz="1400" dirty="0" err="1">
                <a:solidFill>
                  <a:schemeClr val="bg1"/>
                </a:solidFill>
              </a:rPr>
              <a:t>conditions</a:t>
            </a:r>
            <a:endParaRPr lang="da-DK" sz="1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 err="1">
                <a:solidFill>
                  <a:schemeClr val="bg1"/>
                </a:solidFill>
              </a:rPr>
              <a:t>Deadlocks</a:t>
            </a:r>
            <a:endParaRPr lang="da-DK" sz="1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 err="1">
                <a:solidFill>
                  <a:schemeClr val="bg1"/>
                </a:solidFill>
              </a:rPr>
              <a:t>Fejlpropagering</a:t>
            </a:r>
            <a:endParaRPr lang="da-DK" sz="1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Ressource-styring</a:t>
            </a:r>
          </a:p>
          <a:p>
            <a:pPr>
              <a:buNone/>
            </a:pPr>
            <a:endParaRPr lang="da-DK" dirty="0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E7742A26-F393-9788-EB02-4C4CD036768A}"/>
              </a:ext>
            </a:extLst>
          </p:cNvPr>
          <p:cNvSpPr txBox="1"/>
          <p:nvPr/>
        </p:nvSpPr>
        <p:spPr>
          <a:xfrm>
            <a:off x="878163" y="4837500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400" b="1" dirty="0">
                <a:solidFill>
                  <a:schemeClr val="bg1"/>
                </a:solidFill>
              </a:rPr>
              <a:t>Valg af model (arkitekturniveau)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Beregningstungt → processer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Mange samtidige I/O-operationer → event-baseret eller tråde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 err="1">
                <a:solidFill>
                  <a:schemeClr val="bg1"/>
                </a:solidFill>
              </a:rPr>
              <a:t>Webservere</a:t>
            </a:r>
            <a:r>
              <a:rPr lang="da-DK" sz="1400" dirty="0">
                <a:solidFill>
                  <a:schemeClr val="bg1"/>
                </a:solidFill>
              </a:rPr>
              <a:t> → ofte kombination: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flere processer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hver proces håndterer mange samtidige </a:t>
            </a:r>
            <a:r>
              <a:rPr lang="da-DK" sz="1400" dirty="0" err="1">
                <a:solidFill>
                  <a:schemeClr val="bg1"/>
                </a:solidFill>
              </a:rPr>
              <a:t>requests</a:t>
            </a:r>
            <a:endParaRPr lang="da-DK" sz="1400" dirty="0">
              <a:solidFill>
                <a:schemeClr val="bg1"/>
              </a:solidFill>
            </a:endParaRPr>
          </a:p>
          <a:p>
            <a:pPr>
              <a:buNone/>
            </a:pPr>
            <a:endParaRPr lang="da-DK" sz="1400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F9CBB24C-D2AB-D9D0-6860-6EC5223F81E5}"/>
              </a:ext>
            </a:extLst>
          </p:cNvPr>
          <p:cNvSpPr txBox="1"/>
          <p:nvPr/>
        </p:nvSpPr>
        <p:spPr>
          <a:xfrm rot="19662690">
            <a:off x="4022207" y="2194954"/>
            <a:ext cx="2720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dirty="0">
                <a:solidFill>
                  <a:srgbClr val="FF0000"/>
                </a:solidFill>
              </a:rPr>
              <a:t>Opsummering</a:t>
            </a:r>
          </a:p>
        </p:txBody>
      </p:sp>
    </p:spTree>
    <p:extLst>
      <p:ext uri="{BB962C8B-B14F-4D97-AF65-F5344CB8AC3E}">
        <p14:creationId xmlns:p14="http://schemas.microsoft.com/office/powerpoint/2010/main" val="590766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C6491-6018-2326-19CD-27F30F98B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5968CA-7284-8408-C799-A89DC653D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212" y="959400"/>
            <a:ext cx="11515221" cy="5751101"/>
          </a:xfrm>
          <a:solidFill>
            <a:schemeClr val="bg2">
              <a:lumMod val="25000"/>
            </a:schemeClr>
          </a:solidFill>
        </p:spPr>
        <p:txBody>
          <a:bodyPr numCol="3">
            <a:noAutofit/>
          </a:bodyPr>
          <a:lstStyle/>
          <a:p>
            <a:r>
              <a:rPr lang="da-DK" sz="1400" dirty="0"/>
              <a:t>1) Der skal være </a:t>
            </a:r>
            <a:r>
              <a:rPr lang="da-DK" sz="1400" dirty="0" err="1"/>
              <a:t>paralleliserbart</a:t>
            </a:r>
            <a:r>
              <a:rPr lang="da-DK" sz="1400" dirty="0"/>
              <a:t> arbejde</a:t>
            </a:r>
            <a:br>
              <a:rPr lang="da-DK" sz="1400" b="0" dirty="0"/>
            </a:br>
            <a:r>
              <a:rPr lang="da-DK" sz="1400" b="0" dirty="0"/>
              <a:t>Opgaverne skal kunne køres uafhængigt eller med kontrolleret deling af data.</a:t>
            </a:r>
            <a:br>
              <a:rPr lang="da-DK" sz="1400" b="0" dirty="0"/>
            </a:br>
            <a:r>
              <a:rPr lang="da-DK" sz="1400" b="0" dirty="0">
                <a:highlight>
                  <a:srgbClr val="C0C0C0"/>
                </a:highlight>
              </a:rPr>
              <a:t>Typisk egnet:</a:t>
            </a:r>
            <a:br>
              <a:rPr lang="da-DK" sz="1400" b="0" dirty="0"/>
            </a:br>
            <a:r>
              <a:rPr lang="da-DK" sz="1400" b="0" dirty="0"/>
              <a:t>I/O-ventetid (netværk, disk, databasekald)</a:t>
            </a:r>
            <a:br>
              <a:rPr lang="da-DK" sz="1400" b="0" dirty="0"/>
            </a:br>
            <a:r>
              <a:rPr lang="da-DK" sz="1400" b="0" dirty="0"/>
              <a:t>Mange ensartede, korte opgaver (batch-jobs)</a:t>
            </a:r>
            <a:br>
              <a:rPr lang="da-DK" sz="1400" b="0" dirty="0"/>
            </a:br>
            <a:r>
              <a:rPr lang="da-DK" sz="1400" b="0" i="1" dirty="0">
                <a:highlight>
                  <a:srgbClr val="C0C0C0"/>
                </a:highlight>
              </a:rPr>
              <a:t>Typisk mindre egnet</a:t>
            </a:r>
            <a:r>
              <a:rPr lang="da-DK" sz="1400" b="0" dirty="0">
                <a:highlight>
                  <a:srgbClr val="C0C0C0"/>
                </a:highlight>
              </a:rPr>
              <a:t>:</a:t>
            </a:r>
            <a:br>
              <a:rPr lang="da-DK" sz="1400" b="0" dirty="0"/>
            </a:br>
            <a:r>
              <a:rPr lang="da-DK" sz="1400" b="0" dirty="0"/>
              <a:t>Tunge CPU-opgaver (afhænger af </a:t>
            </a:r>
            <a:r>
              <a:rPr lang="da-DK" sz="1400" b="0" dirty="0" err="1"/>
              <a:t>runtime</a:t>
            </a:r>
            <a:r>
              <a:rPr lang="da-DK" sz="1400" b="0" dirty="0"/>
              <a:t>;</a:t>
            </a:r>
            <a:br>
              <a:rPr lang="da-DK" sz="1400" b="0" dirty="0"/>
            </a:br>
            <a:r>
              <a:rPr lang="da-DK" sz="1400" b="0" dirty="0"/>
              <a:t> </a:t>
            </a:r>
            <a:br>
              <a:rPr lang="da-DK" sz="1400" b="0" dirty="0"/>
            </a:br>
            <a:r>
              <a:rPr lang="da-DK" sz="1400" dirty="0"/>
              <a:t>2) </a:t>
            </a:r>
            <a:r>
              <a:rPr lang="da-DK" sz="1400" dirty="0" err="1"/>
              <a:t>Trådsikkerhed</a:t>
            </a:r>
            <a:r>
              <a:rPr lang="da-DK" sz="1400" dirty="0"/>
              <a:t> for delt tilstand</a:t>
            </a:r>
            <a:br>
              <a:rPr lang="da-DK" sz="1400" b="0" dirty="0"/>
            </a:br>
            <a:r>
              <a:rPr lang="da-DK" sz="1400" b="0" dirty="0"/>
              <a:t>Hvis tråde deler data, skal du sikre:</a:t>
            </a:r>
            <a:br>
              <a:rPr lang="da-DK" sz="1400" b="0" dirty="0"/>
            </a:br>
            <a:r>
              <a:rPr lang="da-DK" sz="1400" b="0" dirty="0"/>
              <a:t>Atomiske operationer hvor nødvendigt</a:t>
            </a:r>
            <a:br>
              <a:rPr lang="da-DK" sz="1400" b="0" dirty="0"/>
            </a:br>
            <a:r>
              <a:rPr lang="da-DK" sz="1400" b="0" dirty="0"/>
              <a:t>Låse/</a:t>
            </a:r>
            <a:r>
              <a:rPr lang="da-DK" sz="1400" b="0" dirty="0" err="1"/>
              <a:t>mutex</a:t>
            </a:r>
            <a:r>
              <a:rPr lang="da-DK" sz="1400" b="0" dirty="0"/>
              <a:t>/monitorer ved kritiske sektioner</a:t>
            </a:r>
            <a:br>
              <a:rPr lang="da-DK" sz="1400" b="0" dirty="0"/>
            </a:br>
            <a:r>
              <a:rPr lang="da-DK" sz="1400" b="0" dirty="0" err="1"/>
              <a:t>Trådsikre</a:t>
            </a:r>
            <a:r>
              <a:rPr lang="da-DK" sz="1400" b="0" dirty="0"/>
              <a:t> datastrukturer eller “</a:t>
            </a:r>
            <a:r>
              <a:rPr lang="da-DK" sz="1400" b="0" dirty="0" err="1"/>
              <a:t>immutable</a:t>
            </a:r>
            <a:r>
              <a:rPr lang="da-DK" sz="1400" b="0" dirty="0"/>
              <a:t>” data</a:t>
            </a:r>
            <a:br>
              <a:rPr lang="da-DK" sz="1400" b="0" dirty="0"/>
            </a:br>
            <a:r>
              <a:rPr lang="da-DK" sz="1400" b="0" dirty="0"/>
              <a:t>Undgå datalæk og race </a:t>
            </a:r>
            <a:r>
              <a:rPr lang="da-DK" sz="1400" b="0" dirty="0" err="1"/>
              <a:t>conditions</a:t>
            </a:r>
            <a:br>
              <a:rPr lang="da-DK" sz="1400" b="0" dirty="0"/>
            </a:br>
            <a:r>
              <a:rPr lang="da-DK" sz="1400" b="0" dirty="0">
                <a:highlight>
                  <a:srgbClr val="C0C0C0"/>
                </a:highlight>
              </a:rPr>
              <a:t>Praktisk tommelfingerregel:</a:t>
            </a:r>
            <a:br>
              <a:rPr lang="da-DK" sz="1400" b="0" dirty="0">
                <a:highlight>
                  <a:srgbClr val="C0C0C0"/>
                </a:highlight>
              </a:rPr>
            </a:br>
            <a:r>
              <a:rPr lang="da-DK" sz="1400" b="0" dirty="0"/>
              <a:t>Del så lidt tilstand som muligt</a:t>
            </a:r>
            <a:br>
              <a:rPr lang="da-DK" sz="1400" b="0" dirty="0"/>
            </a:br>
            <a:r>
              <a:rPr lang="da-DK" sz="1400" b="0" dirty="0"/>
              <a:t>Kommunikér via køer/messages frem for </a:t>
            </a:r>
            <a:r>
              <a:rPr lang="da-DK" sz="1400" b="0" dirty="0" err="1"/>
              <a:t>shared</a:t>
            </a:r>
            <a:r>
              <a:rPr lang="da-DK" sz="1400" b="0" dirty="0"/>
              <a:t> </a:t>
            </a:r>
            <a:r>
              <a:rPr lang="da-DK" sz="1400" b="0" dirty="0" err="1"/>
              <a:t>state</a:t>
            </a:r>
            <a:r>
              <a:rPr lang="da-DK" sz="1400" b="0" dirty="0"/>
              <a:t>, hvis muligt</a:t>
            </a:r>
            <a:br>
              <a:rPr lang="da-DK" sz="1400" b="0" dirty="0"/>
            </a:br>
            <a:br>
              <a:rPr lang="da-DK" sz="1400" b="0" dirty="0"/>
            </a:br>
            <a:r>
              <a:rPr lang="da-DK" sz="1400" dirty="0"/>
              <a:t>3) Livscyklus og styring af tråde</a:t>
            </a:r>
            <a:br>
              <a:rPr lang="da-DK" sz="1400" b="0" dirty="0"/>
            </a:br>
            <a:r>
              <a:rPr lang="da-DK" sz="1400" b="0" dirty="0"/>
              <a:t>Oprettelse og lukning: hvem starter, hvem stopper, og hvornår?</a:t>
            </a:r>
            <a:br>
              <a:rPr lang="da-DK" sz="1400" b="0" dirty="0"/>
            </a:br>
            <a:r>
              <a:rPr lang="da-DK" sz="1400" b="0" dirty="0"/>
              <a:t>Join/</a:t>
            </a:r>
            <a:r>
              <a:rPr lang="da-DK" sz="1400" b="0" dirty="0" err="1"/>
              <a:t>await</a:t>
            </a:r>
            <a:r>
              <a:rPr lang="da-DK" sz="1400" b="0" dirty="0"/>
              <a:t>: hvornår skal </a:t>
            </a:r>
            <a:r>
              <a:rPr lang="da-DK" sz="1400" b="0" dirty="0" err="1"/>
              <a:t>hovedflow</a:t>
            </a:r>
            <a:r>
              <a:rPr lang="da-DK" sz="1400" b="0" dirty="0"/>
              <a:t> vente på tråde?</a:t>
            </a:r>
            <a:br>
              <a:rPr lang="da-DK" sz="1400" b="0" dirty="0"/>
            </a:br>
            <a:r>
              <a:rPr lang="da-DK" sz="1400" b="0" dirty="0"/>
              <a:t>Afbrydelse/</a:t>
            </a:r>
            <a:r>
              <a:rPr lang="da-DK" sz="1400" b="0" dirty="0" err="1"/>
              <a:t>cancel</a:t>
            </a:r>
            <a:r>
              <a:rPr lang="da-DK" sz="1400" b="0" dirty="0"/>
              <a:t>: hvordan stopper du arbejde kontrolleret?</a:t>
            </a:r>
            <a:br>
              <a:rPr lang="da-DK" sz="1400" b="0" dirty="0"/>
            </a:br>
            <a:r>
              <a:rPr lang="da-DK" sz="1400" b="0" dirty="0"/>
              <a:t>Timeout: hvad gør du hvis en opgave hænger?</a:t>
            </a:r>
            <a:br>
              <a:rPr lang="da-DK" sz="1400" b="0" dirty="0"/>
            </a:br>
            <a:br>
              <a:rPr lang="da-DK" sz="1400" b="0" dirty="0"/>
            </a:br>
            <a:br>
              <a:rPr lang="da-DK" sz="1400" b="0" dirty="0"/>
            </a:br>
            <a:r>
              <a:rPr lang="da-DK" sz="1400" dirty="0"/>
              <a:t>4) Fejlhåndtering og </a:t>
            </a:r>
            <a:r>
              <a:rPr lang="da-DK" sz="1400" dirty="0" err="1"/>
              <a:t>propagation</a:t>
            </a:r>
            <a:br>
              <a:rPr lang="da-DK" sz="1400" b="0" dirty="0"/>
            </a:br>
            <a:r>
              <a:rPr lang="da-DK" sz="1400" b="0" dirty="0"/>
              <a:t>Tråde kører ofte “udenfor” </a:t>
            </a:r>
            <a:r>
              <a:rPr lang="da-DK" sz="1400" b="0" dirty="0" err="1"/>
              <a:t>hovedflowet</a:t>
            </a:r>
            <a:r>
              <a:rPr lang="da-DK" sz="1400" b="0" dirty="0"/>
              <a:t>, så du skal sikre:</a:t>
            </a:r>
            <a:br>
              <a:rPr lang="da-DK" sz="1400" b="0" dirty="0"/>
            </a:br>
            <a:r>
              <a:rPr lang="da-DK" sz="1400" b="0" dirty="0"/>
              <a:t>Hvordan </a:t>
            </a:r>
            <a:r>
              <a:rPr lang="da-DK" sz="1400" b="0" dirty="0" err="1"/>
              <a:t>exceptions</a:t>
            </a:r>
            <a:r>
              <a:rPr lang="da-DK" sz="1400" b="0" dirty="0"/>
              <a:t> opsamles, fejl rapporteres </a:t>
            </a:r>
            <a:r>
              <a:rPr lang="da-DK" sz="1400" b="0" dirty="0" err="1"/>
              <a:t>tilbageog</a:t>
            </a:r>
            <a:r>
              <a:rPr lang="da-DK" sz="1400" b="0" dirty="0"/>
              <a:t> hvordan undgår du at fejl “forsvinder” i baggrunden</a:t>
            </a:r>
            <a:br>
              <a:rPr lang="da-DK" sz="1400" b="0" dirty="0"/>
            </a:br>
            <a:br>
              <a:rPr lang="da-DK" sz="1400" b="0" dirty="0"/>
            </a:br>
            <a:r>
              <a:rPr lang="da-DK" sz="1400" dirty="0"/>
              <a:t>5) Begrænsning af samtidighed (</a:t>
            </a:r>
            <a:r>
              <a:rPr lang="da-DK" sz="1400" dirty="0" err="1"/>
              <a:t>threadpool</a:t>
            </a:r>
            <a:r>
              <a:rPr lang="da-DK" sz="1400" dirty="0"/>
              <a:t> frem for “bare flere tråde”)</a:t>
            </a:r>
            <a:br>
              <a:rPr lang="da-DK" sz="1400" b="0" dirty="0"/>
            </a:br>
            <a:r>
              <a:rPr lang="da-DK" sz="1400" b="0" dirty="0"/>
              <a:t>En</a:t>
            </a:r>
            <a:r>
              <a:rPr lang="da-DK" sz="1400" b="0" dirty="0">
                <a:highlight>
                  <a:srgbClr val="C0C0C0"/>
                </a:highlight>
              </a:rPr>
              <a:t> </a:t>
            </a:r>
            <a:r>
              <a:rPr lang="da-DK" sz="1400" b="0" dirty="0" err="1">
                <a:highlight>
                  <a:srgbClr val="C0C0C0"/>
                </a:highlight>
              </a:rPr>
              <a:t>threadpool</a:t>
            </a:r>
            <a:r>
              <a:rPr lang="da-DK" sz="1400" b="0" dirty="0">
                <a:highlight>
                  <a:srgbClr val="C0C0C0"/>
                </a:highlight>
              </a:rPr>
              <a:t> </a:t>
            </a:r>
            <a:r>
              <a:rPr lang="da-DK" sz="1400" b="0" dirty="0"/>
              <a:t>er ofte et krav i produktion, fordi:</a:t>
            </a:r>
            <a:br>
              <a:rPr lang="da-DK" sz="1400" b="0" dirty="0"/>
            </a:br>
            <a:r>
              <a:rPr lang="da-DK" sz="1400" b="0" dirty="0"/>
              <a:t>Oprettelse af tråde har overhead</a:t>
            </a:r>
            <a:br>
              <a:rPr lang="da-DK" sz="1400" b="0" dirty="0"/>
            </a:br>
            <a:r>
              <a:rPr lang="da-DK" sz="1400" b="0" dirty="0"/>
              <a:t>For mange tråde giver kontekstskift, memory-forbrug og dårligere performance</a:t>
            </a:r>
            <a:br>
              <a:rPr lang="da-DK" sz="1400" b="0" dirty="0"/>
            </a:br>
            <a:r>
              <a:rPr lang="da-DK" sz="1400" b="0" dirty="0"/>
              <a:t>Du kan styre </a:t>
            </a:r>
            <a:r>
              <a:rPr lang="da-DK" sz="1400" b="0" dirty="0" err="1"/>
              <a:t>backpressure</a:t>
            </a:r>
            <a:r>
              <a:rPr lang="da-DK" sz="1400" b="0" dirty="0"/>
              <a:t> (kø-længde) og ressourceforbrug</a:t>
            </a:r>
            <a:br>
              <a:rPr lang="da-DK" sz="1400" b="0" dirty="0"/>
            </a:br>
            <a:r>
              <a:rPr lang="da-DK" sz="1400" b="0" i="1" dirty="0">
                <a:highlight>
                  <a:srgbClr val="C0C0C0"/>
                </a:highlight>
              </a:rPr>
              <a:t>Krav/parametre du skal fastlægge:</a:t>
            </a:r>
            <a:br>
              <a:rPr lang="da-DK" sz="1400" b="0" dirty="0"/>
            </a:br>
            <a:r>
              <a:rPr lang="da-DK" sz="1400" b="0" dirty="0"/>
              <a:t>Maks antal </a:t>
            </a:r>
            <a:r>
              <a:rPr lang="da-DK" sz="1400" b="0" dirty="0" err="1"/>
              <a:t>worker</a:t>
            </a:r>
            <a:r>
              <a:rPr lang="da-DK" sz="1400" b="0" dirty="0"/>
              <a:t>-tråde (ofte baseret på I/O </a:t>
            </a:r>
            <a:r>
              <a:rPr lang="da-DK" sz="1400" b="0" dirty="0" err="1"/>
              <a:t>vs</a:t>
            </a:r>
            <a:r>
              <a:rPr lang="da-DK" sz="1400" b="0" dirty="0"/>
              <a:t> CPU-type arbejde)</a:t>
            </a:r>
            <a:br>
              <a:rPr lang="da-DK" sz="1400" b="0" dirty="0"/>
            </a:br>
            <a:r>
              <a:rPr lang="da-DK" sz="1400" b="0" dirty="0"/>
              <a:t>Kø/queue-strategi: ubegrænset </a:t>
            </a:r>
            <a:r>
              <a:rPr lang="da-DK" sz="1400" b="0" dirty="0" err="1"/>
              <a:t>vs</a:t>
            </a:r>
            <a:r>
              <a:rPr lang="da-DK" sz="1400" b="0" dirty="0"/>
              <a:t> begrænset kø</a:t>
            </a:r>
            <a:br>
              <a:rPr lang="da-DK" sz="1400" b="0" dirty="0"/>
            </a:br>
            <a:r>
              <a:rPr lang="da-DK" sz="1400" b="0" dirty="0"/>
              <a:t>Afvisningspolitik: hvad sker der når køen er fuld?</a:t>
            </a:r>
            <a:br>
              <a:rPr lang="da-DK" sz="1400" b="0" dirty="0"/>
            </a:br>
            <a:br>
              <a:rPr lang="da-DK" sz="1400" b="0" dirty="0"/>
            </a:br>
            <a:r>
              <a:rPr lang="da-DK" sz="1400" dirty="0"/>
              <a:t>6) Risiko for </a:t>
            </a:r>
            <a:r>
              <a:rPr lang="da-DK" sz="1400" dirty="0" err="1"/>
              <a:t>deadlocks</a:t>
            </a:r>
            <a:r>
              <a:rPr lang="da-DK" sz="1400" dirty="0"/>
              <a:t>, </a:t>
            </a:r>
            <a:r>
              <a:rPr lang="da-DK" sz="1400" dirty="0" err="1"/>
              <a:t>livelocks</a:t>
            </a:r>
            <a:r>
              <a:rPr lang="da-DK" sz="1400" dirty="0"/>
              <a:t> og </a:t>
            </a:r>
            <a:r>
              <a:rPr lang="da-DK" sz="1400" dirty="0" err="1"/>
              <a:t>starvation</a:t>
            </a:r>
            <a:br>
              <a:rPr lang="da-DK" sz="1400" b="0" dirty="0"/>
            </a:br>
            <a:br>
              <a:rPr lang="da-DK" sz="1400" b="0" dirty="0"/>
            </a:br>
            <a:r>
              <a:rPr lang="da-DK" sz="1400" b="0" dirty="0"/>
              <a:t>Låse tages i ensartet rækkefølge</a:t>
            </a:r>
            <a:br>
              <a:rPr lang="da-DK" sz="1400" b="0" dirty="0"/>
            </a:br>
            <a:r>
              <a:rPr lang="da-DK" sz="1400" b="0" dirty="0"/>
              <a:t>Minimér </a:t>
            </a:r>
            <a:r>
              <a:rPr lang="da-DK" sz="1400" b="0" dirty="0" err="1"/>
              <a:t>lock-holdetidUndgå</a:t>
            </a:r>
            <a:r>
              <a:rPr lang="da-DK" sz="1400" b="0" dirty="0"/>
              <a:t> at blokere mens du holder </a:t>
            </a:r>
            <a:r>
              <a:rPr lang="da-DK" sz="1400" b="0" dirty="0" err="1"/>
              <a:t>lock</a:t>
            </a:r>
            <a:r>
              <a:rPr lang="da-DK" sz="1400" b="0" dirty="0"/>
              <a:t>.</a:t>
            </a:r>
            <a:br>
              <a:rPr lang="da-DK" sz="1400" b="0" dirty="0"/>
            </a:br>
            <a:br>
              <a:rPr lang="da-DK" sz="1400" b="0" dirty="0"/>
            </a:br>
            <a:r>
              <a:rPr lang="da-DK" sz="1400" b="0" dirty="0"/>
              <a:t>Undgå afhængigheder mellem tasks i samme pool (klassisk </a:t>
            </a:r>
            <a:r>
              <a:rPr lang="da-DK" sz="1400" b="0" dirty="0" err="1"/>
              <a:t>deadlock</a:t>
            </a:r>
            <a:r>
              <a:rPr lang="da-DK" sz="1400" b="0" dirty="0"/>
              <a:t>: task A venter på task B, men alle </a:t>
            </a:r>
            <a:r>
              <a:rPr lang="da-DK" sz="1400" b="0" dirty="0" err="1"/>
              <a:t>workers</a:t>
            </a:r>
            <a:r>
              <a:rPr lang="da-DK" sz="1400" b="0" dirty="0"/>
              <a:t> er optaget)</a:t>
            </a:r>
            <a:br>
              <a:rPr lang="da-DK" sz="1400" b="0" dirty="0"/>
            </a:br>
            <a:br>
              <a:rPr lang="da-DK" sz="1400" b="0" dirty="0"/>
            </a:br>
            <a:r>
              <a:rPr lang="da-DK" sz="1400" dirty="0"/>
              <a:t>7) </a:t>
            </a:r>
            <a:r>
              <a:rPr lang="da-DK" sz="1400" dirty="0" err="1"/>
              <a:t>Observability</a:t>
            </a:r>
            <a:r>
              <a:rPr lang="da-DK" sz="1400" dirty="0"/>
              <a:t>: </a:t>
            </a:r>
            <a:r>
              <a:rPr lang="da-DK" sz="1400" dirty="0" err="1"/>
              <a:t>logging</a:t>
            </a:r>
            <a:r>
              <a:rPr lang="da-DK" sz="1400" dirty="0"/>
              <a:t> og måling</a:t>
            </a:r>
            <a:br>
              <a:rPr lang="da-DK" sz="1400" b="0" dirty="0"/>
            </a:br>
            <a:r>
              <a:rPr lang="da-DK" sz="1400" b="0" dirty="0"/>
              <a:t>Log per task (start, slut, fejl)</a:t>
            </a:r>
            <a:br>
              <a:rPr lang="da-DK" sz="1400" b="0" dirty="0"/>
            </a:br>
            <a:r>
              <a:rPr lang="da-DK" sz="1400" b="0" dirty="0"/>
              <a:t>Metrikker: queue-længde, aktivt antal </a:t>
            </a:r>
            <a:r>
              <a:rPr lang="da-DK" sz="1400" b="0" dirty="0" err="1"/>
              <a:t>workers</a:t>
            </a:r>
            <a:r>
              <a:rPr lang="da-DK" sz="1400" b="0" dirty="0"/>
              <a:t>, responstider, Identifikation (</a:t>
            </a:r>
            <a:r>
              <a:rPr lang="da-DK" sz="1400" b="0" dirty="0" err="1"/>
              <a:t>correlation</a:t>
            </a:r>
            <a:r>
              <a:rPr lang="da-DK" sz="1400" b="0" dirty="0"/>
              <a:t>-id) hvis tråde håndterer </a:t>
            </a:r>
            <a:r>
              <a:rPr lang="da-DK" sz="1400" b="0" dirty="0" err="1"/>
              <a:t>requests</a:t>
            </a:r>
            <a:br>
              <a:rPr lang="da-DK" sz="1400" b="0" dirty="0"/>
            </a:br>
            <a:br>
              <a:rPr lang="da-DK" sz="1400" b="0" dirty="0"/>
            </a:br>
            <a:r>
              <a:rPr lang="da-DK" sz="1400" dirty="0"/>
              <a:t>8) Sprog/runtime- og framework-krav (kort)</a:t>
            </a:r>
            <a:br>
              <a:rPr lang="da-DK" sz="1400" b="0" dirty="0"/>
            </a:br>
            <a:r>
              <a:rPr lang="da-DK" sz="1400" b="0" dirty="0"/>
              <a:t>Threads egner sig bedst til I/O-</a:t>
            </a:r>
            <a:r>
              <a:rPr lang="da-DK" sz="1400" b="0" dirty="0" err="1"/>
              <a:t>bound</a:t>
            </a:r>
            <a:r>
              <a:rPr lang="da-DK" sz="1400" b="0" dirty="0"/>
              <a:t> arbejde</a:t>
            </a:r>
            <a:br>
              <a:rPr lang="da-DK" sz="1400" b="0" dirty="0"/>
            </a:br>
            <a:r>
              <a:rPr lang="da-DK" sz="1400" b="0" dirty="0"/>
              <a:t>CPU-</a:t>
            </a:r>
            <a:r>
              <a:rPr lang="da-DK" sz="1400" b="0" dirty="0" err="1"/>
              <a:t>bound</a:t>
            </a:r>
            <a:r>
              <a:rPr lang="da-DK" sz="1400" b="0" dirty="0"/>
              <a:t> arbejde: ofte </a:t>
            </a:r>
            <a:r>
              <a:rPr lang="da-DK" sz="1400" b="0" dirty="0" err="1"/>
              <a:t>multiprocessing</a:t>
            </a:r>
            <a:r>
              <a:rPr lang="da-DK" sz="1400" b="0" dirty="0"/>
              <a:t> eller </a:t>
            </a:r>
            <a:r>
              <a:rPr lang="da-DK" sz="1400" b="0" dirty="0" err="1"/>
              <a:t>native</a:t>
            </a:r>
            <a:r>
              <a:rPr lang="da-DK" sz="1400" b="0" dirty="0"/>
              <a:t> extensions</a:t>
            </a:r>
            <a:br>
              <a:rPr lang="da-DK" sz="1400" b="0" dirty="0"/>
            </a:br>
            <a:r>
              <a:rPr lang="da-DK" sz="1400" b="0" dirty="0"/>
              <a:t>Flask: </a:t>
            </a:r>
            <a:r>
              <a:rPr lang="da-DK" sz="1400" b="0" dirty="0" err="1"/>
              <a:t>request</a:t>
            </a:r>
            <a:r>
              <a:rPr lang="da-DK" sz="1400" b="0" dirty="0"/>
              <a:t>-handling og global </a:t>
            </a:r>
            <a:r>
              <a:rPr lang="da-DK" sz="1400" b="0" dirty="0" err="1"/>
              <a:t>state</a:t>
            </a:r>
            <a:r>
              <a:rPr lang="da-DK" sz="1400" b="0" dirty="0"/>
              <a:t> kræver ekstra disciplin (</a:t>
            </a:r>
            <a:r>
              <a:rPr lang="da-DK" sz="1400" b="0" dirty="0" err="1"/>
              <a:t>trådsikkerhed</a:t>
            </a:r>
            <a:r>
              <a:rPr lang="da-DK" sz="1400" b="0" dirty="0"/>
              <a:t>, DB-sessions, caches). I server-miljøer:</a:t>
            </a:r>
            <a:br>
              <a:rPr lang="da-DK" sz="1400" b="0" dirty="0"/>
            </a:br>
            <a:r>
              <a:rPr lang="da-DK" sz="1400" b="0" dirty="0" err="1"/>
              <a:t>Webserveren</a:t>
            </a:r>
            <a:r>
              <a:rPr lang="da-DK" sz="1400" b="0" dirty="0"/>
              <a:t> (</a:t>
            </a:r>
            <a:r>
              <a:rPr lang="da-DK" sz="1400" b="0" dirty="0" err="1"/>
              <a:t>gunicorn</a:t>
            </a:r>
            <a:r>
              <a:rPr lang="da-DK" sz="1400" b="0" dirty="0"/>
              <a:t>/</a:t>
            </a:r>
            <a:r>
              <a:rPr lang="da-DK" sz="1400" b="0" dirty="0" err="1"/>
              <a:t>uwsgi</a:t>
            </a:r>
            <a:r>
              <a:rPr lang="da-DK" sz="1400" b="0" dirty="0"/>
              <a:t>) kan i forvejen bruge </a:t>
            </a:r>
            <a:r>
              <a:rPr lang="da-DK" sz="1400" b="0" dirty="0" err="1"/>
              <a:t>workers</a:t>
            </a:r>
            <a:r>
              <a:rPr lang="da-DK" sz="1400" b="0" dirty="0"/>
              <a:t>/</a:t>
            </a:r>
            <a:r>
              <a:rPr lang="da-DK" sz="1400" b="0" dirty="0" err="1"/>
              <a:t>threads</a:t>
            </a:r>
            <a:r>
              <a:rPr lang="da-DK" sz="1400" b="0" dirty="0"/>
              <a:t>; du skal undgå at “dobbelt-parallelisere” ukontrolleret</a:t>
            </a:r>
            <a:br>
              <a:rPr lang="da-DK" sz="1400" b="0" dirty="0"/>
            </a:br>
            <a:br>
              <a:rPr lang="da-DK" sz="1400" b="0" dirty="0"/>
            </a:br>
            <a:r>
              <a:rPr lang="da-DK" sz="1400" dirty="0"/>
              <a:t>9) Hvornår er en </a:t>
            </a:r>
            <a:r>
              <a:rPr lang="da-DK" sz="1400" dirty="0" err="1"/>
              <a:t>threadpool</a:t>
            </a:r>
            <a:r>
              <a:rPr lang="da-DK" sz="1400" dirty="0"/>
              <a:t> “nødvendig”?</a:t>
            </a:r>
            <a:br>
              <a:rPr lang="da-DK" sz="1400" b="0" dirty="0"/>
            </a:br>
            <a:r>
              <a:rPr lang="da-DK" sz="1400" b="0" dirty="0"/>
              <a:t>Du forventer mange samtidige opgaver over tid</a:t>
            </a:r>
            <a:br>
              <a:rPr lang="da-DK" sz="1400" b="0" dirty="0"/>
            </a:br>
            <a:r>
              <a:rPr lang="da-DK" sz="1400" b="0" dirty="0"/>
              <a:t>Opgaver kan komme hurtigere end de kan udføres</a:t>
            </a:r>
            <a:br>
              <a:rPr lang="da-DK" sz="1400" b="0" dirty="0"/>
            </a:br>
            <a:r>
              <a:rPr lang="da-DK" sz="1400" b="0" dirty="0"/>
              <a:t>Du vil have stabilt ressourceforbrug og undgå tråd-eksplosion</a:t>
            </a:r>
            <a:br>
              <a:rPr lang="da-DK" sz="1400" b="0" dirty="0"/>
            </a:br>
            <a:r>
              <a:rPr lang="da-DK" sz="1400" b="0" dirty="0"/>
              <a:t>Du har behov for timeouts, </a:t>
            </a:r>
            <a:r>
              <a:rPr lang="da-DK" sz="1400" b="0" dirty="0" err="1"/>
              <a:t>cancellation</a:t>
            </a:r>
            <a:r>
              <a:rPr lang="da-DK" sz="1400" b="0" dirty="0"/>
              <a:t> og robust fejlhåndtering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44A6615-0E7D-421B-EE89-100EB8FF9FB8}"/>
              </a:ext>
            </a:extLst>
          </p:cNvPr>
          <p:cNvSpPr txBox="1">
            <a:spLocks/>
          </p:cNvSpPr>
          <p:nvPr/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programmering II (tråde)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2CFDE412-7E7D-8040-BC29-BAD0130CB073}"/>
              </a:ext>
            </a:extLst>
          </p:cNvPr>
          <p:cNvSpPr txBox="1"/>
          <p:nvPr/>
        </p:nvSpPr>
        <p:spPr>
          <a:xfrm rot="1687591">
            <a:off x="9370619" y="606748"/>
            <a:ext cx="2720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dirty="0">
                <a:solidFill>
                  <a:srgbClr val="FF0000"/>
                </a:solidFill>
              </a:rPr>
              <a:t>Opsummering</a:t>
            </a:r>
          </a:p>
        </p:txBody>
      </p:sp>
    </p:spTree>
    <p:extLst>
      <p:ext uri="{BB962C8B-B14F-4D97-AF65-F5344CB8AC3E}">
        <p14:creationId xmlns:p14="http://schemas.microsoft.com/office/powerpoint/2010/main" val="37671109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AB7CD-3F9F-0C89-AE11-C58E074A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Parallel Programming III (tråde)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BD35259-EC5E-0509-3F3C-C585DA010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2696" y="1114769"/>
            <a:ext cx="4370962" cy="5554494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concurrent.futures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import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ThreadPoolExecutor</a:t>
            </a:r>
            <a:endParaRPr lang="da-DK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 time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 os</a:t>
            </a:r>
          </a:p>
          <a:p>
            <a:pPr marL="0" indent="0">
              <a:buNone/>
            </a:pPr>
            <a:endParaRPr lang="da-DK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work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seconds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):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print("PID:",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os.getpid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())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time.sleep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seconds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return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seconds</a:t>
            </a:r>
            <a:endParaRPr lang="da-DK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da-DK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if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__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name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__ == "__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main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__":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start =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time.time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pPr marL="0" indent="0">
              <a:buNone/>
            </a:pPr>
            <a:endParaRPr lang="da-DK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with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ThreadPoolExecutor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max_workers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=2) as executor: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list(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executor.map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work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[2, 2]))</a:t>
            </a:r>
          </a:p>
          <a:p>
            <a:pPr marL="0" indent="0">
              <a:buNone/>
            </a:pPr>
            <a:endParaRPr lang="da-DK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end =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time.time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pPr marL="0" indent="0">
              <a:buNone/>
            </a:pPr>
            <a:endParaRPr lang="da-DK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print("Resultater:",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print("Tid:", end - start)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08526306-BF0F-14AC-7578-1ADBE63B4B6A}"/>
              </a:ext>
            </a:extLst>
          </p:cNvPr>
          <p:cNvSpPr txBox="1"/>
          <p:nvPr/>
        </p:nvSpPr>
        <p:spPr>
          <a:xfrm>
            <a:off x="787400" y="1595863"/>
            <a:ext cx="4953000" cy="30469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da-DK" sz="1600" b="1" dirty="0"/>
              <a:t>Hvad der sker i Python</a:t>
            </a:r>
            <a:endParaRPr lang="da-DK" sz="1600" dirty="0"/>
          </a:p>
          <a:p>
            <a:r>
              <a:rPr lang="da-DK" sz="1600" dirty="0" err="1"/>
              <a:t>ThreadPoolExecutor</a:t>
            </a:r>
            <a:r>
              <a:rPr lang="da-DK" sz="1600" dirty="0"/>
              <a:t> starter flere tråde</a:t>
            </a:r>
          </a:p>
          <a:p>
            <a:r>
              <a:rPr lang="da-DK" sz="1600" dirty="0"/>
              <a:t>Trådene kører </a:t>
            </a:r>
            <a:r>
              <a:rPr lang="da-DK" sz="1600" dirty="0" err="1"/>
              <a:t>work</a:t>
            </a:r>
            <a:r>
              <a:rPr lang="da-DK" sz="1600" dirty="0"/>
              <a:t> samtidigt (</a:t>
            </a:r>
            <a:r>
              <a:rPr lang="da-DK" sz="1600" dirty="0" err="1"/>
              <a:t>concurrency</a:t>
            </a:r>
            <a:r>
              <a:rPr lang="da-DK" sz="1600" dirty="0"/>
              <a:t>) i samme proces</a:t>
            </a:r>
          </a:p>
          <a:p>
            <a:r>
              <a:rPr lang="da-DK" sz="1600" dirty="0"/>
              <a:t>To opgaver á 2 sekunder afsluttes på ca. 2 sekunder (ved ventetid/I/O)</a:t>
            </a:r>
          </a:p>
          <a:p>
            <a:r>
              <a:rPr lang="da-DK" sz="1600" dirty="0"/>
              <a:t>Tråde deler PID og hukommelse</a:t>
            </a:r>
          </a:p>
          <a:p>
            <a:r>
              <a:rPr lang="da-DK" sz="1600" b="1" dirty="0"/>
              <a:t>Hvornår bruger vi det?</a:t>
            </a:r>
            <a:endParaRPr lang="da-DK" sz="1600" dirty="0"/>
          </a:p>
          <a:p>
            <a:r>
              <a:rPr lang="da-DK" sz="1600" dirty="0"/>
              <a:t>I/O-</a:t>
            </a:r>
            <a:r>
              <a:rPr lang="da-DK" sz="1600" dirty="0" err="1"/>
              <a:t>bound</a:t>
            </a:r>
            <a:r>
              <a:rPr lang="da-DK" sz="1600" dirty="0"/>
              <a:t> opgaver (netværk, fil, database)</a:t>
            </a:r>
          </a:p>
          <a:p>
            <a:r>
              <a:rPr lang="da-DK" sz="1600" dirty="0"/>
              <a:t>Ventetid (f.eks. timeouts, </a:t>
            </a:r>
            <a:r>
              <a:rPr lang="da-DK" sz="1600" dirty="0" err="1"/>
              <a:t>polling</a:t>
            </a:r>
            <a:r>
              <a:rPr lang="da-DK" sz="1600" dirty="0"/>
              <a:t>)</a:t>
            </a:r>
          </a:p>
          <a:p>
            <a:r>
              <a:rPr lang="da-DK" sz="1600" dirty="0"/>
              <a:t>Mange små uafhængige opgaver, hvor CPU ikke er flaskehals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97F1608D-6D6B-4ADB-BA3E-7CDD32DFC21F}"/>
              </a:ext>
            </a:extLst>
          </p:cNvPr>
          <p:cNvSpPr txBox="1"/>
          <p:nvPr/>
        </p:nvSpPr>
        <p:spPr>
          <a:xfrm>
            <a:off x="8377347" y="677816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Eksempel 1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97A3459B-B5E7-FDF5-E701-1FE75C7725B2}"/>
              </a:ext>
            </a:extLst>
          </p:cNvPr>
          <p:cNvSpPr txBox="1"/>
          <p:nvPr/>
        </p:nvSpPr>
        <p:spPr>
          <a:xfrm>
            <a:off x="693603" y="6123543"/>
            <a:ext cx="6923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ThreadpoolExecutor</a:t>
            </a:r>
            <a:r>
              <a:rPr lang="da-DK" dirty="0">
                <a:solidFill>
                  <a:srgbClr val="FF0000"/>
                </a:solidFill>
              </a:rPr>
              <a:t> udføre arbejdet </a:t>
            </a:r>
            <a:r>
              <a:rPr lang="da-DK" dirty="0" err="1">
                <a:solidFill>
                  <a:srgbClr val="FF0000"/>
                </a:solidFill>
              </a:rPr>
              <a:t>enklerer</a:t>
            </a:r>
            <a:r>
              <a:rPr lang="da-DK" dirty="0">
                <a:solidFill>
                  <a:srgbClr val="FF0000"/>
                </a:solidFill>
              </a:rPr>
              <a:t> fra  tidligere eksempler</a:t>
            </a:r>
          </a:p>
        </p:txBody>
      </p:sp>
    </p:spTree>
    <p:extLst>
      <p:ext uri="{BB962C8B-B14F-4D97-AF65-F5344CB8AC3E}">
        <p14:creationId xmlns:p14="http://schemas.microsoft.com/office/powerpoint/2010/main" val="10422446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9998-922A-7A22-006B-2C5990BA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E60E62-67E6-E850-C063-3749A63F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Parallel Programming IV (CPU-</a:t>
            </a:r>
            <a:r>
              <a:rPr lang="da-DK" dirty="0" err="1"/>
              <a:t>bound</a:t>
            </a:r>
            <a:r>
              <a:rPr lang="da-DK" dirty="0"/>
              <a:t> </a:t>
            </a:r>
            <a:r>
              <a:rPr lang="da-DK" dirty="0" err="1"/>
              <a:t>process</a:t>
            </a:r>
            <a:r>
              <a:rPr lang="da-DK" dirty="0"/>
              <a:t>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825A306-6C81-22A2-07FB-A49EC7E62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2696" y="1114769"/>
            <a:ext cx="4370962" cy="5554494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concurrent.futures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import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ProcessPoolExecutor</a:t>
            </a:r>
            <a:endParaRPr lang="da-DK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 time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 os</a:t>
            </a:r>
          </a:p>
          <a:p>
            <a:pPr marL="0" indent="0">
              <a:buNone/>
            </a:pPr>
            <a:endParaRPr lang="da-DK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cpu_work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(n):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total = 0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for i in range(n):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total += (i * i) % 97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return (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os.getpid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(), total)</a:t>
            </a:r>
          </a:p>
          <a:p>
            <a:pPr marL="0" indent="0">
              <a:buNone/>
            </a:pPr>
            <a:endParaRPr lang="da-DK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if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__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name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__ == "__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main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__":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start =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time.time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pPr marL="0" indent="0">
              <a:buNone/>
            </a:pPr>
            <a:endParaRPr lang="da-DK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with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ProcessPoolExecutor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max_workers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=2) as executor: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list(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executor.map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cpu_work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[30_000_000, 30_000_000]))</a:t>
            </a:r>
          </a:p>
          <a:p>
            <a:pPr marL="0" indent="0">
              <a:buNone/>
            </a:pPr>
            <a:endParaRPr lang="da-DK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end = 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time.time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</a:t>
            </a:r>
            <a:r>
              <a:rPr lang="da-DK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</a:t>
            </a: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print("Tid:", end - start)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982E0F28-4CF4-B93A-F4DF-DA6D06E771F0}"/>
              </a:ext>
            </a:extLst>
          </p:cNvPr>
          <p:cNvSpPr txBox="1"/>
          <p:nvPr/>
        </p:nvSpPr>
        <p:spPr>
          <a:xfrm>
            <a:off x="960394" y="1762641"/>
            <a:ext cx="4953000" cy="2800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da-DK" sz="1600" b="1" dirty="0"/>
              <a:t>Hvad der sker i Python</a:t>
            </a:r>
            <a:endParaRPr lang="da-DK" sz="1600" dirty="0"/>
          </a:p>
          <a:p>
            <a:r>
              <a:rPr lang="da-DK" sz="1600" dirty="0" err="1"/>
              <a:t>ProcessPoolExecutor</a:t>
            </a:r>
            <a:r>
              <a:rPr lang="da-DK" sz="1600" dirty="0"/>
              <a:t> starter flere processer</a:t>
            </a:r>
          </a:p>
          <a:p>
            <a:r>
              <a:rPr lang="da-DK" sz="1600" dirty="0"/>
              <a:t>Hver proces har egen PID, egen interpreter og egen GIL</a:t>
            </a:r>
          </a:p>
          <a:p>
            <a:r>
              <a:rPr lang="da-DK" sz="1600" dirty="0"/>
              <a:t>Opgaver kan køre parallelt på flere CPU-kerner</a:t>
            </a:r>
          </a:p>
          <a:p>
            <a:r>
              <a:rPr lang="da-DK" sz="1600" dirty="0"/>
              <a:t>To CPU-opgaver kan afsluttes på ca. samme tid som én (hvis der er nok kerner og </a:t>
            </a:r>
            <a:r>
              <a:rPr lang="da-DK" sz="1600" dirty="0" err="1"/>
              <a:t>workers</a:t>
            </a:r>
            <a:r>
              <a:rPr lang="da-DK" sz="1600" dirty="0"/>
              <a:t>)</a:t>
            </a:r>
          </a:p>
          <a:p>
            <a:r>
              <a:rPr lang="da-DK" sz="1600" b="1" dirty="0"/>
              <a:t>Hvornår bruger vi det?</a:t>
            </a:r>
            <a:endParaRPr lang="da-DK" sz="1600" dirty="0"/>
          </a:p>
          <a:p>
            <a:r>
              <a:rPr lang="da-DK" sz="1600" dirty="0"/>
              <a:t>Beregninger</a:t>
            </a:r>
          </a:p>
          <a:p>
            <a:r>
              <a:rPr lang="da-DK" sz="1600" dirty="0" err="1"/>
              <a:t>Data-behandling</a:t>
            </a:r>
            <a:r>
              <a:rPr lang="da-DK" sz="1600" dirty="0"/>
              <a:t> (CPU-tung)</a:t>
            </a:r>
          </a:p>
          <a:p>
            <a:r>
              <a:rPr lang="da-DK" sz="1600" dirty="0"/>
              <a:t>Alt der primært bruger CPU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27FDDF64-4A03-78A0-7787-0B1E32834319}"/>
              </a:ext>
            </a:extLst>
          </p:cNvPr>
          <p:cNvSpPr txBox="1"/>
          <p:nvPr/>
        </p:nvSpPr>
        <p:spPr>
          <a:xfrm>
            <a:off x="10799534" y="806992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Eksempel 2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2461AF8F-1732-8068-0FA4-B7C70ABF75ED}"/>
              </a:ext>
            </a:extLst>
          </p:cNvPr>
          <p:cNvSpPr txBox="1"/>
          <p:nvPr/>
        </p:nvSpPr>
        <p:spPr>
          <a:xfrm>
            <a:off x="939113" y="5688923"/>
            <a:ext cx="649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ProcessPoolExecutor</a:t>
            </a:r>
            <a:r>
              <a:rPr lang="da-DK" dirty="0">
                <a:solidFill>
                  <a:srgbClr val="FF0000"/>
                </a:solidFill>
              </a:rPr>
              <a:t> er OS </a:t>
            </a:r>
            <a:r>
              <a:rPr lang="da-DK" dirty="0" err="1">
                <a:solidFill>
                  <a:srgbClr val="FF0000"/>
                </a:solidFill>
              </a:rPr>
              <a:t>uafhænging</a:t>
            </a:r>
            <a:r>
              <a:rPr lang="da-DK" dirty="0">
                <a:solidFill>
                  <a:srgbClr val="FF0000"/>
                </a:solidFill>
              </a:rPr>
              <a:t> og fungerer på </a:t>
            </a:r>
            <a:r>
              <a:rPr lang="da-DK" dirty="0" err="1">
                <a:solidFill>
                  <a:srgbClr val="FF0000"/>
                </a:solidFill>
              </a:rPr>
              <a:t>windows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898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64572-09C0-B4D3-0124-F29D91A7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Parallel </a:t>
            </a:r>
            <a:r>
              <a:rPr lang="da-DK" dirty="0" err="1"/>
              <a:t>Programering</a:t>
            </a:r>
            <a:r>
              <a:rPr lang="da-DK" dirty="0"/>
              <a:t> V (OS - processor)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4C9F4014-C68E-8FFD-6F6D-0AF17F27253B}"/>
              </a:ext>
            </a:extLst>
          </p:cNvPr>
          <p:cNvSpPr txBox="1"/>
          <p:nvPr/>
        </p:nvSpPr>
        <p:spPr>
          <a:xfrm>
            <a:off x="3744803" y="1505827"/>
            <a:ext cx="3160754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 os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 time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multiprocessing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import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worker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():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print("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Worker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PID:",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os.getpid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())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time.sleep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(3)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print("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Worker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færdig")</a:t>
            </a: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if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__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name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__ == "__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main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__":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print("Main PID:",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os.getpid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())</a:t>
            </a: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 =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target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worker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p.start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print("Main kører videre")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time.sleep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(1)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print("Main afslutter")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D598E7C6-ED93-B6A9-BF13-C78D0A6FBF64}"/>
              </a:ext>
            </a:extLst>
          </p:cNvPr>
          <p:cNvSpPr txBox="1"/>
          <p:nvPr/>
        </p:nvSpPr>
        <p:spPr>
          <a:xfrm>
            <a:off x="787400" y="1505827"/>
            <a:ext cx="2782651" cy="46782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da-DK" sz="1400" dirty="0"/>
              <a:t>Når Python anvender </a:t>
            </a:r>
            <a:r>
              <a:rPr lang="da-DK" sz="1400" dirty="0" err="1"/>
              <a:t>multiprocessing.Process</a:t>
            </a:r>
            <a:r>
              <a:rPr lang="da-DK" sz="1400" dirty="0"/>
              <a:t>:</a:t>
            </a:r>
          </a:p>
          <a:p>
            <a:r>
              <a:rPr lang="da-DK" sz="1400" dirty="0"/>
              <a:t>Der oprettes en </a:t>
            </a:r>
            <a:r>
              <a:rPr lang="da-DK" sz="1400" b="1" dirty="0"/>
              <a:t>ny OS-proces</a:t>
            </a:r>
            <a:endParaRPr lang="da-DK" sz="1400" dirty="0"/>
          </a:p>
          <a:p>
            <a:r>
              <a:rPr lang="da-DK" sz="1400" dirty="0"/>
              <a:t>Den nye proces får:</a:t>
            </a:r>
          </a:p>
          <a:p>
            <a:pPr lvl="1"/>
            <a:r>
              <a:rPr lang="da-DK" sz="1400" dirty="0"/>
              <a:t>eget </a:t>
            </a:r>
            <a:r>
              <a:rPr lang="da-DK" sz="1400" b="1" dirty="0"/>
              <a:t>PID</a:t>
            </a:r>
            <a:endParaRPr lang="da-DK" sz="1400" dirty="0"/>
          </a:p>
          <a:p>
            <a:pPr lvl="1"/>
            <a:r>
              <a:rPr lang="da-DK" sz="1400" dirty="0"/>
              <a:t>egen </a:t>
            </a:r>
            <a:r>
              <a:rPr lang="da-DK" sz="1400" b="1" dirty="0"/>
              <a:t>Python-interpreter</a:t>
            </a:r>
            <a:endParaRPr lang="da-DK" sz="1400" dirty="0"/>
          </a:p>
          <a:p>
            <a:pPr lvl="1"/>
            <a:r>
              <a:rPr lang="da-DK" sz="1400" dirty="0"/>
              <a:t>egen </a:t>
            </a:r>
            <a:r>
              <a:rPr lang="da-DK" sz="1400" b="1" dirty="0"/>
              <a:t>GIL</a:t>
            </a:r>
            <a:endParaRPr lang="da-DK" sz="1400" dirty="0"/>
          </a:p>
          <a:p>
            <a:pPr lvl="1"/>
            <a:r>
              <a:rPr lang="da-DK" sz="1400" dirty="0"/>
              <a:t>eget </a:t>
            </a:r>
            <a:r>
              <a:rPr lang="da-DK" sz="1400" b="1" dirty="0"/>
              <a:t>hukommelsesrum</a:t>
            </a:r>
            <a:endParaRPr lang="da-DK" sz="1400" dirty="0"/>
          </a:p>
          <a:p>
            <a:r>
              <a:rPr lang="da-DK" sz="1400" dirty="0"/>
              <a:t>Main-processen og </a:t>
            </a:r>
            <a:r>
              <a:rPr lang="da-DK" sz="1400" dirty="0" err="1"/>
              <a:t>worker</a:t>
            </a:r>
            <a:r>
              <a:rPr lang="da-DK" sz="1400" dirty="0"/>
              <a:t>-processen kan køre </a:t>
            </a:r>
            <a:r>
              <a:rPr lang="da-DK" sz="1400" b="1" dirty="0"/>
              <a:t>samtidigt</a:t>
            </a:r>
            <a:endParaRPr lang="da-DK" sz="1400" dirty="0"/>
          </a:p>
          <a:p>
            <a:r>
              <a:rPr lang="da-DK" sz="1400" dirty="0"/>
              <a:t>Samtidighed og parallelisme opnås via </a:t>
            </a:r>
            <a:r>
              <a:rPr lang="da-DK" sz="1400" b="1" dirty="0"/>
              <a:t>processer</a:t>
            </a:r>
            <a:r>
              <a:rPr lang="da-DK" sz="1400" dirty="0"/>
              <a:t>, ikke tråde</a:t>
            </a:r>
          </a:p>
          <a:p>
            <a:r>
              <a:rPr lang="da-DK" sz="1400" dirty="0"/>
              <a:t>Formålet med dette mønster er:</a:t>
            </a:r>
          </a:p>
          <a:p>
            <a:r>
              <a:rPr lang="da-DK" sz="1400" dirty="0"/>
              <a:t>at køre arbejde uafhængigt af hovedprocessen</a:t>
            </a:r>
          </a:p>
          <a:p>
            <a:r>
              <a:rPr lang="da-DK" sz="1400" dirty="0"/>
              <a:t>at omgå GIL ved CPU-tungt arbejde</a:t>
            </a:r>
          </a:p>
          <a:p>
            <a:r>
              <a:rPr lang="da-DK" sz="1400" dirty="0"/>
              <a:t>at udnytte flere CPU-kerner</a:t>
            </a:r>
          </a:p>
          <a:p>
            <a:r>
              <a:rPr lang="da-DK" sz="1400" dirty="0"/>
              <a:t>Dette er fundamentalt forskelligt fra tråde, som kører i samme proces og deler GIL</a:t>
            </a:r>
            <a:r>
              <a:rPr lang="da-DK" dirty="0"/>
              <a:t>.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DFAD6D53-4722-BAE0-A631-4FEE34008BF1}"/>
              </a:ext>
            </a:extLst>
          </p:cNvPr>
          <p:cNvSpPr txBox="1"/>
          <p:nvPr/>
        </p:nvSpPr>
        <p:spPr>
          <a:xfrm>
            <a:off x="7249537" y="1505827"/>
            <a:ext cx="4686300" cy="52629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 os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 time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multiprocessing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import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cpu_work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(n):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total = 0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for i in range(n):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total += (i * i) % 97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print("PID:",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os.getpid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(), "færdig")</a:t>
            </a: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if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__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name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__ == "__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main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__":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start =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time.time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processes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[]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for _ in range(2):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p =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target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cpu_work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args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=(30_000_000,))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p.start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processes.append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(p)</a:t>
            </a: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for p in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processes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p.join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da-DK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end = </a:t>
            </a:r>
            <a:r>
              <a:rPr lang="da-DK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time.time</a:t>
            </a:r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da-DK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print("Tid:", end - start)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D65A8435-9154-8F5B-DB4D-5826EC26E26D}"/>
              </a:ext>
            </a:extLst>
          </p:cNvPr>
          <p:cNvSpPr txBox="1"/>
          <p:nvPr/>
        </p:nvSpPr>
        <p:spPr>
          <a:xfrm>
            <a:off x="7171117" y="1227966"/>
            <a:ext cx="2044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Eksempel 5 (baggrund)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39995F88-CC05-E273-5CC2-525A5C9D6FC9}"/>
              </a:ext>
            </a:extLst>
          </p:cNvPr>
          <p:cNvSpPr txBox="1"/>
          <p:nvPr/>
        </p:nvSpPr>
        <p:spPr>
          <a:xfrm>
            <a:off x="3646461" y="1227966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Eksempel 4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18FC871A-09AC-48E8-E339-C156846A4C9E}"/>
              </a:ext>
            </a:extLst>
          </p:cNvPr>
          <p:cNvSpPr txBox="1"/>
          <p:nvPr/>
        </p:nvSpPr>
        <p:spPr>
          <a:xfrm>
            <a:off x="787400" y="6143181"/>
            <a:ext cx="6534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multiprocessing</a:t>
            </a:r>
            <a:r>
              <a:rPr lang="da-DK" dirty="0">
                <a:solidFill>
                  <a:srgbClr val="FF0000"/>
                </a:solidFill>
              </a:rPr>
              <a:t> er OS </a:t>
            </a:r>
            <a:r>
              <a:rPr lang="da-DK" dirty="0" err="1">
                <a:solidFill>
                  <a:srgbClr val="FF0000"/>
                </a:solidFill>
              </a:rPr>
              <a:t>uafhænging</a:t>
            </a:r>
            <a:r>
              <a:rPr lang="da-DK" dirty="0">
                <a:solidFill>
                  <a:srgbClr val="FF0000"/>
                </a:solidFill>
              </a:rPr>
              <a:t> og fungerer på </a:t>
            </a:r>
            <a:r>
              <a:rPr lang="da-DK" dirty="0" err="1">
                <a:solidFill>
                  <a:srgbClr val="FF0000"/>
                </a:solidFill>
              </a:rPr>
              <a:t>windows</a:t>
            </a:r>
            <a:r>
              <a:rPr lang="da-DK" dirty="0">
                <a:solidFill>
                  <a:srgbClr val="FF0000"/>
                </a:solidFill>
              </a:rPr>
              <a:t> i stedet for fork</a:t>
            </a:r>
          </a:p>
        </p:txBody>
      </p:sp>
    </p:spTree>
    <p:extLst>
      <p:ext uri="{BB962C8B-B14F-4D97-AF65-F5344CB8AC3E}">
        <p14:creationId xmlns:p14="http://schemas.microsoft.com/office/powerpoint/2010/main" val="25433734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CD49DE-7D6E-734F-CFEA-0077ADBC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Input validering (SQL </a:t>
            </a:r>
            <a:r>
              <a:rPr lang="da-DK" dirty="0" err="1"/>
              <a:t>Injection</a:t>
            </a:r>
            <a:r>
              <a:rPr lang="da-DK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C798C9-D6E7-3E3D-78A7-03621D0284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1848180"/>
            <a:ext cx="527195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SQL-kommentarer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--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/* ... */</a:t>
            </a:r>
            <a:endParaRPr kumimoji="0" lang="da-DK" altLang="da-D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Quote</a:t>
            </a: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og operator-mønstre: 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sammen med 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AND</a:t>
            </a:r>
            <a:endParaRPr kumimoji="0" lang="da-DK" altLang="da-D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Klassiske </a:t>
            </a:r>
            <a:r>
              <a:rPr kumimoji="0" lang="da-DK" altLang="da-DK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payloads</a:t>
            </a:r>
            <a:r>
              <a:rPr kumimoji="0" lang="da-DK" altLang="da-D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 1=1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UNION SELECT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da-DK" altLang="da-D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DROP TABLE</a:t>
            </a:r>
            <a:endParaRPr kumimoji="0" lang="da-DK" altLang="da-DK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666F81ED-C520-A5C5-8553-10DB07744E38}"/>
              </a:ext>
            </a:extLst>
          </p:cNvPr>
          <p:cNvSpPr txBox="1"/>
          <p:nvPr/>
        </p:nvSpPr>
        <p:spPr>
          <a:xfrm>
            <a:off x="3801533" y="3035069"/>
            <a:ext cx="7950200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sql</a:t>
            </a:r>
            <a:r>
              <a:rPr lang="en-US" dirty="0"/>
              <a:t> = </a:t>
            </a:r>
            <a:r>
              <a:rPr lang="en-US" dirty="0" err="1"/>
              <a:t>f"SELECT</a:t>
            </a:r>
            <a:r>
              <a:rPr lang="en-US" dirty="0"/>
              <a:t> * FROM users WHERE username = '{username}'"</a:t>
            </a:r>
          </a:p>
          <a:p>
            <a:r>
              <a:rPr lang="en-US" dirty="0" err="1"/>
              <a:t>cur.execute</a:t>
            </a:r>
            <a:r>
              <a:rPr lang="en-US" dirty="0"/>
              <a:t>(</a:t>
            </a:r>
            <a:r>
              <a:rPr lang="en-US" dirty="0" err="1"/>
              <a:t>sql</a:t>
            </a:r>
            <a:r>
              <a:rPr lang="en-US" dirty="0"/>
              <a:t>)</a:t>
            </a:r>
            <a:endParaRPr lang="da-DK" dirty="0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AA443A2C-EBFB-31DE-8C04-92B0126B5035}"/>
              </a:ext>
            </a:extLst>
          </p:cNvPr>
          <p:cNvSpPr txBox="1"/>
          <p:nvPr/>
        </p:nvSpPr>
        <p:spPr>
          <a:xfrm>
            <a:off x="2260599" y="4112184"/>
            <a:ext cx="849206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da-DK" dirty="0" err="1"/>
              <a:t>cur.execute</a:t>
            </a:r>
            <a:r>
              <a:rPr lang="da-DK" dirty="0"/>
              <a:t>("SELECT * FROM users WHERE </a:t>
            </a:r>
            <a:r>
              <a:rPr lang="da-DK" dirty="0" err="1"/>
              <a:t>username</a:t>
            </a:r>
            <a:r>
              <a:rPr lang="da-DK" dirty="0"/>
              <a:t> = %s", (</a:t>
            </a:r>
            <a:r>
              <a:rPr lang="da-DK" dirty="0" err="1"/>
              <a:t>username</a:t>
            </a:r>
            <a:r>
              <a:rPr lang="da-DK" dirty="0"/>
              <a:t>,))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AB13696F-8E85-EE97-551B-7260001A7613}"/>
              </a:ext>
            </a:extLst>
          </p:cNvPr>
          <p:cNvSpPr txBox="1"/>
          <p:nvPr/>
        </p:nvSpPr>
        <p:spPr>
          <a:xfrm>
            <a:off x="2260599" y="4912300"/>
            <a:ext cx="6096000" cy="16004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400" b="1" dirty="0"/>
              <a:t>Forklaring:</a:t>
            </a:r>
            <a:endParaRPr lang="da-DK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latin typeface="Courier New" panose="02070309020205020404" pitchFamily="49" charset="0"/>
              </a:rPr>
              <a:t>%s</a:t>
            </a:r>
            <a:r>
              <a:rPr lang="da-DK" sz="1400" dirty="0"/>
              <a:t> er en </a:t>
            </a:r>
            <a:r>
              <a:rPr lang="da-DK" sz="1400" b="1" dirty="0"/>
              <a:t>pladsholder</a:t>
            </a:r>
            <a:r>
              <a:rPr lang="da-DK" sz="1400" dirty="0"/>
              <a:t> – ikke tekstsubstitution.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 err="1">
                <a:latin typeface="Courier New" panose="02070309020205020404" pitchFamily="49" charset="0"/>
              </a:rPr>
              <a:t>username</a:t>
            </a:r>
            <a:r>
              <a:rPr lang="da-DK" sz="1400" dirty="0"/>
              <a:t> sendes </a:t>
            </a:r>
            <a:r>
              <a:rPr lang="da-DK" sz="1400" b="1" dirty="0"/>
              <a:t>separat</a:t>
            </a:r>
            <a:r>
              <a:rPr lang="da-DK" sz="1400" dirty="0"/>
              <a:t> til databasen som </a:t>
            </a:r>
            <a:r>
              <a:rPr lang="da-DK" sz="1400" b="1" dirty="0"/>
              <a:t>data</a:t>
            </a:r>
            <a:r>
              <a:rPr lang="da-DK" sz="1400" dirty="0"/>
              <a:t>, ikke som SQL.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 err="1"/>
              <a:t>PostgreSQL</a:t>
            </a:r>
            <a:r>
              <a:rPr lang="da-DK" sz="1400" dirty="0"/>
              <a:t> parser SQL-sætningen først og </a:t>
            </a:r>
            <a:r>
              <a:rPr lang="da-DK" sz="1400" b="1" dirty="0"/>
              <a:t>indsætter derefter værdien sikkert</a:t>
            </a:r>
            <a:r>
              <a:rPr lang="da-DK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/>
              <a:t>Input som </a:t>
            </a:r>
            <a:r>
              <a:rPr lang="da-DK" sz="1400" dirty="0">
                <a:latin typeface="Courier New" panose="02070309020205020404" pitchFamily="49" charset="0"/>
              </a:rPr>
              <a:t>"' OR 1=1 --"</a:t>
            </a:r>
            <a:r>
              <a:rPr lang="da-DK" sz="1400" dirty="0"/>
              <a:t> behandles som en almindelig streng og </a:t>
            </a:r>
            <a:r>
              <a:rPr lang="da-DK" sz="1400" b="1" dirty="0"/>
              <a:t>kan ikke ændre WHERE-betingelsen</a:t>
            </a:r>
            <a:r>
              <a:rPr lang="da-DK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22797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2AC32-112C-9FC1-2CFF-5CA41BC8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308AB8-2559-9EAD-671E-FB251923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Exception</a:t>
            </a:r>
            <a:r>
              <a:rPr lang="da-DK" dirty="0"/>
              <a:t> Handling I 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CEA8D5BD-1394-52A9-A546-825D6A5790A1}"/>
              </a:ext>
            </a:extLst>
          </p:cNvPr>
          <p:cNvSpPr txBox="1"/>
          <p:nvPr/>
        </p:nvSpPr>
        <p:spPr>
          <a:xfrm>
            <a:off x="1820333" y="1564992"/>
            <a:ext cx="3268133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value = input("</a:t>
            </a:r>
            <a:r>
              <a:rPr lang="en-US" dirty="0" err="1"/>
              <a:t>Indtast</a:t>
            </a:r>
            <a:r>
              <a:rPr lang="en-US" dirty="0"/>
              <a:t> et </a:t>
            </a:r>
            <a:r>
              <a:rPr lang="en-US" dirty="0" err="1"/>
              <a:t>tal</a:t>
            </a:r>
            <a:r>
              <a:rPr lang="en-US" dirty="0"/>
              <a:t>: ")</a:t>
            </a:r>
          </a:p>
          <a:p>
            <a:r>
              <a:rPr lang="en-US" dirty="0"/>
              <a:t>number = float(value)</a:t>
            </a:r>
          </a:p>
          <a:p>
            <a:r>
              <a:rPr lang="en-US" dirty="0"/>
              <a:t>result = 10 / number</a:t>
            </a:r>
          </a:p>
          <a:p>
            <a:r>
              <a:rPr lang="en-US" dirty="0"/>
              <a:t>print(result)</a:t>
            </a: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AB9EBC8-643C-EDE8-515E-8D06946A30A2}"/>
              </a:ext>
            </a:extLst>
          </p:cNvPr>
          <p:cNvSpPr txBox="1"/>
          <p:nvPr/>
        </p:nvSpPr>
        <p:spPr>
          <a:xfrm>
            <a:off x="1916033" y="2787039"/>
            <a:ext cx="2922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Hvor mange fejl kan vi få i denne kode ?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2EBA6581-EA01-7633-062F-02E9675D3A3A}"/>
              </a:ext>
            </a:extLst>
          </p:cNvPr>
          <p:cNvSpPr txBox="1"/>
          <p:nvPr/>
        </p:nvSpPr>
        <p:spPr>
          <a:xfrm>
            <a:off x="816478" y="4388074"/>
            <a:ext cx="4792133" cy="2246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da-DK" sz="1400" dirty="0" err="1"/>
              <a:t>value</a:t>
            </a:r>
            <a:r>
              <a:rPr lang="da-DK" sz="1400" dirty="0"/>
              <a:t> = input("Indtast et tal: ")</a:t>
            </a:r>
          </a:p>
          <a:p>
            <a:endParaRPr lang="da-DK" sz="1400" dirty="0"/>
          </a:p>
          <a:p>
            <a:r>
              <a:rPr lang="da-DK" sz="1400" dirty="0" err="1"/>
              <a:t>if</a:t>
            </a:r>
            <a:r>
              <a:rPr lang="da-DK" sz="1400" dirty="0"/>
              <a:t> not </a:t>
            </a:r>
            <a:r>
              <a:rPr lang="da-DK" sz="1400" dirty="0" err="1"/>
              <a:t>value.replace</a:t>
            </a:r>
            <a:r>
              <a:rPr lang="da-DK" sz="1400" dirty="0"/>
              <a:t>(".", "", 1).</a:t>
            </a:r>
            <a:r>
              <a:rPr lang="da-DK" sz="1400" dirty="0" err="1"/>
              <a:t>isdigit</a:t>
            </a:r>
            <a:r>
              <a:rPr lang="da-DK" sz="1400" dirty="0"/>
              <a:t>():</a:t>
            </a:r>
          </a:p>
          <a:p>
            <a:r>
              <a:rPr lang="da-DK" sz="1400" dirty="0"/>
              <a:t>    print("Fejl: input er ikke et tal")</a:t>
            </a:r>
          </a:p>
          <a:p>
            <a:r>
              <a:rPr lang="da-DK" sz="1400" dirty="0" err="1"/>
              <a:t>else</a:t>
            </a:r>
            <a:r>
              <a:rPr lang="da-DK" sz="1400" dirty="0"/>
              <a:t>:</a:t>
            </a:r>
          </a:p>
          <a:p>
            <a:r>
              <a:rPr lang="da-DK" sz="1400" dirty="0"/>
              <a:t>    </a:t>
            </a:r>
            <a:r>
              <a:rPr lang="da-DK" sz="1400" dirty="0" err="1"/>
              <a:t>number</a:t>
            </a:r>
            <a:r>
              <a:rPr lang="da-DK" sz="1400" dirty="0"/>
              <a:t> = </a:t>
            </a:r>
            <a:r>
              <a:rPr lang="da-DK" sz="1400" dirty="0" err="1"/>
              <a:t>float</a:t>
            </a:r>
            <a:r>
              <a:rPr lang="da-DK" sz="1400" dirty="0"/>
              <a:t>(</a:t>
            </a:r>
            <a:r>
              <a:rPr lang="da-DK" sz="1400" dirty="0" err="1"/>
              <a:t>value</a:t>
            </a:r>
            <a:r>
              <a:rPr lang="da-DK" sz="1400" dirty="0"/>
              <a:t>)</a:t>
            </a:r>
          </a:p>
          <a:p>
            <a:r>
              <a:rPr lang="da-DK" sz="1400" dirty="0"/>
              <a:t>    </a:t>
            </a:r>
            <a:r>
              <a:rPr lang="da-DK" sz="1400" dirty="0" err="1"/>
              <a:t>if</a:t>
            </a:r>
            <a:r>
              <a:rPr lang="da-DK" sz="1400" dirty="0"/>
              <a:t> </a:t>
            </a:r>
            <a:r>
              <a:rPr lang="da-DK" sz="1400" dirty="0" err="1"/>
              <a:t>number</a:t>
            </a:r>
            <a:r>
              <a:rPr lang="da-DK" sz="1400" dirty="0"/>
              <a:t> == 0:</a:t>
            </a:r>
          </a:p>
          <a:p>
            <a:r>
              <a:rPr lang="da-DK" sz="1400" dirty="0"/>
              <a:t>        print("Fejl: division med nul")</a:t>
            </a:r>
          </a:p>
          <a:p>
            <a:r>
              <a:rPr lang="da-DK" sz="1400" dirty="0"/>
              <a:t>    </a:t>
            </a:r>
            <a:r>
              <a:rPr lang="da-DK" sz="1400" dirty="0" err="1"/>
              <a:t>else</a:t>
            </a:r>
            <a:r>
              <a:rPr lang="da-DK" sz="1400" dirty="0"/>
              <a:t>:</a:t>
            </a:r>
          </a:p>
          <a:p>
            <a:r>
              <a:rPr lang="da-DK" sz="1400" dirty="0"/>
              <a:t>        print(10 / </a:t>
            </a:r>
            <a:r>
              <a:rPr lang="da-DK" sz="1400" dirty="0" err="1"/>
              <a:t>number</a:t>
            </a:r>
            <a:r>
              <a:rPr lang="da-DK" sz="1400" dirty="0"/>
              <a:t>)</a:t>
            </a:r>
          </a:p>
        </p:txBody>
      </p:sp>
      <p:sp>
        <p:nvSpPr>
          <p:cNvPr id="17" name="Tekstfelt 16">
            <a:extLst>
              <a:ext uri="{FF2B5EF4-FFF2-40B4-BE49-F238E27FC236}">
                <a16:creationId xmlns:a16="http://schemas.microsoft.com/office/drawing/2014/main" id="{ACC29845-D942-ACF4-16AD-012D3F3260AB}"/>
              </a:ext>
            </a:extLst>
          </p:cNvPr>
          <p:cNvSpPr txBox="1"/>
          <p:nvPr/>
        </p:nvSpPr>
        <p:spPr>
          <a:xfrm>
            <a:off x="6142012" y="4388074"/>
            <a:ext cx="4792133" cy="2246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da-DK" sz="1400" dirty="0" err="1"/>
              <a:t>try</a:t>
            </a:r>
            <a:r>
              <a:rPr lang="da-DK" sz="1400" dirty="0"/>
              <a:t>:</a:t>
            </a:r>
          </a:p>
          <a:p>
            <a:r>
              <a:rPr lang="da-DK" sz="1400" dirty="0"/>
              <a:t>    </a:t>
            </a:r>
            <a:r>
              <a:rPr lang="da-DK" sz="1400" dirty="0" err="1"/>
              <a:t>value</a:t>
            </a:r>
            <a:r>
              <a:rPr lang="da-DK" sz="1400" dirty="0"/>
              <a:t> = input("Indtast et tal: ")</a:t>
            </a:r>
          </a:p>
          <a:p>
            <a:r>
              <a:rPr lang="da-DK" sz="1400" dirty="0"/>
              <a:t>    </a:t>
            </a:r>
            <a:r>
              <a:rPr lang="da-DK" sz="1400" dirty="0" err="1"/>
              <a:t>number</a:t>
            </a:r>
            <a:r>
              <a:rPr lang="da-DK" sz="1400" dirty="0"/>
              <a:t> = </a:t>
            </a:r>
            <a:r>
              <a:rPr lang="da-DK" sz="1400" dirty="0" err="1"/>
              <a:t>float</a:t>
            </a:r>
            <a:r>
              <a:rPr lang="da-DK" sz="1400" dirty="0"/>
              <a:t>(</a:t>
            </a:r>
            <a:r>
              <a:rPr lang="da-DK" sz="1400" dirty="0" err="1"/>
              <a:t>value</a:t>
            </a:r>
            <a:r>
              <a:rPr lang="da-DK" sz="1400" dirty="0"/>
              <a:t>)</a:t>
            </a:r>
          </a:p>
          <a:p>
            <a:r>
              <a:rPr lang="da-DK" sz="1400" dirty="0"/>
              <a:t>    print(10 / </a:t>
            </a:r>
            <a:r>
              <a:rPr lang="da-DK" sz="1400" dirty="0" err="1"/>
              <a:t>number</a:t>
            </a:r>
            <a:r>
              <a:rPr lang="da-DK" sz="1400" dirty="0"/>
              <a:t>)</a:t>
            </a:r>
          </a:p>
          <a:p>
            <a:r>
              <a:rPr lang="da-DK" sz="1400" dirty="0" err="1"/>
              <a:t>except</a:t>
            </a:r>
            <a:r>
              <a:rPr lang="da-DK" sz="1400" dirty="0"/>
              <a:t> </a:t>
            </a:r>
            <a:r>
              <a:rPr lang="da-DK" sz="1400" dirty="0" err="1"/>
              <a:t>ValueError</a:t>
            </a:r>
            <a:r>
              <a:rPr lang="da-DK" sz="1400" dirty="0"/>
              <a:t>:</a:t>
            </a:r>
          </a:p>
          <a:p>
            <a:r>
              <a:rPr lang="da-DK" sz="1400" dirty="0"/>
              <a:t>    print("Fejl: input er ikke et tal")</a:t>
            </a:r>
          </a:p>
          <a:p>
            <a:r>
              <a:rPr lang="da-DK" sz="1400" dirty="0" err="1"/>
              <a:t>except</a:t>
            </a:r>
            <a:r>
              <a:rPr lang="da-DK" sz="1400" dirty="0"/>
              <a:t> </a:t>
            </a:r>
            <a:r>
              <a:rPr lang="da-DK" sz="1400" dirty="0" err="1"/>
              <a:t>ZeroDivisionError</a:t>
            </a:r>
            <a:r>
              <a:rPr lang="da-DK" sz="1400" dirty="0"/>
              <a:t>:</a:t>
            </a:r>
          </a:p>
          <a:p>
            <a:r>
              <a:rPr lang="da-DK" sz="1400" dirty="0"/>
              <a:t>    print("Fejl: division med nul")</a:t>
            </a:r>
          </a:p>
          <a:p>
            <a:endParaRPr lang="da-DK" sz="1400" dirty="0"/>
          </a:p>
          <a:p>
            <a:endParaRPr lang="da-DK" sz="1400" dirty="0"/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3F20D1B3-341C-90DB-BB2A-FC2250DABF03}"/>
              </a:ext>
            </a:extLst>
          </p:cNvPr>
          <p:cNvSpPr txBox="1"/>
          <p:nvPr/>
        </p:nvSpPr>
        <p:spPr>
          <a:xfrm>
            <a:off x="743712" y="4042593"/>
            <a:ext cx="1316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 dirty="0" err="1">
                <a:solidFill>
                  <a:schemeClr val="bg1"/>
                </a:solidFill>
              </a:rPr>
              <a:t>Pre</a:t>
            </a:r>
            <a:r>
              <a:rPr lang="da-DK" sz="1400" b="1" dirty="0">
                <a:solidFill>
                  <a:schemeClr val="bg1"/>
                </a:solidFill>
              </a:rPr>
              <a:t> </a:t>
            </a:r>
            <a:r>
              <a:rPr lang="da-DK" sz="1400" b="1" dirty="0" err="1">
                <a:solidFill>
                  <a:schemeClr val="bg1"/>
                </a:solidFill>
              </a:rPr>
              <a:t>Validation</a:t>
            </a:r>
            <a:endParaRPr lang="da-DK" sz="1400" b="1" dirty="0">
              <a:solidFill>
                <a:schemeClr val="bg1"/>
              </a:solidFill>
            </a:endParaRPr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D0BB621F-CBFE-5545-5B57-52B14F01FD55}"/>
              </a:ext>
            </a:extLst>
          </p:cNvPr>
          <p:cNvSpPr txBox="1"/>
          <p:nvPr/>
        </p:nvSpPr>
        <p:spPr>
          <a:xfrm>
            <a:off x="6142012" y="4018742"/>
            <a:ext cx="14072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 dirty="0">
                <a:solidFill>
                  <a:schemeClr val="bg1"/>
                </a:solidFill>
              </a:rPr>
              <a:t>Post </a:t>
            </a:r>
            <a:r>
              <a:rPr lang="da-DK" sz="1400" b="1" dirty="0" err="1">
                <a:solidFill>
                  <a:schemeClr val="bg1"/>
                </a:solidFill>
              </a:rPr>
              <a:t>Validation</a:t>
            </a:r>
            <a:endParaRPr lang="da-DK" sz="1400" b="1" dirty="0">
              <a:solidFill>
                <a:schemeClr val="bg1"/>
              </a:solidFill>
            </a:endParaRP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8511F7EA-08D5-5C84-0618-D9C1EA0489E2}"/>
              </a:ext>
            </a:extLst>
          </p:cNvPr>
          <p:cNvSpPr txBox="1"/>
          <p:nvPr/>
        </p:nvSpPr>
        <p:spPr>
          <a:xfrm>
            <a:off x="6142012" y="848644"/>
            <a:ext cx="4884158" cy="31085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 b="1" dirty="0" err="1"/>
              <a:t>Pre-validation</a:t>
            </a:r>
            <a:r>
              <a:rPr lang="da-DK" sz="1400" b="1" dirty="0"/>
              <a:t> (input-validering før handling)</a:t>
            </a:r>
          </a:p>
          <a:p>
            <a:r>
              <a:rPr lang="da-DK" sz="1400" dirty="0"/>
              <a:t>Validering sker </a:t>
            </a:r>
            <a:r>
              <a:rPr lang="da-DK" sz="1400" b="1" dirty="0"/>
              <a:t>før</a:t>
            </a:r>
            <a:r>
              <a:rPr lang="da-DK" sz="1400" dirty="0"/>
              <a:t> beregning eller konvertering.</a:t>
            </a:r>
          </a:p>
          <a:p>
            <a:r>
              <a:rPr lang="da-DK" sz="1400" b="1" dirty="0"/>
              <a:t>Karakteristika:</a:t>
            </a:r>
            <a:endParaRPr lang="da-DK" sz="1400" dirty="0"/>
          </a:p>
          <a:p>
            <a:r>
              <a:rPr lang="da-DK" sz="1400" dirty="0"/>
              <a:t>Tjekker format og forudsætninger eksplicit</a:t>
            </a:r>
          </a:p>
          <a:p>
            <a:r>
              <a:rPr lang="da-DK" sz="1400" dirty="0"/>
              <a:t>Forhindrer at fejl opstår</a:t>
            </a:r>
          </a:p>
          <a:p>
            <a:r>
              <a:rPr lang="da-DK" sz="1400" dirty="0"/>
              <a:t>Kræver flere regler og mere kode</a:t>
            </a:r>
          </a:p>
          <a:p>
            <a:endParaRPr lang="da-DK" sz="1400" dirty="0"/>
          </a:p>
          <a:p>
            <a:r>
              <a:rPr lang="da-DK" sz="1400" b="1" dirty="0"/>
              <a:t>Post-</a:t>
            </a:r>
            <a:r>
              <a:rPr lang="da-DK" sz="1400" b="1" dirty="0" err="1"/>
              <a:t>validation</a:t>
            </a:r>
            <a:r>
              <a:rPr lang="da-DK" sz="1400" b="1" dirty="0"/>
              <a:t> (</a:t>
            </a:r>
            <a:r>
              <a:rPr lang="da-DK" sz="1400" b="1" dirty="0" err="1"/>
              <a:t>exception</a:t>
            </a:r>
            <a:r>
              <a:rPr lang="da-DK" sz="1400" b="1" dirty="0"/>
              <a:t>-baseret)</a:t>
            </a:r>
          </a:p>
          <a:p>
            <a:r>
              <a:rPr lang="da-DK" sz="1400" dirty="0"/>
              <a:t>Validering sker </a:t>
            </a:r>
            <a:r>
              <a:rPr lang="da-DK" sz="1400" b="1" dirty="0"/>
              <a:t>efter handlingen forsøges</a:t>
            </a:r>
            <a:r>
              <a:rPr lang="da-DK" sz="1400" dirty="0"/>
              <a:t>, via </a:t>
            </a:r>
            <a:r>
              <a:rPr lang="da-DK" sz="1400" dirty="0" err="1"/>
              <a:t>exceptions</a:t>
            </a:r>
            <a:r>
              <a:rPr lang="da-DK" sz="1400" dirty="0"/>
              <a:t>.</a:t>
            </a:r>
          </a:p>
          <a:p>
            <a:r>
              <a:rPr lang="da-DK" sz="1400" b="1" dirty="0"/>
              <a:t>Karakteristika:</a:t>
            </a:r>
            <a:endParaRPr lang="da-DK" sz="1400" dirty="0"/>
          </a:p>
          <a:p>
            <a:r>
              <a:rPr lang="da-DK" sz="1400" dirty="0"/>
              <a:t>Antager korrekt input</a:t>
            </a:r>
          </a:p>
          <a:p>
            <a:r>
              <a:rPr lang="da-DK" sz="1400" dirty="0"/>
              <a:t>Reagerer kun hvis noget går galt</a:t>
            </a:r>
          </a:p>
          <a:p>
            <a:r>
              <a:rPr lang="da-DK" sz="1400" dirty="0"/>
              <a:t>Mindre kode, mere robust</a:t>
            </a:r>
          </a:p>
          <a:p>
            <a:r>
              <a:rPr lang="da-DK" sz="1400" dirty="0"/>
              <a:t>Foretrukken strategi i Python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27DA29E9-7142-3631-82B1-55ED30B8D85D}"/>
              </a:ext>
            </a:extLst>
          </p:cNvPr>
          <p:cNvSpPr txBox="1"/>
          <p:nvPr/>
        </p:nvSpPr>
        <p:spPr>
          <a:xfrm>
            <a:off x="6096000" y="479312"/>
            <a:ext cx="1071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 dirty="0"/>
              <a:t>Strategier </a:t>
            </a:r>
          </a:p>
        </p:txBody>
      </p:sp>
    </p:spTree>
    <p:extLst>
      <p:ext uri="{BB962C8B-B14F-4D97-AF65-F5344CB8AC3E}">
        <p14:creationId xmlns:p14="http://schemas.microsoft.com/office/powerpoint/2010/main" val="15627498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5BB381-FB6B-FDE4-339C-5CC3593E5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Exception</a:t>
            </a:r>
            <a:r>
              <a:rPr lang="da-DK" dirty="0"/>
              <a:t> Handling II 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289EA3D3-5329-7628-AF93-195500F105F6}"/>
              </a:ext>
            </a:extLst>
          </p:cNvPr>
          <p:cNvSpPr txBox="1"/>
          <p:nvPr/>
        </p:nvSpPr>
        <p:spPr>
          <a:xfrm>
            <a:off x="6764072" y="1987612"/>
            <a:ext cx="5283200" cy="40318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da-DK" sz="1600" dirty="0"/>
              <a:t>import psycopg2</a:t>
            </a:r>
          </a:p>
          <a:p>
            <a:endParaRPr lang="da-DK" sz="1600" dirty="0"/>
          </a:p>
          <a:p>
            <a:r>
              <a:rPr lang="da-DK" sz="1600" dirty="0"/>
              <a:t>def </a:t>
            </a:r>
            <a:r>
              <a:rPr lang="da-DK" sz="1600" dirty="0" err="1"/>
              <a:t>get_user_by_username</a:t>
            </a:r>
            <a:r>
              <a:rPr lang="da-DK" sz="1600" dirty="0"/>
              <a:t>(</a:t>
            </a:r>
            <a:r>
              <a:rPr lang="da-DK" sz="1600" dirty="0" err="1"/>
              <a:t>conn</a:t>
            </a:r>
            <a:r>
              <a:rPr lang="da-DK" sz="1600" dirty="0"/>
              <a:t>, </a:t>
            </a:r>
            <a:r>
              <a:rPr lang="da-DK" sz="1600" dirty="0" err="1"/>
              <a:t>username</a:t>
            </a:r>
            <a:r>
              <a:rPr lang="da-DK" sz="1600" dirty="0"/>
              <a:t>):</a:t>
            </a:r>
          </a:p>
          <a:p>
            <a:r>
              <a:rPr lang="da-DK" sz="1600" dirty="0"/>
              <a:t>    </a:t>
            </a:r>
            <a:r>
              <a:rPr lang="da-DK" sz="1600" dirty="0" err="1"/>
              <a:t>try</a:t>
            </a:r>
            <a:r>
              <a:rPr lang="da-DK" sz="1600" dirty="0"/>
              <a:t>:</a:t>
            </a:r>
          </a:p>
          <a:p>
            <a:r>
              <a:rPr lang="da-DK" sz="1600" dirty="0"/>
              <a:t>        with </a:t>
            </a:r>
            <a:r>
              <a:rPr lang="da-DK" sz="1600" dirty="0" err="1"/>
              <a:t>conn.cursor</a:t>
            </a:r>
            <a:r>
              <a:rPr lang="da-DK" sz="1600" dirty="0"/>
              <a:t>() as cur:</a:t>
            </a:r>
          </a:p>
          <a:p>
            <a:r>
              <a:rPr lang="da-DK" sz="1600" dirty="0"/>
              <a:t>            </a:t>
            </a:r>
            <a:r>
              <a:rPr lang="da-DK" sz="1600" dirty="0" err="1"/>
              <a:t>cur.execute</a:t>
            </a:r>
            <a:r>
              <a:rPr lang="da-DK" sz="1600" dirty="0"/>
              <a:t>(</a:t>
            </a:r>
          </a:p>
          <a:p>
            <a:r>
              <a:rPr lang="da-DK" sz="1600" dirty="0"/>
              <a:t>                "SELECT id, </a:t>
            </a:r>
            <a:r>
              <a:rPr lang="da-DK" sz="1600" dirty="0" err="1"/>
              <a:t>username</a:t>
            </a:r>
            <a:r>
              <a:rPr lang="da-DK" sz="1600" dirty="0"/>
              <a:t> FROM users WHERE </a:t>
            </a:r>
            <a:r>
              <a:rPr lang="da-DK" sz="1600" dirty="0" err="1"/>
              <a:t>username</a:t>
            </a:r>
            <a:r>
              <a:rPr lang="da-DK" sz="1600" dirty="0"/>
              <a:t> = %s",</a:t>
            </a:r>
          </a:p>
          <a:p>
            <a:r>
              <a:rPr lang="da-DK" sz="1600" dirty="0"/>
              <a:t>                (</a:t>
            </a:r>
            <a:r>
              <a:rPr lang="da-DK" sz="1600" dirty="0" err="1"/>
              <a:t>username</a:t>
            </a:r>
            <a:r>
              <a:rPr lang="da-DK" sz="1600" dirty="0"/>
              <a:t>,)</a:t>
            </a:r>
          </a:p>
          <a:p>
            <a:r>
              <a:rPr lang="da-DK" sz="1600" dirty="0"/>
              <a:t>            )</a:t>
            </a:r>
          </a:p>
          <a:p>
            <a:r>
              <a:rPr lang="da-DK" sz="1600" dirty="0"/>
              <a:t>            return </a:t>
            </a:r>
            <a:r>
              <a:rPr lang="da-DK" sz="1600" dirty="0" err="1"/>
              <a:t>cur.fetchall</a:t>
            </a:r>
            <a:r>
              <a:rPr lang="da-DK" sz="1600" dirty="0"/>
              <a:t>()</a:t>
            </a:r>
          </a:p>
          <a:p>
            <a:endParaRPr lang="da-DK" sz="1600" dirty="0"/>
          </a:p>
          <a:p>
            <a:r>
              <a:rPr lang="da-DK" sz="1600" dirty="0"/>
              <a:t>    </a:t>
            </a:r>
            <a:r>
              <a:rPr lang="da-DK" sz="1600" dirty="0" err="1"/>
              <a:t>except</a:t>
            </a:r>
            <a:r>
              <a:rPr lang="da-DK" sz="1600" dirty="0"/>
              <a:t> psycopg2.Error as e:</a:t>
            </a:r>
          </a:p>
          <a:p>
            <a:r>
              <a:rPr lang="da-DK" sz="1600" dirty="0"/>
              <a:t>        # Databasefejl (</a:t>
            </a:r>
            <a:r>
              <a:rPr lang="da-DK" sz="1600" dirty="0" err="1"/>
              <a:t>syntax</a:t>
            </a:r>
            <a:r>
              <a:rPr lang="da-DK" sz="1600" dirty="0"/>
              <a:t>, </a:t>
            </a:r>
            <a:r>
              <a:rPr lang="da-DK" sz="1600" dirty="0" err="1"/>
              <a:t>connection</a:t>
            </a:r>
            <a:r>
              <a:rPr lang="da-DK" sz="1600" dirty="0"/>
              <a:t>, osv.)</a:t>
            </a:r>
          </a:p>
          <a:p>
            <a:r>
              <a:rPr lang="da-DK" sz="1600" dirty="0"/>
              <a:t>        print("Database </a:t>
            </a:r>
            <a:r>
              <a:rPr lang="da-DK" sz="1600" dirty="0" err="1"/>
              <a:t>error</a:t>
            </a:r>
            <a:r>
              <a:rPr lang="da-DK" sz="1600" dirty="0"/>
              <a:t>:", e)</a:t>
            </a:r>
          </a:p>
          <a:p>
            <a:r>
              <a:rPr lang="da-DK" sz="1600" dirty="0"/>
              <a:t>        return None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A34169A8-2FF5-B972-8CCA-BA19310F1D0B}"/>
              </a:ext>
            </a:extLst>
          </p:cNvPr>
          <p:cNvSpPr txBox="1"/>
          <p:nvPr/>
        </p:nvSpPr>
        <p:spPr>
          <a:xfrm>
            <a:off x="960968" y="1801302"/>
            <a:ext cx="4224867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nb-NO" sz="1600" dirty="0"/>
              <a:t>try:</a:t>
            </a:r>
          </a:p>
          <a:p>
            <a:r>
              <a:rPr lang="nb-NO" sz="1600" dirty="0"/>
              <a:t>    x = int(user_input)</a:t>
            </a:r>
          </a:p>
          <a:p>
            <a:r>
              <a:rPr lang="nb-NO" sz="1600" dirty="0"/>
              <a:t>    print(x)</a:t>
            </a:r>
          </a:p>
          <a:p>
            <a:r>
              <a:rPr lang="nb-NO" sz="1600" dirty="0"/>
              <a:t>except ValueError:</a:t>
            </a:r>
          </a:p>
          <a:p>
            <a:r>
              <a:rPr lang="nb-NO" sz="1600" dirty="0"/>
              <a:t>    print("Input er ikke et heltal")</a:t>
            </a:r>
            <a:endParaRPr lang="da-DK" sz="1600" dirty="0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4559B3A0-188D-946B-ADA0-D123B4350984}"/>
              </a:ext>
            </a:extLst>
          </p:cNvPr>
          <p:cNvSpPr txBox="1"/>
          <p:nvPr/>
        </p:nvSpPr>
        <p:spPr>
          <a:xfrm>
            <a:off x="932415" y="3481199"/>
            <a:ext cx="4224867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da-DK" sz="1600" dirty="0"/>
              <a:t>class </a:t>
            </a:r>
            <a:r>
              <a:rPr lang="da-DK" sz="1600" dirty="0" err="1"/>
              <a:t>InvalidInputError</a:t>
            </a:r>
            <a:r>
              <a:rPr lang="da-DK" sz="1600" dirty="0"/>
              <a:t>(</a:t>
            </a:r>
            <a:r>
              <a:rPr lang="da-DK" sz="1600" dirty="0" err="1"/>
              <a:t>Exception</a:t>
            </a:r>
            <a:r>
              <a:rPr lang="da-DK" sz="1600" dirty="0"/>
              <a:t>):</a:t>
            </a:r>
          </a:p>
          <a:p>
            <a:r>
              <a:rPr lang="da-DK" sz="1600" dirty="0"/>
              <a:t>    </a:t>
            </a:r>
            <a:r>
              <a:rPr lang="da-DK" sz="1600" dirty="0" err="1"/>
              <a:t>pass</a:t>
            </a:r>
            <a:endParaRPr lang="da-DK" sz="1600" dirty="0"/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C43BB197-C287-C4E2-C867-B04F76605B7E}"/>
              </a:ext>
            </a:extLst>
          </p:cNvPr>
          <p:cNvSpPr txBox="1"/>
          <p:nvPr/>
        </p:nvSpPr>
        <p:spPr>
          <a:xfrm>
            <a:off x="927100" y="4370167"/>
            <a:ext cx="5604935" cy="20621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da-DK" sz="1600" dirty="0"/>
              <a:t>def </a:t>
            </a:r>
            <a:r>
              <a:rPr lang="da-DK" sz="1600" dirty="0" err="1"/>
              <a:t>validate_username</a:t>
            </a:r>
            <a:r>
              <a:rPr lang="da-DK" sz="1600" dirty="0"/>
              <a:t>(</a:t>
            </a:r>
            <a:r>
              <a:rPr lang="da-DK" sz="1600" dirty="0" err="1"/>
              <a:t>username</a:t>
            </a:r>
            <a:r>
              <a:rPr lang="da-DK" sz="1600" dirty="0"/>
              <a:t>):</a:t>
            </a:r>
          </a:p>
          <a:p>
            <a:r>
              <a:rPr lang="da-DK" sz="1600" dirty="0"/>
              <a:t>    </a:t>
            </a:r>
            <a:r>
              <a:rPr lang="da-DK" sz="1600" dirty="0" err="1"/>
              <a:t>if</a:t>
            </a:r>
            <a:r>
              <a:rPr lang="da-DK" sz="1600" dirty="0"/>
              <a:t> not </a:t>
            </a:r>
            <a:r>
              <a:rPr lang="da-DK" sz="1600" dirty="0" err="1"/>
              <a:t>username</a:t>
            </a:r>
            <a:r>
              <a:rPr lang="da-DK" sz="1600" dirty="0"/>
              <a:t>:</a:t>
            </a:r>
          </a:p>
          <a:p>
            <a:r>
              <a:rPr lang="da-DK" sz="1600" dirty="0"/>
              <a:t>        </a:t>
            </a:r>
            <a:r>
              <a:rPr lang="da-DK" sz="1600" dirty="0" err="1"/>
              <a:t>raise</a:t>
            </a:r>
            <a:r>
              <a:rPr lang="da-DK" sz="1600" dirty="0"/>
              <a:t> </a:t>
            </a:r>
            <a:r>
              <a:rPr lang="da-DK" sz="1600" dirty="0" err="1"/>
              <a:t>InvalidInputError</a:t>
            </a:r>
            <a:r>
              <a:rPr lang="da-DK" sz="1600" dirty="0"/>
              <a:t>("</a:t>
            </a:r>
            <a:r>
              <a:rPr lang="da-DK" sz="1600" dirty="0" err="1"/>
              <a:t>Username</a:t>
            </a:r>
            <a:r>
              <a:rPr lang="da-DK" sz="1600" dirty="0"/>
              <a:t> må ikke være tom")</a:t>
            </a:r>
          </a:p>
          <a:p>
            <a:endParaRPr lang="da-DK" sz="1600" dirty="0"/>
          </a:p>
          <a:p>
            <a:r>
              <a:rPr lang="da-DK" sz="1600" dirty="0" err="1"/>
              <a:t>try</a:t>
            </a:r>
            <a:r>
              <a:rPr lang="da-DK" sz="1600" dirty="0"/>
              <a:t>:</a:t>
            </a:r>
          </a:p>
          <a:p>
            <a:r>
              <a:rPr lang="da-DK" sz="1600" dirty="0"/>
              <a:t>    </a:t>
            </a:r>
            <a:r>
              <a:rPr lang="da-DK" sz="1600" dirty="0" err="1"/>
              <a:t>validate_username</a:t>
            </a:r>
            <a:r>
              <a:rPr lang="da-DK" sz="1600" dirty="0"/>
              <a:t>(</a:t>
            </a:r>
            <a:r>
              <a:rPr lang="da-DK" sz="1600" dirty="0" err="1"/>
              <a:t>username</a:t>
            </a:r>
            <a:r>
              <a:rPr lang="da-DK" sz="1600" dirty="0"/>
              <a:t>)</a:t>
            </a:r>
          </a:p>
          <a:p>
            <a:r>
              <a:rPr lang="da-DK" sz="1600" dirty="0" err="1"/>
              <a:t>except</a:t>
            </a:r>
            <a:r>
              <a:rPr lang="da-DK" sz="1600" dirty="0"/>
              <a:t> </a:t>
            </a:r>
            <a:r>
              <a:rPr lang="da-DK" sz="1600" dirty="0" err="1"/>
              <a:t>InvalidInputError</a:t>
            </a:r>
            <a:r>
              <a:rPr lang="da-DK" sz="1600" dirty="0"/>
              <a:t> as e:</a:t>
            </a:r>
          </a:p>
          <a:p>
            <a:r>
              <a:rPr lang="da-DK" sz="1600" dirty="0"/>
              <a:t>    print(e)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0C3304B0-2ECF-7C5A-4B5C-4463E3472665}"/>
              </a:ext>
            </a:extLst>
          </p:cNvPr>
          <p:cNvSpPr txBox="1"/>
          <p:nvPr/>
        </p:nvSpPr>
        <p:spPr>
          <a:xfrm>
            <a:off x="6620935" y="1640638"/>
            <a:ext cx="2627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b="1" dirty="0">
                <a:solidFill>
                  <a:schemeClr val="bg1"/>
                </a:solidFill>
              </a:rPr>
              <a:t>Database </a:t>
            </a:r>
            <a:r>
              <a:rPr lang="da-DK" sz="1600" b="1" dirty="0" err="1">
                <a:solidFill>
                  <a:schemeClr val="bg1"/>
                </a:solidFill>
              </a:rPr>
              <a:t>Error</a:t>
            </a:r>
            <a:r>
              <a:rPr lang="da-DK" sz="1600" b="1" dirty="0">
                <a:solidFill>
                  <a:schemeClr val="bg1"/>
                </a:solidFill>
              </a:rPr>
              <a:t> (</a:t>
            </a:r>
            <a:r>
              <a:rPr lang="da-DK" sz="1600" b="1" dirty="0" err="1">
                <a:solidFill>
                  <a:schemeClr val="bg1"/>
                </a:solidFill>
              </a:rPr>
              <a:t>postgrsql</a:t>
            </a:r>
            <a:r>
              <a:rPr lang="da-DK" sz="16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5326741E-E7F3-1761-2826-6675802FA8EF}"/>
              </a:ext>
            </a:extLst>
          </p:cNvPr>
          <p:cNvSpPr txBox="1"/>
          <p:nvPr/>
        </p:nvSpPr>
        <p:spPr>
          <a:xfrm>
            <a:off x="1089439" y="1471361"/>
            <a:ext cx="30761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b="1" dirty="0" err="1">
                <a:solidFill>
                  <a:schemeClr val="bg1"/>
                </a:solidFill>
              </a:rPr>
              <a:t>try</a:t>
            </a:r>
            <a:r>
              <a:rPr lang="da-DK" sz="1600" b="1" dirty="0">
                <a:solidFill>
                  <a:schemeClr val="bg1"/>
                </a:solidFill>
              </a:rPr>
              <a:t> </a:t>
            </a:r>
            <a:r>
              <a:rPr lang="da-DK" sz="1600" b="1" dirty="0" err="1">
                <a:solidFill>
                  <a:schemeClr val="bg1"/>
                </a:solidFill>
              </a:rPr>
              <a:t>catch</a:t>
            </a:r>
            <a:r>
              <a:rPr lang="da-DK" sz="1600" b="1" dirty="0">
                <a:solidFill>
                  <a:schemeClr val="bg1"/>
                </a:solidFill>
              </a:rPr>
              <a:t> is </a:t>
            </a:r>
            <a:r>
              <a:rPr lang="da-DK" sz="1600" b="1" dirty="0" err="1">
                <a:solidFill>
                  <a:schemeClr val="bg1"/>
                </a:solidFill>
              </a:rPr>
              <a:t>try</a:t>
            </a:r>
            <a:r>
              <a:rPr lang="da-DK" sz="1600" b="1" dirty="0">
                <a:solidFill>
                  <a:schemeClr val="bg1"/>
                </a:solidFill>
              </a:rPr>
              <a:t> </a:t>
            </a:r>
            <a:r>
              <a:rPr lang="da-DK" sz="1600" b="1" dirty="0" err="1">
                <a:solidFill>
                  <a:schemeClr val="bg1"/>
                </a:solidFill>
              </a:rPr>
              <a:t>except</a:t>
            </a:r>
            <a:r>
              <a:rPr lang="da-DK" sz="1600" b="1" dirty="0">
                <a:solidFill>
                  <a:schemeClr val="bg1"/>
                </a:solidFill>
              </a:rPr>
              <a:t> in </a:t>
            </a:r>
            <a:r>
              <a:rPr lang="da-DK" sz="1600" b="1" dirty="0" err="1">
                <a:solidFill>
                  <a:schemeClr val="bg1"/>
                </a:solidFill>
              </a:rPr>
              <a:t>python</a:t>
            </a:r>
            <a:endParaRPr lang="da-DK" sz="1600" b="1" dirty="0">
              <a:solidFill>
                <a:schemeClr val="bg1"/>
              </a:solidFill>
            </a:endParaRP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DE9BA8FC-F8D1-4B5C-4E21-036A75E1584C}"/>
              </a:ext>
            </a:extLst>
          </p:cNvPr>
          <p:cNvSpPr txBox="1"/>
          <p:nvPr/>
        </p:nvSpPr>
        <p:spPr>
          <a:xfrm>
            <a:off x="838200" y="3224686"/>
            <a:ext cx="1681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b="1" dirty="0" err="1">
                <a:solidFill>
                  <a:schemeClr val="bg1"/>
                </a:solidFill>
              </a:rPr>
              <a:t>Exception</a:t>
            </a:r>
            <a:r>
              <a:rPr lang="da-DK" sz="1600" b="1" dirty="0"/>
              <a:t> Class</a:t>
            </a:r>
          </a:p>
        </p:txBody>
      </p:sp>
      <p:sp>
        <p:nvSpPr>
          <p:cNvPr id="15" name="Tekstfelt 14">
            <a:extLst>
              <a:ext uri="{FF2B5EF4-FFF2-40B4-BE49-F238E27FC236}">
                <a16:creationId xmlns:a16="http://schemas.microsoft.com/office/drawing/2014/main" id="{A665BFDB-A1BB-CD12-05D6-AC02B15F7AE3}"/>
              </a:ext>
            </a:extLst>
          </p:cNvPr>
          <p:cNvSpPr txBox="1"/>
          <p:nvPr/>
        </p:nvSpPr>
        <p:spPr>
          <a:xfrm>
            <a:off x="838200" y="4083878"/>
            <a:ext cx="1681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b="1" dirty="0" err="1">
                <a:solidFill>
                  <a:schemeClr val="bg1"/>
                </a:solidFill>
              </a:rPr>
              <a:t>Exception</a:t>
            </a:r>
            <a:r>
              <a:rPr lang="da-DK" sz="1600" b="1" dirty="0">
                <a:solidFill>
                  <a:schemeClr val="bg1"/>
                </a:solidFill>
              </a:rPr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26489846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F1C7E-B3BF-771D-A162-963E6121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320ED5-63CA-589C-34B6-D7607E75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endParaRPr lang="da-DK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34EE75B-0448-BE3B-E35C-B06495AF7331}"/>
              </a:ext>
            </a:extLst>
          </p:cNvPr>
          <p:cNvGraphicFramePr/>
          <p:nvPr/>
        </p:nvGraphicFramePr>
        <p:xfrm>
          <a:off x="273981" y="1329266"/>
          <a:ext cx="11494685" cy="1667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e 7">
            <a:extLst>
              <a:ext uri="{FF2B5EF4-FFF2-40B4-BE49-F238E27FC236}">
                <a16:creationId xmlns:a16="http://schemas.microsoft.com/office/drawing/2014/main" id="{BE541A7D-9B24-9BBF-3E5B-6667D0D25D04}"/>
              </a:ext>
            </a:extLst>
          </p:cNvPr>
          <p:cNvGrpSpPr/>
          <p:nvPr/>
        </p:nvGrpSpPr>
        <p:grpSpPr>
          <a:xfrm>
            <a:off x="3045503" y="2940068"/>
            <a:ext cx="8723161" cy="1241515"/>
            <a:chOff x="2798742" y="213209"/>
            <a:chExt cx="3103789" cy="124151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" name="Pil: vinkel 9">
              <a:extLst>
                <a:ext uri="{FF2B5EF4-FFF2-40B4-BE49-F238E27FC236}">
                  <a16:creationId xmlns:a16="http://schemas.microsoft.com/office/drawing/2014/main" id="{5506D1F5-D35C-F173-D937-9D8056D61D8B}"/>
                </a:ext>
              </a:extLst>
            </p:cNvPr>
            <p:cNvSpPr/>
            <p:nvPr/>
          </p:nvSpPr>
          <p:spPr>
            <a:xfrm>
              <a:off x="2798742" y="213209"/>
              <a:ext cx="3103789" cy="1241515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1" name="Pil: vinkel 4">
              <a:extLst>
                <a:ext uri="{FF2B5EF4-FFF2-40B4-BE49-F238E27FC236}">
                  <a16:creationId xmlns:a16="http://schemas.microsoft.com/office/drawing/2014/main" id="{87F2A7D3-5E05-1455-174A-3C37EA868928}"/>
                </a:ext>
              </a:extLst>
            </p:cNvPr>
            <p:cNvSpPr txBox="1"/>
            <p:nvPr/>
          </p:nvSpPr>
          <p:spPr>
            <a:xfrm>
              <a:off x="3419500" y="213209"/>
              <a:ext cx="1862274" cy="124151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4006" tIns="14669" rIns="14669" bIns="14669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da-DK" sz="1100" b="1" kern="1200" dirty="0" err="1"/>
                <a:t>Regresions</a:t>
              </a:r>
              <a:r>
                <a:rPr lang="da-DK" sz="1100" b="1" kern="1200" dirty="0"/>
                <a:t> test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da-DK" sz="1100" kern="1200" dirty="0"/>
                <a:t>Tester at systemet virker efter der er foretaget ændringer</a:t>
              </a:r>
            </a:p>
          </p:txBody>
        </p:sp>
      </p:grpSp>
      <p:grpSp>
        <p:nvGrpSpPr>
          <p:cNvPr id="13" name="Gruppe 12">
            <a:extLst>
              <a:ext uri="{FF2B5EF4-FFF2-40B4-BE49-F238E27FC236}">
                <a16:creationId xmlns:a16="http://schemas.microsoft.com/office/drawing/2014/main" id="{84DC5639-9474-D16B-3101-EA5D4AE9DC1B}"/>
              </a:ext>
            </a:extLst>
          </p:cNvPr>
          <p:cNvGrpSpPr/>
          <p:nvPr/>
        </p:nvGrpSpPr>
        <p:grpSpPr>
          <a:xfrm>
            <a:off x="3045504" y="4287218"/>
            <a:ext cx="8723161" cy="1241516"/>
            <a:chOff x="2798742" y="213208"/>
            <a:chExt cx="3103789" cy="1241516"/>
          </a:xfrm>
          <a:solidFill>
            <a:schemeClr val="bg2">
              <a:lumMod val="50000"/>
            </a:schemeClr>
          </a:solidFill>
        </p:grpSpPr>
        <p:sp>
          <p:nvSpPr>
            <p:cNvPr id="14" name="Pil: vinkel 13">
              <a:extLst>
                <a:ext uri="{FF2B5EF4-FFF2-40B4-BE49-F238E27FC236}">
                  <a16:creationId xmlns:a16="http://schemas.microsoft.com/office/drawing/2014/main" id="{36A97833-2E4F-08AE-0FC6-2CB86E8CF333}"/>
                </a:ext>
              </a:extLst>
            </p:cNvPr>
            <p:cNvSpPr/>
            <p:nvPr/>
          </p:nvSpPr>
          <p:spPr>
            <a:xfrm>
              <a:off x="2798742" y="213209"/>
              <a:ext cx="3103789" cy="1241515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5" name="Pil: vinkel 4">
              <a:extLst>
                <a:ext uri="{FF2B5EF4-FFF2-40B4-BE49-F238E27FC236}">
                  <a16:creationId xmlns:a16="http://schemas.microsoft.com/office/drawing/2014/main" id="{D362E5B5-5103-8321-4EBA-24E325D4ABF2}"/>
                </a:ext>
              </a:extLst>
            </p:cNvPr>
            <p:cNvSpPr txBox="1"/>
            <p:nvPr/>
          </p:nvSpPr>
          <p:spPr>
            <a:xfrm>
              <a:off x="3504383" y="213208"/>
              <a:ext cx="1783416" cy="124151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4006" tIns="14669" rIns="14669" bIns="14669" numCol="1" spcCol="1270" anchor="ctr" anchorCtr="0">
              <a:noAutofit/>
            </a:bodyPr>
            <a:lstStyle/>
            <a:p>
              <a:pPr algn="ctr"/>
              <a:r>
                <a:rPr lang="da-DK" sz="1100" b="1" dirty="0"/>
                <a:t>Performance­test</a:t>
              </a:r>
            </a:p>
            <a:p>
              <a:pPr algn="ctr"/>
              <a:r>
                <a:rPr lang="da-DK" sz="1100" dirty="0"/>
                <a:t>At måle systemets ydeevne under definerede forhold</a:t>
              </a:r>
            </a:p>
            <a:p>
              <a:pPr algn="ctr"/>
              <a:r>
                <a:rPr lang="da-DK" sz="1100" dirty="0"/>
                <a:t>At verificere </a:t>
              </a:r>
              <a:r>
                <a:rPr lang="da-DK" sz="1100" dirty="0" err="1"/>
                <a:t>svartider</a:t>
              </a:r>
              <a:r>
                <a:rPr lang="da-DK" sz="1100" dirty="0"/>
                <a:t>, </a:t>
              </a:r>
              <a:r>
                <a:rPr lang="da-DK" sz="1100" dirty="0" err="1"/>
                <a:t>throughput</a:t>
              </a:r>
              <a:r>
                <a:rPr lang="da-DK" sz="1100" dirty="0"/>
                <a:t> og ressourceforbrug</a:t>
              </a:r>
            </a:p>
            <a:p>
              <a:pPr algn="ctr"/>
              <a:r>
                <a:rPr lang="da-DK" sz="1100" b="1" dirty="0"/>
                <a:t>Typiske målepunkter</a:t>
              </a:r>
            </a:p>
            <a:p>
              <a:pPr algn="ctr"/>
              <a:r>
                <a:rPr lang="da-DK" sz="1100" dirty="0"/>
                <a:t>Svartid Transaktioner pr. sekund</a:t>
              </a:r>
            </a:p>
            <a:p>
              <a:pPr algn="ctr"/>
              <a:r>
                <a:rPr lang="da-DK" sz="1100" dirty="0"/>
                <a:t>CPU-, hukommelses- og netværksforbrug</a:t>
              </a:r>
            </a:p>
          </p:txBody>
        </p:sp>
      </p:grpSp>
      <p:sp>
        <p:nvSpPr>
          <p:cNvPr id="16" name="Tekstfelt 15">
            <a:extLst>
              <a:ext uri="{FF2B5EF4-FFF2-40B4-BE49-F238E27FC236}">
                <a16:creationId xmlns:a16="http://schemas.microsoft.com/office/drawing/2014/main" id="{AA76BCAF-70CA-514A-4E29-81D4E66496C1}"/>
              </a:ext>
            </a:extLst>
          </p:cNvPr>
          <p:cNvSpPr txBox="1"/>
          <p:nvPr/>
        </p:nvSpPr>
        <p:spPr>
          <a:xfrm>
            <a:off x="838200" y="5430963"/>
            <a:ext cx="308610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chemeClr val="bg1"/>
                </a:solidFill>
              </a:rPr>
              <a:t>Hvornår er det en fejl ?</a:t>
            </a:r>
          </a:p>
          <a:p>
            <a:r>
              <a:rPr lang="da-DK" sz="1400" dirty="0">
                <a:solidFill>
                  <a:schemeClr val="bg1"/>
                </a:solidFill>
              </a:rPr>
              <a:t>Nå koden ikke gør hvad man forventer</a:t>
            </a:r>
          </a:p>
          <a:p>
            <a:r>
              <a:rPr lang="da-DK" sz="1400" dirty="0">
                <a:solidFill>
                  <a:schemeClr val="bg1"/>
                </a:solidFill>
              </a:rPr>
              <a:t>Eller koden gør hvad der er skrevet</a:t>
            </a:r>
          </a:p>
          <a:p>
            <a:br>
              <a:rPr lang="da-DK" sz="1400" dirty="0">
                <a:solidFill>
                  <a:schemeClr val="bg1"/>
                </a:solidFill>
              </a:rPr>
            </a:br>
            <a:r>
              <a:rPr lang="da-DK" sz="1400" dirty="0">
                <a:solidFill>
                  <a:schemeClr val="bg1"/>
                </a:solidFill>
              </a:rPr>
              <a:t>Det er ikke en fejl – det er en feature…</a:t>
            </a:r>
          </a:p>
        </p:txBody>
      </p:sp>
    </p:spTree>
    <p:extLst>
      <p:ext uri="{BB962C8B-B14F-4D97-AF65-F5344CB8AC3E}">
        <p14:creationId xmlns:p14="http://schemas.microsoft.com/office/powerpoint/2010/main" val="27789841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E39056-4659-54E2-53FE-BA73ED66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Unit test og </a:t>
            </a:r>
            <a:r>
              <a:rPr lang="da-DK" dirty="0" err="1"/>
              <a:t>Mocking</a:t>
            </a:r>
            <a:r>
              <a:rPr lang="da-DK" dirty="0"/>
              <a:t> 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95F57810-962E-592E-DC7C-47CC81CD94AB}"/>
              </a:ext>
            </a:extLst>
          </p:cNvPr>
          <p:cNvSpPr txBox="1"/>
          <p:nvPr/>
        </p:nvSpPr>
        <p:spPr>
          <a:xfrm>
            <a:off x="821267" y="1785045"/>
            <a:ext cx="4216400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da-DK" dirty="0"/>
              <a:t>def </a:t>
            </a:r>
            <a:r>
              <a:rPr lang="da-DK" dirty="0" err="1"/>
              <a:t>get_username</a:t>
            </a:r>
            <a:r>
              <a:rPr lang="da-DK" dirty="0"/>
              <a:t>(</a:t>
            </a:r>
            <a:r>
              <a:rPr lang="da-DK" dirty="0" err="1"/>
              <a:t>db</a:t>
            </a:r>
            <a:r>
              <a:rPr lang="da-DK" dirty="0"/>
              <a:t>, </a:t>
            </a:r>
            <a:r>
              <a:rPr lang="da-DK" dirty="0" err="1"/>
              <a:t>user_id</a:t>
            </a:r>
            <a:r>
              <a:rPr lang="da-DK" dirty="0"/>
              <a:t>):</a:t>
            </a:r>
          </a:p>
          <a:p>
            <a:r>
              <a:rPr lang="da-DK" dirty="0"/>
              <a:t>    return </a:t>
            </a:r>
            <a:r>
              <a:rPr lang="da-DK" dirty="0" err="1"/>
              <a:t>db.fetch_username</a:t>
            </a:r>
            <a:r>
              <a:rPr lang="da-DK" dirty="0"/>
              <a:t>(</a:t>
            </a:r>
            <a:r>
              <a:rPr lang="da-DK" dirty="0" err="1"/>
              <a:t>user_id</a:t>
            </a:r>
            <a:r>
              <a:rPr lang="da-DK" dirty="0"/>
              <a:t>)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A19B60F6-6BAB-3463-4DDA-DB80FAC337D8}"/>
              </a:ext>
            </a:extLst>
          </p:cNvPr>
          <p:cNvSpPr txBox="1"/>
          <p:nvPr/>
        </p:nvSpPr>
        <p:spPr>
          <a:xfrm>
            <a:off x="5825067" y="1785045"/>
            <a:ext cx="6096000" cy="45243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da-DK" dirty="0"/>
              <a:t>import unittest</a:t>
            </a:r>
          </a:p>
          <a:p>
            <a:r>
              <a:rPr lang="da-DK" dirty="0"/>
              <a:t>from </a:t>
            </a:r>
            <a:r>
              <a:rPr lang="da-DK" dirty="0" err="1"/>
              <a:t>unittest.mock</a:t>
            </a:r>
            <a:r>
              <a:rPr lang="da-DK" dirty="0"/>
              <a:t> import </a:t>
            </a:r>
            <a:r>
              <a:rPr lang="da-DK" dirty="0" err="1"/>
              <a:t>Mock</a:t>
            </a:r>
            <a:endParaRPr lang="da-DK" dirty="0"/>
          </a:p>
          <a:p>
            <a:endParaRPr lang="da-DK" dirty="0"/>
          </a:p>
          <a:p>
            <a:r>
              <a:rPr lang="da-DK" dirty="0"/>
              <a:t>class </a:t>
            </a:r>
            <a:r>
              <a:rPr lang="da-DK" dirty="0" err="1"/>
              <a:t>TestGetUsername</a:t>
            </a:r>
            <a:r>
              <a:rPr lang="da-DK" dirty="0"/>
              <a:t>(</a:t>
            </a:r>
            <a:r>
              <a:rPr lang="da-DK" dirty="0" err="1"/>
              <a:t>unittest.TestCase</a:t>
            </a:r>
            <a:r>
              <a:rPr lang="da-DK" dirty="0"/>
              <a:t>):</a:t>
            </a:r>
          </a:p>
          <a:p>
            <a:endParaRPr lang="da-DK" dirty="0"/>
          </a:p>
          <a:p>
            <a:r>
              <a:rPr lang="da-DK" dirty="0"/>
              <a:t>    def </a:t>
            </a:r>
            <a:r>
              <a:rPr lang="da-DK" dirty="0" err="1"/>
              <a:t>test_get_username</a:t>
            </a:r>
            <a:r>
              <a:rPr lang="da-DK" dirty="0"/>
              <a:t>(</a:t>
            </a:r>
            <a:r>
              <a:rPr lang="da-DK" dirty="0" err="1"/>
              <a:t>self</a:t>
            </a:r>
            <a:r>
              <a:rPr lang="da-DK" dirty="0"/>
              <a:t>):</a:t>
            </a:r>
          </a:p>
          <a:p>
            <a:r>
              <a:rPr lang="da-DK" dirty="0"/>
              <a:t>        </a:t>
            </a:r>
            <a:r>
              <a:rPr lang="da-DK" dirty="0" err="1"/>
              <a:t>db</a:t>
            </a:r>
            <a:r>
              <a:rPr lang="da-DK" dirty="0"/>
              <a:t> = </a:t>
            </a:r>
            <a:r>
              <a:rPr lang="da-DK" dirty="0" err="1"/>
              <a:t>Mock</a:t>
            </a:r>
            <a:r>
              <a:rPr lang="da-DK" dirty="0"/>
              <a:t>()</a:t>
            </a:r>
          </a:p>
          <a:p>
            <a:r>
              <a:rPr lang="da-DK" dirty="0"/>
              <a:t>        </a:t>
            </a:r>
            <a:r>
              <a:rPr lang="da-DK" dirty="0" err="1"/>
              <a:t>db.fetch_username.return_value</a:t>
            </a:r>
            <a:r>
              <a:rPr lang="da-DK" dirty="0"/>
              <a:t> = "</a:t>
            </a:r>
            <a:r>
              <a:rPr lang="da-DK" dirty="0" err="1"/>
              <a:t>alice</a:t>
            </a:r>
            <a:r>
              <a:rPr lang="da-DK" dirty="0"/>
              <a:t>"</a:t>
            </a:r>
          </a:p>
          <a:p>
            <a:endParaRPr lang="da-DK" dirty="0"/>
          </a:p>
          <a:p>
            <a:r>
              <a:rPr lang="da-DK" dirty="0"/>
              <a:t>        </a:t>
            </a:r>
            <a:r>
              <a:rPr lang="da-DK" dirty="0" err="1"/>
              <a:t>result</a:t>
            </a:r>
            <a:r>
              <a:rPr lang="da-DK" dirty="0"/>
              <a:t> = </a:t>
            </a:r>
            <a:r>
              <a:rPr lang="da-DK" dirty="0" err="1"/>
              <a:t>get_username</a:t>
            </a:r>
            <a:r>
              <a:rPr lang="da-DK" dirty="0"/>
              <a:t>(</a:t>
            </a:r>
            <a:r>
              <a:rPr lang="da-DK" dirty="0" err="1"/>
              <a:t>db</a:t>
            </a:r>
            <a:r>
              <a:rPr lang="da-DK" dirty="0"/>
              <a:t>, 1)</a:t>
            </a:r>
          </a:p>
          <a:p>
            <a:endParaRPr lang="da-DK" dirty="0"/>
          </a:p>
          <a:p>
            <a:r>
              <a:rPr lang="da-DK" dirty="0"/>
              <a:t>        </a:t>
            </a:r>
            <a:r>
              <a:rPr lang="da-DK" dirty="0" err="1"/>
              <a:t>self.assertEqual</a:t>
            </a:r>
            <a:r>
              <a:rPr lang="da-DK" dirty="0"/>
              <a:t>(</a:t>
            </a:r>
            <a:r>
              <a:rPr lang="da-DK" dirty="0" err="1"/>
              <a:t>result</a:t>
            </a:r>
            <a:r>
              <a:rPr lang="da-DK" dirty="0"/>
              <a:t>, "</a:t>
            </a:r>
            <a:r>
              <a:rPr lang="da-DK" dirty="0" err="1"/>
              <a:t>alice</a:t>
            </a:r>
            <a:r>
              <a:rPr lang="da-DK" dirty="0"/>
              <a:t>")</a:t>
            </a:r>
          </a:p>
          <a:p>
            <a:r>
              <a:rPr lang="da-DK" dirty="0"/>
              <a:t>        </a:t>
            </a:r>
            <a:r>
              <a:rPr lang="da-DK" dirty="0" err="1"/>
              <a:t>db.fetch_username.assert_called_once_with</a:t>
            </a:r>
            <a:r>
              <a:rPr lang="da-DK" dirty="0"/>
              <a:t>(1)</a:t>
            </a:r>
          </a:p>
          <a:p>
            <a:endParaRPr lang="da-DK" dirty="0"/>
          </a:p>
          <a:p>
            <a:r>
              <a:rPr lang="da-DK" dirty="0" err="1"/>
              <a:t>if</a:t>
            </a:r>
            <a:r>
              <a:rPr lang="da-DK" dirty="0"/>
              <a:t> __</a:t>
            </a:r>
            <a:r>
              <a:rPr lang="da-DK" dirty="0" err="1"/>
              <a:t>name</a:t>
            </a:r>
            <a:r>
              <a:rPr lang="da-DK" dirty="0"/>
              <a:t>__ == "__</a:t>
            </a:r>
            <a:r>
              <a:rPr lang="da-DK" dirty="0" err="1"/>
              <a:t>main</a:t>
            </a:r>
            <a:r>
              <a:rPr lang="da-DK" dirty="0"/>
              <a:t>__":</a:t>
            </a:r>
          </a:p>
          <a:p>
            <a:r>
              <a:rPr lang="da-DK" dirty="0"/>
              <a:t>    </a:t>
            </a:r>
            <a:r>
              <a:rPr lang="da-DK" dirty="0" err="1"/>
              <a:t>unittest.main</a:t>
            </a:r>
            <a:r>
              <a:rPr lang="da-DK" dirty="0"/>
              <a:t>()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050A9F90-924B-4FB0-1FEA-3ACB73E907DD}"/>
              </a:ext>
            </a:extLst>
          </p:cNvPr>
          <p:cNvSpPr txBox="1"/>
          <p:nvPr/>
        </p:nvSpPr>
        <p:spPr>
          <a:xfrm>
            <a:off x="821267" y="3429000"/>
            <a:ext cx="4614333" cy="2585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b="1" dirty="0"/>
              <a:t>Hvad gør </a:t>
            </a:r>
            <a:r>
              <a:rPr lang="da-DK" b="1" dirty="0" err="1"/>
              <a:t>Mocking</a:t>
            </a:r>
            <a:r>
              <a:rPr lang="da-DK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 err="1">
                <a:latin typeface="Courier New" panose="02070309020205020404" pitchFamily="49" charset="0"/>
              </a:rPr>
              <a:t>Mock</a:t>
            </a:r>
            <a:r>
              <a:rPr lang="da-DK" dirty="0">
                <a:latin typeface="Courier New" panose="02070309020205020404" pitchFamily="49" charset="0"/>
              </a:rPr>
              <a:t>()</a:t>
            </a:r>
            <a:r>
              <a:rPr lang="da-DK" dirty="0"/>
              <a:t> erstatter databasen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/>
              <a:t>Ingen rigtig database kaldes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/>
              <a:t>Testen verificerer både: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returværdi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at den rigtige metode blev kaldt med rigtige argumenter</a:t>
            </a:r>
          </a:p>
          <a:p>
            <a:pPr>
              <a:buNone/>
            </a:pPr>
            <a:r>
              <a:rPr lang="da-DK" dirty="0"/>
              <a:t>Dette er det mest grundlæggende og typiske unittest + </a:t>
            </a:r>
            <a:r>
              <a:rPr lang="da-DK" dirty="0" err="1"/>
              <a:t>mock</a:t>
            </a:r>
            <a:r>
              <a:rPr lang="da-DK" dirty="0"/>
              <a:t>-mønster i Python.</a:t>
            </a:r>
          </a:p>
        </p:txBody>
      </p:sp>
    </p:spTree>
    <p:extLst>
      <p:ext uri="{BB962C8B-B14F-4D97-AF65-F5344CB8AC3E}">
        <p14:creationId xmlns:p14="http://schemas.microsoft.com/office/powerpoint/2010/main" val="15496680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3BD6A-B2B3-96F7-711D-D91615B4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E75336-9F4F-625F-CD5D-F95360ED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Sikkerhed og </a:t>
            </a:r>
            <a:r>
              <a:rPr lang="da-DK" dirty="0" err="1"/>
              <a:t>cryptography</a:t>
            </a:r>
            <a:r>
              <a:rPr lang="da-DK" dirty="0"/>
              <a:t> I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C4DE3735-EE60-ED24-F296-C083A07CA9AB}"/>
              </a:ext>
            </a:extLst>
          </p:cNvPr>
          <p:cNvSpPr txBox="1"/>
          <p:nvPr/>
        </p:nvSpPr>
        <p:spPr>
          <a:xfrm>
            <a:off x="612648" y="1193038"/>
            <a:ext cx="5483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a-DK" altLang="da-DK" sz="1400" b="1" dirty="0">
                <a:latin typeface="Arial" panose="020B0604020202020204" pitchFamily="34" charset="0"/>
              </a:rPr>
              <a:t>Kryptografi</a:t>
            </a:r>
            <a:r>
              <a:rPr lang="da-DK" altLang="da-DK" sz="1400" dirty="0">
                <a:latin typeface="Arial" panose="020B0604020202020204" pitchFamily="34" charset="0"/>
              </a:rPr>
              <a:t>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a-DK" altLang="da-DK" sz="1400" dirty="0">
                <a:latin typeface="Arial" panose="020B0604020202020204" pitchFamily="34" charset="0"/>
              </a:rPr>
              <a:t>Matematiske metoder til at sikre information gennem kryptering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a-DK" altLang="da-DK" sz="1400" dirty="0">
                <a:latin typeface="Arial" panose="020B0604020202020204" pitchFamily="34" charset="0"/>
              </a:rPr>
              <a:t>Virker begge veje med den(de) samme nøgle(r).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2203928A-9DE0-F9D7-6209-C3A8774C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409" y="1666488"/>
            <a:ext cx="4476649" cy="4476649"/>
          </a:xfrm>
          <a:prstGeom prst="rect">
            <a:avLst/>
          </a:prstGeom>
        </p:spPr>
      </p:pic>
      <p:sp>
        <p:nvSpPr>
          <p:cNvPr id="9" name="Tekstfelt 8">
            <a:extLst>
              <a:ext uri="{FF2B5EF4-FFF2-40B4-BE49-F238E27FC236}">
                <a16:creationId xmlns:a16="http://schemas.microsoft.com/office/drawing/2014/main" id="{0AAF294A-D1F9-EC49-2E4B-DD23C981E256}"/>
              </a:ext>
            </a:extLst>
          </p:cNvPr>
          <p:cNvSpPr txBox="1"/>
          <p:nvPr/>
        </p:nvSpPr>
        <p:spPr>
          <a:xfrm>
            <a:off x="10537951" y="5722737"/>
            <a:ext cx="892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>
                <a:solidFill>
                  <a:schemeClr val="bg1"/>
                </a:solidFill>
              </a:rPr>
              <a:t>WIKI </a:t>
            </a:r>
            <a:r>
              <a:rPr lang="da-DK" sz="1200" dirty="0" err="1">
                <a:solidFill>
                  <a:schemeClr val="bg1"/>
                </a:solidFill>
              </a:rPr>
              <a:t>Pedia</a:t>
            </a:r>
            <a:endParaRPr lang="da-DK" sz="1200" dirty="0">
              <a:solidFill>
                <a:schemeClr val="bg1"/>
              </a:solidFill>
            </a:endParaRPr>
          </a:p>
        </p:txBody>
      </p:sp>
      <p:grpSp>
        <p:nvGrpSpPr>
          <p:cNvPr id="32" name="Gruppe 31">
            <a:extLst>
              <a:ext uri="{FF2B5EF4-FFF2-40B4-BE49-F238E27FC236}">
                <a16:creationId xmlns:a16="http://schemas.microsoft.com/office/drawing/2014/main" id="{88B94401-71BD-5807-23B2-440209C07E85}"/>
              </a:ext>
            </a:extLst>
          </p:cNvPr>
          <p:cNvGrpSpPr/>
          <p:nvPr/>
        </p:nvGrpSpPr>
        <p:grpSpPr>
          <a:xfrm>
            <a:off x="1075102" y="1994338"/>
            <a:ext cx="4004734" cy="2048933"/>
            <a:chOff x="728133" y="2700867"/>
            <a:chExt cx="4004734" cy="2048933"/>
          </a:xfrm>
        </p:grpSpPr>
        <p:sp>
          <p:nvSpPr>
            <p:cNvPr id="31" name="Rektangel 30">
              <a:extLst>
                <a:ext uri="{FF2B5EF4-FFF2-40B4-BE49-F238E27FC236}">
                  <a16:creationId xmlns:a16="http://schemas.microsoft.com/office/drawing/2014/main" id="{A73701E4-CFF3-487B-02FE-D06908580386}"/>
                </a:ext>
              </a:extLst>
            </p:cNvPr>
            <p:cNvSpPr/>
            <p:nvPr/>
          </p:nvSpPr>
          <p:spPr>
            <a:xfrm>
              <a:off x="728133" y="2700867"/>
              <a:ext cx="4004734" cy="20489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grpSp>
          <p:nvGrpSpPr>
            <p:cNvPr id="20" name="Gruppe 19">
              <a:extLst>
                <a:ext uri="{FF2B5EF4-FFF2-40B4-BE49-F238E27FC236}">
                  <a16:creationId xmlns:a16="http://schemas.microsoft.com/office/drawing/2014/main" id="{E0DA12B9-2F61-EC68-FCF1-327D5511AC45}"/>
                </a:ext>
              </a:extLst>
            </p:cNvPr>
            <p:cNvGrpSpPr/>
            <p:nvPr/>
          </p:nvGrpSpPr>
          <p:grpSpPr>
            <a:xfrm>
              <a:off x="776818" y="2794000"/>
              <a:ext cx="3867150" cy="1909420"/>
              <a:chOff x="776818" y="2620258"/>
              <a:chExt cx="4724399" cy="2317960"/>
            </a:xfrm>
          </p:grpSpPr>
          <p:sp>
            <p:nvSpPr>
              <p:cNvPr id="11" name="Rektangel 10">
                <a:extLst>
                  <a:ext uri="{FF2B5EF4-FFF2-40B4-BE49-F238E27FC236}">
                    <a16:creationId xmlns:a16="http://schemas.microsoft.com/office/drawing/2014/main" id="{A37AE8F4-C1C2-3D3E-3DEC-8529222551E2}"/>
                  </a:ext>
                </a:extLst>
              </p:cNvPr>
              <p:cNvSpPr/>
              <p:nvPr/>
            </p:nvSpPr>
            <p:spPr>
              <a:xfrm>
                <a:off x="776818" y="3379497"/>
                <a:ext cx="1354666" cy="3048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200" dirty="0"/>
                  <a:t>Ikke krypteret</a:t>
                </a:r>
              </a:p>
            </p:txBody>
          </p:sp>
          <p:sp>
            <p:nvSpPr>
              <p:cNvPr id="12" name="Rektangel 11">
                <a:extLst>
                  <a:ext uri="{FF2B5EF4-FFF2-40B4-BE49-F238E27FC236}">
                    <a16:creationId xmlns:a16="http://schemas.microsoft.com/office/drawing/2014/main" id="{E1209E82-DA83-07EF-CBC3-DA3B42C4C968}"/>
                  </a:ext>
                </a:extLst>
              </p:cNvPr>
              <p:cNvSpPr/>
              <p:nvPr/>
            </p:nvSpPr>
            <p:spPr>
              <a:xfrm>
                <a:off x="2491318" y="2908933"/>
                <a:ext cx="1354666" cy="3048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200" dirty="0" err="1"/>
                  <a:t>Krypteting</a:t>
                </a:r>
                <a:endParaRPr lang="da-DK" sz="1200" dirty="0"/>
              </a:p>
            </p:txBody>
          </p:sp>
          <p:sp>
            <p:nvSpPr>
              <p:cNvPr id="13" name="Rektangel 12">
                <a:extLst>
                  <a:ext uri="{FF2B5EF4-FFF2-40B4-BE49-F238E27FC236}">
                    <a16:creationId xmlns:a16="http://schemas.microsoft.com/office/drawing/2014/main" id="{333C8C60-C396-D31A-E9BC-3173D4F1345C}"/>
                  </a:ext>
                </a:extLst>
              </p:cNvPr>
              <p:cNvSpPr/>
              <p:nvPr/>
            </p:nvSpPr>
            <p:spPr>
              <a:xfrm>
                <a:off x="2491318" y="3379497"/>
                <a:ext cx="1354666" cy="30480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200" dirty="0"/>
                  <a:t>Nøgle</a:t>
                </a:r>
              </a:p>
            </p:txBody>
          </p:sp>
          <p:sp>
            <p:nvSpPr>
              <p:cNvPr id="14" name="Rektangel 13">
                <a:extLst>
                  <a:ext uri="{FF2B5EF4-FFF2-40B4-BE49-F238E27FC236}">
                    <a16:creationId xmlns:a16="http://schemas.microsoft.com/office/drawing/2014/main" id="{85B70DC2-182F-9625-DBE1-85F7962894E3}"/>
                  </a:ext>
                </a:extLst>
              </p:cNvPr>
              <p:cNvSpPr/>
              <p:nvPr/>
            </p:nvSpPr>
            <p:spPr>
              <a:xfrm>
                <a:off x="2491318" y="3850061"/>
                <a:ext cx="1354666" cy="3048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200" dirty="0"/>
                  <a:t>Dekryptering</a:t>
                </a:r>
              </a:p>
            </p:txBody>
          </p:sp>
          <p:sp>
            <p:nvSpPr>
              <p:cNvPr id="15" name="Rektangel 14">
                <a:extLst>
                  <a:ext uri="{FF2B5EF4-FFF2-40B4-BE49-F238E27FC236}">
                    <a16:creationId xmlns:a16="http://schemas.microsoft.com/office/drawing/2014/main" id="{1D34C1EE-2D51-0920-B462-7BA29AD256C4}"/>
                  </a:ext>
                </a:extLst>
              </p:cNvPr>
              <p:cNvSpPr/>
              <p:nvPr/>
            </p:nvSpPr>
            <p:spPr>
              <a:xfrm>
                <a:off x="4087287" y="3379497"/>
                <a:ext cx="1354666" cy="30480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200" dirty="0"/>
                  <a:t>Krypteret</a:t>
                </a:r>
              </a:p>
            </p:txBody>
          </p:sp>
          <p:sp>
            <p:nvSpPr>
              <p:cNvPr id="16" name="Pil: bøjet nedad 15">
                <a:extLst>
                  <a:ext uri="{FF2B5EF4-FFF2-40B4-BE49-F238E27FC236}">
                    <a16:creationId xmlns:a16="http://schemas.microsoft.com/office/drawing/2014/main" id="{87486FB2-F228-987E-DF80-9D155B49D7D1}"/>
                  </a:ext>
                </a:extLst>
              </p:cNvPr>
              <p:cNvSpPr/>
              <p:nvPr/>
            </p:nvSpPr>
            <p:spPr>
              <a:xfrm>
                <a:off x="1678518" y="2620258"/>
                <a:ext cx="2980265" cy="676357"/>
              </a:xfrm>
              <a:prstGeom prst="curved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Pil: bøjet nedad 17">
                <a:extLst>
                  <a:ext uri="{FF2B5EF4-FFF2-40B4-BE49-F238E27FC236}">
                    <a16:creationId xmlns:a16="http://schemas.microsoft.com/office/drawing/2014/main" id="{1CDF5C8E-9338-38DB-5FDF-12BA1E8EECEB}"/>
                  </a:ext>
                </a:extLst>
              </p:cNvPr>
              <p:cNvSpPr/>
              <p:nvPr/>
            </p:nvSpPr>
            <p:spPr>
              <a:xfrm rot="10800000">
                <a:off x="1666879" y="3816682"/>
                <a:ext cx="2980265" cy="676357"/>
              </a:xfrm>
              <a:prstGeom prst="curved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ktangel 18">
                <a:extLst>
                  <a:ext uri="{FF2B5EF4-FFF2-40B4-BE49-F238E27FC236}">
                    <a16:creationId xmlns:a16="http://schemas.microsoft.com/office/drawing/2014/main" id="{32FADF76-2A24-1705-EE72-E6B42656F377}"/>
                  </a:ext>
                </a:extLst>
              </p:cNvPr>
              <p:cNvSpPr/>
              <p:nvPr/>
            </p:nvSpPr>
            <p:spPr>
              <a:xfrm>
                <a:off x="836082" y="4625424"/>
                <a:ext cx="4665135" cy="31279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400" dirty="0"/>
                  <a:t>Brute Force Attack</a:t>
                </a:r>
              </a:p>
            </p:txBody>
          </p:sp>
        </p:grpSp>
      </p:grpSp>
      <p:grpSp>
        <p:nvGrpSpPr>
          <p:cNvPr id="42" name="Gruppe 41">
            <a:extLst>
              <a:ext uri="{FF2B5EF4-FFF2-40B4-BE49-F238E27FC236}">
                <a16:creationId xmlns:a16="http://schemas.microsoft.com/office/drawing/2014/main" id="{731E815C-707B-DACD-54BE-E653D507535E}"/>
              </a:ext>
            </a:extLst>
          </p:cNvPr>
          <p:cNvGrpSpPr/>
          <p:nvPr/>
        </p:nvGrpSpPr>
        <p:grpSpPr>
          <a:xfrm>
            <a:off x="776142" y="5574482"/>
            <a:ext cx="4978401" cy="521235"/>
            <a:chOff x="1007532" y="5112449"/>
            <a:chExt cx="4978401" cy="521235"/>
          </a:xfrm>
        </p:grpSpPr>
        <p:sp>
          <p:nvSpPr>
            <p:cNvPr id="35" name="Rektangel 34">
              <a:extLst>
                <a:ext uri="{FF2B5EF4-FFF2-40B4-BE49-F238E27FC236}">
                  <a16:creationId xmlns:a16="http://schemas.microsoft.com/office/drawing/2014/main" id="{609FC599-D2D0-077D-DD11-F3CF574C8222}"/>
                </a:ext>
              </a:extLst>
            </p:cNvPr>
            <p:cNvSpPr/>
            <p:nvPr/>
          </p:nvSpPr>
          <p:spPr>
            <a:xfrm>
              <a:off x="1007532" y="5112449"/>
              <a:ext cx="4978401" cy="5212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3" name="Rektangel 22">
              <a:extLst>
                <a:ext uri="{FF2B5EF4-FFF2-40B4-BE49-F238E27FC236}">
                  <a16:creationId xmlns:a16="http://schemas.microsoft.com/office/drawing/2014/main" id="{ED7E7CC3-D8BD-8C72-D697-2EC7F227A083}"/>
                </a:ext>
              </a:extLst>
            </p:cNvPr>
            <p:cNvSpPr/>
            <p:nvPr/>
          </p:nvSpPr>
          <p:spPr>
            <a:xfrm>
              <a:off x="1094826" y="5241179"/>
              <a:ext cx="1354666" cy="304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 u="sng" dirty="0"/>
                <a:t>Ikke krypteret</a:t>
              </a:r>
            </a:p>
          </p:txBody>
        </p:sp>
        <p:sp>
          <p:nvSpPr>
            <p:cNvPr id="25" name="Rektangel 24">
              <a:extLst>
                <a:ext uri="{FF2B5EF4-FFF2-40B4-BE49-F238E27FC236}">
                  <a16:creationId xmlns:a16="http://schemas.microsoft.com/office/drawing/2014/main" id="{3BDA3D2B-B8B2-9BA5-BD13-CDF66837D196}"/>
                </a:ext>
              </a:extLst>
            </p:cNvPr>
            <p:cNvSpPr/>
            <p:nvPr/>
          </p:nvSpPr>
          <p:spPr>
            <a:xfrm>
              <a:off x="2809326" y="5241179"/>
              <a:ext cx="1354666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 u="sng" dirty="0"/>
                <a:t>Matematik</a:t>
              </a:r>
            </a:p>
          </p:txBody>
        </p:sp>
        <p:sp>
          <p:nvSpPr>
            <p:cNvPr id="27" name="Rektangel 26">
              <a:extLst>
                <a:ext uri="{FF2B5EF4-FFF2-40B4-BE49-F238E27FC236}">
                  <a16:creationId xmlns:a16="http://schemas.microsoft.com/office/drawing/2014/main" id="{52AA142E-BB9D-3949-8D56-1148A1E64C35}"/>
                </a:ext>
              </a:extLst>
            </p:cNvPr>
            <p:cNvSpPr/>
            <p:nvPr/>
          </p:nvSpPr>
          <p:spPr>
            <a:xfrm>
              <a:off x="4523826" y="5249958"/>
              <a:ext cx="1354666" cy="3048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 u="sng" dirty="0"/>
                <a:t>HASH</a:t>
              </a:r>
            </a:p>
          </p:txBody>
        </p:sp>
        <p:sp>
          <p:nvSpPr>
            <p:cNvPr id="33" name="Pil: højre 32">
              <a:extLst>
                <a:ext uri="{FF2B5EF4-FFF2-40B4-BE49-F238E27FC236}">
                  <a16:creationId xmlns:a16="http://schemas.microsoft.com/office/drawing/2014/main" id="{415D63B8-F498-1323-4371-BAEBCCECE6FC}"/>
                </a:ext>
              </a:extLst>
            </p:cNvPr>
            <p:cNvSpPr/>
            <p:nvPr/>
          </p:nvSpPr>
          <p:spPr>
            <a:xfrm>
              <a:off x="2520389" y="5316844"/>
              <a:ext cx="218040" cy="17102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4" name="Pil: højre 33">
              <a:extLst>
                <a:ext uri="{FF2B5EF4-FFF2-40B4-BE49-F238E27FC236}">
                  <a16:creationId xmlns:a16="http://schemas.microsoft.com/office/drawing/2014/main" id="{06825DB7-2A97-814B-C026-226D05B200B4}"/>
                </a:ext>
              </a:extLst>
            </p:cNvPr>
            <p:cNvSpPr/>
            <p:nvPr/>
          </p:nvSpPr>
          <p:spPr>
            <a:xfrm>
              <a:off x="4234889" y="5308065"/>
              <a:ext cx="218040" cy="17102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44" name="Tekstfelt 43">
            <a:extLst>
              <a:ext uri="{FF2B5EF4-FFF2-40B4-BE49-F238E27FC236}">
                <a16:creationId xmlns:a16="http://schemas.microsoft.com/office/drawing/2014/main" id="{A831FDAB-51CC-E6A1-0A04-55B4030A1E4B}"/>
              </a:ext>
            </a:extLst>
          </p:cNvPr>
          <p:cNvSpPr txBox="1"/>
          <p:nvPr/>
        </p:nvSpPr>
        <p:spPr>
          <a:xfrm>
            <a:off x="6417733" y="115767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a-DK" altLang="da-DK" sz="1400" b="1" dirty="0">
                <a:latin typeface="Arial" panose="020B0604020202020204" pitchFamily="34" charset="0"/>
              </a:rPr>
              <a:t>Informationssikkerhed</a:t>
            </a:r>
            <a:r>
              <a:rPr lang="da-DK" altLang="da-DK" sz="1400" dirty="0">
                <a:latin typeface="Arial" panose="020B0604020202020204" pitchFamily="34" charset="0"/>
              </a:rPr>
              <a:t>: Beskyttelse af data mod uautoriseret adgang, ændring og ødelæggelse.</a:t>
            </a:r>
          </a:p>
        </p:txBody>
      </p:sp>
      <p:sp>
        <p:nvSpPr>
          <p:cNvPr id="45" name="Tekstfelt 44">
            <a:extLst>
              <a:ext uri="{FF2B5EF4-FFF2-40B4-BE49-F238E27FC236}">
                <a16:creationId xmlns:a16="http://schemas.microsoft.com/office/drawing/2014/main" id="{586B4F3A-28C0-5093-849E-2C6E1767899C}"/>
              </a:ext>
            </a:extLst>
          </p:cNvPr>
          <p:cNvSpPr txBox="1"/>
          <p:nvPr/>
        </p:nvSpPr>
        <p:spPr>
          <a:xfrm>
            <a:off x="699942" y="4349325"/>
            <a:ext cx="54833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a-DK" altLang="da-DK" sz="1400" b="1" dirty="0" err="1">
                <a:solidFill>
                  <a:schemeClr val="bg1"/>
                </a:solidFill>
                <a:latin typeface="Arial" panose="020B0604020202020204" pitchFamily="34" charset="0"/>
              </a:rPr>
              <a:t>Hashing</a:t>
            </a:r>
            <a:endParaRPr lang="da-DK" altLang="da-DK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a-DK" altLang="da-DK" sz="1400" dirty="0" err="1">
                <a:solidFill>
                  <a:schemeClr val="bg1"/>
                </a:solidFill>
                <a:latin typeface="Arial" panose="020B0604020202020204" pitchFamily="34" charset="0"/>
              </a:rPr>
              <a:t>Matemateisk</a:t>
            </a:r>
            <a:r>
              <a:rPr lang="da-DK" altLang="da-DK" sz="1400" dirty="0">
                <a:solidFill>
                  <a:schemeClr val="bg1"/>
                </a:solidFill>
                <a:latin typeface="Arial" panose="020B0604020202020204" pitchFamily="34" charset="0"/>
              </a:rPr>
              <a:t> metode til at lave en checksum af data – små ændringer i data medfører store ændringer i resultatet</a:t>
            </a:r>
            <a:br>
              <a:rPr lang="da-DK" altLang="da-DK" sz="1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da-DK" altLang="da-DK" sz="1400" dirty="0">
                <a:solidFill>
                  <a:schemeClr val="bg1"/>
                </a:solidFill>
                <a:latin typeface="Arial" panose="020B0604020202020204" pitchFamily="34" charset="0"/>
              </a:rPr>
              <a:t>Simpel beregning </a:t>
            </a:r>
            <a:r>
              <a:rPr lang="da-DK" altLang="da-DK" sz="1400" dirty="0" err="1">
                <a:solidFill>
                  <a:schemeClr val="bg1"/>
                </a:solidFill>
                <a:latin typeface="Arial" panose="020B0604020202020204" pitchFamily="34" charset="0"/>
              </a:rPr>
              <a:t>modulus</a:t>
            </a:r>
            <a:r>
              <a:rPr lang="da-DK" altLang="da-DK" sz="1400" dirty="0">
                <a:solidFill>
                  <a:schemeClr val="bg1"/>
                </a:solidFill>
                <a:latin typeface="Arial" panose="020B0604020202020204" pitchFamily="34" charset="0"/>
              </a:rPr>
              <a:t> 11 – bruges til </a:t>
            </a:r>
            <a:r>
              <a:rPr lang="da-DK" altLang="da-DK" sz="1400" dirty="0" err="1">
                <a:solidFill>
                  <a:schemeClr val="bg1"/>
                </a:solidFill>
                <a:latin typeface="Arial" panose="020B0604020202020204" pitchFamily="34" charset="0"/>
              </a:rPr>
              <a:t>cpr,cvr,ISBN</a:t>
            </a:r>
            <a:r>
              <a:rPr lang="da-DK" altLang="da-DK" sz="1400" dirty="0">
                <a:solidFill>
                  <a:schemeClr val="bg1"/>
                </a:solidFill>
                <a:latin typeface="Arial" panose="020B0604020202020204" pitchFamily="34" charset="0"/>
              </a:rPr>
              <a:t> som checksum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a-DK" altLang="da-DK" sz="1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405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1CA43-070F-11A2-478B-FA577B842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2C5A3B-8896-CB3A-F4FA-244B5D195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Sikkerhed og </a:t>
            </a:r>
            <a:r>
              <a:rPr lang="da-DK" dirty="0" err="1"/>
              <a:t>cryptography</a:t>
            </a:r>
            <a:r>
              <a:rPr lang="da-DK" dirty="0"/>
              <a:t> II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4F7A70F8-D277-B82C-4ECC-5141A8A0D3BB}"/>
              </a:ext>
            </a:extLst>
          </p:cNvPr>
          <p:cNvSpPr txBox="1"/>
          <p:nvPr/>
        </p:nvSpPr>
        <p:spPr>
          <a:xfrm>
            <a:off x="612648" y="1193038"/>
            <a:ext cx="375615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400" b="1" dirty="0">
                <a:solidFill>
                  <a:schemeClr val="bg1"/>
                </a:solidFill>
              </a:rPr>
              <a:t>Symmetrisk kryptering</a:t>
            </a:r>
            <a:r>
              <a:rPr lang="da-DK" sz="1400" dirty="0">
                <a:solidFill>
                  <a:schemeClr val="bg1"/>
                </a:solidFill>
              </a:rPr>
              <a:t> bruger </a:t>
            </a:r>
            <a:r>
              <a:rPr lang="da-DK" sz="1400" b="1" dirty="0">
                <a:solidFill>
                  <a:schemeClr val="bg1"/>
                </a:solidFill>
              </a:rPr>
              <a:t>den samme nøgle</a:t>
            </a:r>
            <a:r>
              <a:rPr lang="da-DK" sz="1400" dirty="0">
                <a:solidFill>
                  <a:schemeClr val="bg1"/>
                </a:solidFill>
              </a:rPr>
              <a:t> til både kryptering og dekryptering.</a:t>
            </a:r>
          </a:p>
          <a:p>
            <a:r>
              <a:rPr lang="da-DK" sz="1400" b="1" dirty="0">
                <a:solidFill>
                  <a:schemeClr val="bg1"/>
                </a:solidFill>
              </a:rPr>
              <a:t>Hvordan det fungerer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Afsender og modtager deler én hemmelig nøgle.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Data krypteres med nøglen.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Samme nøgle bruges til at dekryptere data igen.</a:t>
            </a:r>
          </a:p>
          <a:p>
            <a:r>
              <a:rPr lang="da-DK" sz="1400" b="1" dirty="0">
                <a:solidFill>
                  <a:schemeClr val="bg1"/>
                </a:solidFill>
              </a:rPr>
              <a:t>Fordele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Meget hurtig.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Effektiv til store datamængder.</a:t>
            </a:r>
          </a:p>
          <a:p>
            <a:r>
              <a:rPr lang="da-DK" sz="1400" b="1" dirty="0">
                <a:solidFill>
                  <a:schemeClr val="bg1"/>
                </a:solidFill>
              </a:rPr>
              <a:t>Ulemper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Nøglen skal deles sikkert.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Hvis nøglen kompromitteres, er alle data kompromitteret.</a:t>
            </a:r>
          </a:p>
          <a:p>
            <a:r>
              <a:rPr lang="da-DK" sz="1400" b="1" dirty="0">
                <a:solidFill>
                  <a:schemeClr val="bg1"/>
                </a:solidFill>
              </a:rPr>
              <a:t>Typiske anvendelser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Diskkryptering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VPN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Kryptering af filer og databaser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1008266C-6490-305E-416C-C1AF24D2C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885" y="5409756"/>
            <a:ext cx="2327118" cy="1211231"/>
          </a:xfrm>
          <a:prstGeom prst="rect">
            <a:avLst/>
          </a:prstGeom>
        </p:spPr>
      </p:pic>
      <p:grpSp>
        <p:nvGrpSpPr>
          <p:cNvPr id="63" name="Gruppe 62">
            <a:extLst>
              <a:ext uri="{FF2B5EF4-FFF2-40B4-BE49-F238E27FC236}">
                <a16:creationId xmlns:a16="http://schemas.microsoft.com/office/drawing/2014/main" id="{53A181A5-B4D0-7D84-3B23-858763EF95F3}"/>
              </a:ext>
            </a:extLst>
          </p:cNvPr>
          <p:cNvGrpSpPr/>
          <p:nvPr/>
        </p:nvGrpSpPr>
        <p:grpSpPr>
          <a:xfrm>
            <a:off x="4673599" y="3776571"/>
            <a:ext cx="6011334" cy="2852241"/>
            <a:chOff x="4512733" y="3150626"/>
            <a:chExt cx="6011334" cy="2852241"/>
          </a:xfrm>
        </p:grpSpPr>
        <p:sp>
          <p:nvSpPr>
            <p:cNvPr id="62" name="Rektangel 61">
              <a:extLst>
                <a:ext uri="{FF2B5EF4-FFF2-40B4-BE49-F238E27FC236}">
                  <a16:creationId xmlns:a16="http://schemas.microsoft.com/office/drawing/2014/main" id="{31F8AAC5-185A-8E63-1650-0B085DD01009}"/>
                </a:ext>
              </a:extLst>
            </p:cNvPr>
            <p:cNvSpPr/>
            <p:nvPr/>
          </p:nvSpPr>
          <p:spPr>
            <a:xfrm>
              <a:off x="4512733" y="3150626"/>
              <a:ext cx="6011334" cy="285224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1" name="Rektangel 30">
              <a:extLst>
                <a:ext uri="{FF2B5EF4-FFF2-40B4-BE49-F238E27FC236}">
                  <a16:creationId xmlns:a16="http://schemas.microsoft.com/office/drawing/2014/main" id="{A4504FF4-0CF2-0E23-68BA-726711A94D03}"/>
                </a:ext>
              </a:extLst>
            </p:cNvPr>
            <p:cNvSpPr/>
            <p:nvPr/>
          </p:nvSpPr>
          <p:spPr>
            <a:xfrm>
              <a:off x="4688273" y="4654958"/>
              <a:ext cx="4442658" cy="11322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grpSp>
          <p:nvGrpSpPr>
            <p:cNvPr id="26" name="Gruppe 25">
              <a:extLst>
                <a:ext uri="{FF2B5EF4-FFF2-40B4-BE49-F238E27FC236}">
                  <a16:creationId xmlns:a16="http://schemas.microsoft.com/office/drawing/2014/main" id="{922C079F-BA7D-7833-F64A-98486F13232F}"/>
                </a:ext>
              </a:extLst>
            </p:cNvPr>
            <p:cNvGrpSpPr/>
            <p:nvPr/>
          </p:nvGrpSpPr>
          <p:grpSpPr>
            <a:xfrm>
              <a:off x="5824767" y="4657985"/>
              <a:ext cx="2181576" cy="490331"/>
              <a:chOff x="8965816" y="1210274"/>
              <a:chExt cx="2415211" cy="490331"/>
            </a:xfrm>
          </p:grpSpPr>
          <p:sp>
            <p:nvSpPr>
              <p:cNvPr id="13" name="Rektangel 12">
                <a:extLst>
                  <a:ext uri="{FF2B5EF4-FFF2-40B4-BE49-F238E27FC236}">
                    <a16:creationId xmlns:a16="http://schemas.microsoft.com/office/drawing/2014/main" id="{3BD594FB-C359-6540-E8B1-1FD7F5BCD49C}"/>
                  </a:ext>
                </a:extLst>
              </p:cNvPr>
              <p:cNvSpPr/>
              <p:nvPr/>
            </p:nvSpPr>
            <p:spPr>
              <a:xfrm>
                <a:off x="8965816" y="1449526"/>
                <a:ext cx="1108860" cy="251079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200" dirty="0"/>
                  <a:t>Nøgle</a:t>
                </a:r>
              </a:p>
            </p:txBody>
          </p:sp>
          <p:sp>
            <p:nvSpPr>
              <p:cNvPr id="4" name="Rektangel 3">
                <a:extLst>
                  <a:ext uri="{FF2B5EF4-FFF2-40B4-BE49-F238E27FC236}">
                    <a16:creationId xmlns:a16="http://schemas.microsoft.com/office/drawing/2014/main" id="{F720025B-B682-104F-31FA-85143FBEAF2F}"/>
                  </a:ext>
                </a:extLst>
              </p:cNvPr>
              <p:cNvSpPr/>
              <p:nvPr/>
            </p:nvSpPr>
            <p:spPr>
              <a:xfrm>
                <a:off x="10272167" y="1449526"/>
                <a:ext cx="1108860" cy="25107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200" dirty="0"/>
                  <a:t>Nøgle</a:t>
                </a:r>
              </a:p>
            </p:txBody>
          </p:sp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2EE06F09-3F2F-926F-7BB7-D9534FE6C225}"/>
                  </a:ext>
                </a:extLst>
              </p:cNvPr>
              <p:cNvSpPr txBox="1"/>
              <p:nvPr/>
            </p:nvSpPr>
            <p:spPr>
              <a:xfrm>
                <a:off x="9024601" y="1220629"/>
                <a:ext cx="8835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sz="1200" dirty="0"/>
                  <a:t>Public </a:t>
                </a:r>
                <a:r>
                  <a:rPr lang="da-DK" sz="1200" dirty="0" err="1"/>
                  <a:t>key</a:t>
                </a:r>
                <a:endParaRPr lang="da-DK" sz="1200" dirty="0"/>
              </a:p>
            </p:txBody>
          </p:sp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9DA6ECDC-C549-D7AA-AB70-9F9F2FA31E43}"/>
                  </a:ext>
                </a:extLst>
              </p:cNvPr>
              <p:cNvSpPr txBox="1"/>
              <p:nvPr/>
            </p:nvSpPr>
            <p:spPr>
              <a:xfrm>
                <a:off x="10293396" y="1210274"/>
                <a:ext cx="9444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sz="1200" dirty="0"/>
                  <a:t>Private </a:t>
                </a:r>
                <a:r>
                  <a:rPr lang="da-DK" sz="1200" dirty="0" err="1"/>
                  <a:t>key</a:t>
                </a:r>
                <a:endParaRPr lang="da-DK" sz="1200" dirty="0"/>
              </a:p>
            </p:txBody>
          </p:sp>
        </p:grpSp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DCBCE2A1-D2CA-08B7-AA76-D958102AE4AD}"/>
                </a:ext>
              </a:extLst>
            </p:cNvPr>
            <p:cNvSpPr/>
            <p:nvPr/>
          </p:nvSpPr>
          <p:spPr>
            <a:xfrm>
              <a:off x="4721745" y="3458403"/>
              <a:ext cx="4315885" cy="37253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grpSp>
          <p:nvGrpSpPr>
            <p:cNvPr id="22" name="Gruppe 21">
              <a:extLst>
                <a:ext uri="{FF2B5EF4-FFF2-40B4-BE49-F238E27FC236}">
                  <a16:creationId xmlns:a16="http://schemas.microsoft.com/office/drawing/2014/main" id="{A862F716-5C16-4ED0-8155-EFE4ADF4C8B1}"/>
                </a:ext>
              </a:extLst>
            </p:cNvPr>
            <p:cNvGrpSpPr/>
            <p:nvPr/>
          </p:nvGrpSpPr>
          <p:grpSpPr>
            <a:xfrm>
              <a:off x="4836415" y="3519132"/>
              <a:ext cx="4133694" cy="253999"/>
              <a:chOff x="4695225" y="2439014"/>
              <a:chExt cx="4133694" cy="253999"/>
            </a:xfrm>
          </p:grpSpPr>
          <p:sp>
            <p:nvSpPr>
              <p:cNvPr id="11" name="Rektangel 10">
                <a:extLst>
                  <a:ext uri="{FF2B5EF4-FFF2-40B4-BE49-F238E27FC236}">
                    <a16:creationId xmlns:a16="http://schemas.microsoft.com/office/drawing/2014/main" id="{E5585AC4-B16C-41E8-6796-D46458C68403}"/>
                  </a:ext>
                </a:extLst>
              </p:cNvPr>
              <p:cNvSpPr/>
              <p:nvPr/>
            </p:nvSpPr>
            <p:spPr>
              <a:xfrm>
                <a:off x="4695225" y="2439014"/>
                <a:ext cx="1108860" cy="25107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200" dirty="0"/>
                  <a:t>Ikke krypteret</a:t>
                </a:r>
              </a:p>
            </p:txBody>
          </p:sp>
          <p:sp>
            <p:nvSpPr>
              <p:cNvPr id="12" name="Rektangel 11">
                <a:extLst>
                  <a:ext uri="{FF2B5EF4-FFF2-40B4-BE49-F238E27FC236}">
                    <a16:creationId xmlns:a16="http://schemas.microsoft.com/office/drawing/2014/main" id="{86E196A0-85A3-9D0B-9F1B-FE25FB97372B}"/>
                  </a:ext>
                </a:extLst>
              </p:cNvPr>
              <p:cNvSpPr/>
              <p:nvPr/>
            </p:nvSpPr>
            <p:spPr>
              <a:xfrm>
                <a:off x="6169199" y="2439014"/>
                <a:ext cx="1108860" cy="251079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200" dirty="0"/>
                  <a:t>Kryptering</a:t>
                </a:r>
              </a:p>
            </p:txBody>
          </p:sp>
          <p:sp>
            <p:nvSpPr>
              <p:cNvPr id="15" name="Rektangel 14">
                <a:extLst>
                  <a:ext uri="{FF2B5EF4-FFF2-40B4-BE49-F238E27FC236}">
                    <a16:creationId xmlns:a16="http://schemas.microsoft.com/office/drawing/2014/main" id="{86F5A367-C046-B868-2E1C-F5C19BDED12E}"/>
                  </a:ext>
                </a:extLst>
              </p:cNvPr>
              <p:cNvSpPr/>
              <p:nvPr/>
            </p:nvSpPr>
            <p:spPr>
              <a:xfrm>
                <a:off x="7720059" y="2441934"/>
                <a:ext cx="1108860" cy="251079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sz="1200" dirty="0"/>
                  <a:t>Krypteret</a:t>
                </a:r>
              </a:p>
            </p:txBody>
          </p:sp>
          <p:sp>
            <p:nvSpPr>
              <p:cNvPr id="17" name="Pil: højre 16">
                <a:extLst>
                  <a:ext uri="{FF2B5EF4-FFF2-40B4-BE49-F238E27FC236}">
                    <a16:creationId xmlns:a16="http://schemas.microsoft.com/office/drawing/2014/main" id="{F46600DA-CDCD-444D-3ED2-57242FE509B7}"/>
                  </a:ext>
                </a:extLst>
              </p:cNvPr>
              <p:cNvSpPr/>
              <p:nvPr/>
            </p:nvSpPr>
            <p:spPr>
              <a:xfrm>
                <a:off x="5877960" y="2495494"/>
                <a:ext cx="218040" cy="17102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1" name="Pil: højre 20">
                <a:extLst>
                  <a:ext uri="{FF2B5EF4-FFF2-40B4-BE49-F238E27FC236}">
                    <a16:creationId xmlns:a16="http://schemas.microsoft.com/office/drawing/2014/main" id="{8F372AEA-9CE6-A06A-308E-A94FE4425019}"/>
                  </a:ext>
                </a:extLst>
              </p:cNvPr>
              <p:cNvSpPr/>
              <p:nvPr/>
            </p:nvSpPr>
            <p:spPr>
              <a:xfrm>
                <a:off x="7390039" y="2479039"/>
                <a:ext cx="218040" cy="17102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</p:grpSp>
        <p:sp>
          <p:nvSpPr>
            <p:cNvPr id="24" name="Tekstfelt 23">
              <a:extLst>
                <a:ext uri="{FF2B5EF4-FFF2-40B4-BE49-F238E27FC236}">
                  <a16:creationId xmlns:a16="http://schemas.microsoft.com/office/drawing/2014/main" id="{32CB802B-D5EA-D8CE-C195-007DF9634311}"/>
                </a:ext>
              </a:extLst>
            </p:cNvPr>
            <p:cNvSpPr txBox="1"/>
            <p:nvPr/>
          </p:nvSpPr>
          <p:spPr>
            <a:xfrm>
              <a:off x="4794532" y="3150626"/>
              <a:ext cx="9605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1400" b="1" dirty="0"/>
                <a:t>Afsender</a:t>
              </a:r>
            </a:p>
          </p:txBody>
        </p:sp>
        <p:sp>
          <p:nvSpPr>
            <p:cNvPr id="40" name="Tekstfelt 39">
              <a:extLst>
                <a:ext uri="{FF2B5EF4-FFF2-40B4-BE49-F238E27FC236}">
                  <a16:creationId xmlns:a16="http://schemas.microsoft.com/office/drawing/2014/main" id="{BDCDBF44-6095-3B58-ED22-2957D9CB16EF}"/>
                </a:ext>
              </a:extLst>
            </p:cNvPr>
            <p:cNvSpPr txBox="1"/>
            <p:nvPr/>
          </p:nvSpPr>
          <p:spPr>
            <a:xfrm>
              <a:off x="4658783" y="4315851"/>
              <a:ext cx="9893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1400" b="1" dirty="0"/>
                <a:t>Modtager</a:t>
              </a:r>
            </a:p>
          </p:txBody>
        </p:sp>
        <p:sp>
          <p:nvSpPr>
            <p:cNvPr id="41" name="Rektangel 40">
              <a:extLst>
                <a:ext uri="{FF2B5EF4-FFF2-40B4-BE49-F238E27FC236}">
                  <a16:creationId xmlns:a16="http://schemas.microsoft.com/office/drawing/2014/main" id="{81C67A02-5F5C-5517-3150-39CA698191FF}"/>
                </a:ext>
              </a:extLst>
            </p:cNvPr>
            <p:cNvSpPr/>
            <p:nvPr/>
          </p:nvSpPr>
          <p:spPr>
            <a:xfrm>
              <a:off x="4737544" y="5314085"/>
              <a:ext cx="4315885" cy="37253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6" name="Rektangel 45">
              <a:extLst>
                <a:ext uri="{FF2B5EF4-FFF2-40B4-BE49-F238E27FC236}">
                  <a16:creationId xmlns:a16="http://schemas.microsoft.com/office/drawing/2014/main" id="{014EEB66-04BC-0AA7-83FC-F296892FE35D}"/>
                </a:ext>
              </a:extLst>
            </p:cNvPr>
            <p:cNvSpPr/>
            <p:nvPr/>
          </p:nvSpPr>
          <p:spPr>
            <a:xfrm>
              <a:off x="4852214" y="5374814"/>
              <a:ext cx="1108860" cy="2510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 dirty="0"/>
                <a:t>Ikke krypteret</a:t>
              </a:r>
            </a:p>
          </p:txBody>
        </p:sp>
        <p:sp>
          <p:nvSpPr>
            <p:cNvPr id="47" name="Rektangel 46">
              <a:extLst>
                <a:ext uri="{FF2B5EF4-FFF2-40B4-BE49-F238E27FC236}">
                  <a16:creationId xmlns:a16="http://schemas.microsoft.com/office/drawing/2014/main" id="{63F0FC25-8058-AA36-FFB3-E1502215DC77}"/>
                </a:ext>
              </a:extLst>
            </p:cNvPr>
            <p:cNvSpPr/>
            <p:nvPr/>
          </p:nvSpPr>
          <p:spPr>
            <a:xfrm>
              <a:off x="6326188" y="5374814"/>
              <a:ext cx="1108860" cy="25107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 dirty="0"/>
                <a:t>Dekryptering</a:t>
              </a:r>
            </a:p>
          </p:txBody>
        </p:sp>
        <p:sp>
          <p:nvSpPr>
            <p:cNvPr id="48" name="Rektangel 47">
              <a:extLst>
                <a:ext uri="{FF2B5EF4-FFF2-40B4-BE49-F238E27FC236}">
                  <a16:creationId xmlns:a16="http://schemas.microsoft.com/office/drawing/2014/main" id="{137F14E6-79AD-A63A-6EF3-F35358EACDDA}"/>
                </a:ext>
              </a:extLst>
            </p:cNvPr>
            <p:cNvSpPr/>
            <p:nvPr/>
          </p:nvSpPr>
          <p:spPr>
            <a:xfrm>
              <a:off x="7877048" y="5377734"/>
              <a:ext cx="1108860" cy="25107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1200" dirty="0"/>
                <a:t>Krypteret</a:t>
              </a:r>
            </a:p>
          </p:txBody>
        </p:sp>
        <p:sp>
          <p:nvSpPr>
            <p:cNvPr id="49" name="Pil: højre 48">
              <a:extLst>
                <a:ext uri="{FF2B5EF4-FFF2-40B4-BE49-F238E27FC236}">
                  <a16:creationId xmlns:a16="http://schemas.microsoft.com/office/drawing/2014/main" id="{7DD16F64-9863-AB7B-1C53-8C3731191732}"/>
                </a:ext>
              </a:extLst>
            </p:cNvPr>
            <p:cNvSpPr/>
            <p:nvPr/>
          </p:nvSpPr>
          <p:spPr>
            <a:xfrm rot="10800000">
              <a:off x="6034949" y="5431294"/>
              <a:ext cx="218040" cy="17102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50" name="Pil: højre 49">
              <a:extLst>
                <a:ext uri="{FF2B5EF4-FFF2-40B4-BE49-F238E27FC236}">
                  <a16:creationId xmlns:a16="http://schemas.microsoft.com/office/drawing/2014/main" id="{CBD02E5D-1FD8-BF7C-781A-0A31DD1418A0}"/>
                </a:ext>
              </a:extLst>
            </p:cNvPr>
            <p:cNvSpPr/>
            <p:nvPr/>
          </p:nvSpPr>
          <p:spPr>
            <a:xfrm rot="10800000">
              <a:off x="7547028" y="5414839"/>
              <a:ext cx="218040" cy="17102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52" name="Forbindelse: vinklet 51">
              <a:extLst>
                <a:ext uri="{FF2B5EF4-FFF2-40B4-BE49-F238E27FC236}">
                  <a16:creationId xmlns:a16="http://schemas.microsoft.com/office/drawing/2014/main" id="{95F77D16-F6BB-30D1-1D70-609F518716AB}"/>
                </a:ext>
              </a:extLst>
            </p:cNvPr>
            <p:cNvCxnSpPr>
              <a:cxnSpLocks/>
              <a:stCxn id="4" idx="2"/>
              <a:endCxn id="47" idx="0"/>
            </p:cNvCxnSpPr>
            <p:nvPr/>
          </p:nvCxnSpPr>
          <p:spPr>
            <a:xfrm rot="5400000">
              <a:off x="7079833" y="4949101"/>
              <a:ext cx="226498" cy="6249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Forbindelse: vinklet 53">
              <a:extLst>
                <a:ext uri="{FF2B5EF4-FFF2-40B4-BE49-F238E27FC236}">
                  <a16:creationId xmlns:a16="http://schemas.microsoft.com/office/drawing/2014/main" id="{44D118C1-B6A6-8177-A51B-F0F7BA23D880}"/>
                </a:ext>
              </a:extLst>
            </p:cNvPr>
            <p:cNvCxnSpPr>
              <a:stCxn id="13" idx="1"/>
              <a:endCxn id="12" idx="2"/>
            </p:cNvCxnSpPr>
            <p:nvPr/>
          </p:nvCxnSpPr>
          <p:spPr>
            <a:xfrm rot="10800000" flipH="1">
              <a:off x="5824767" y="3770211"/>
              <a:ext cx="1040052" cy="1252566"/>
            </a:xfrm>
            <a:prstGeom prst="bentConnector4">
              <a:avLst>
                <a:gd name="adj1" fmla="val -21980"/>
                <a:gd name="adj2" fmla="val 55011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Sky 55">
              <a:extLst>
                <a:ext uri="{FF2B5EF4-FFF2-40B4-BE49-F238E27FC236}">
                  <a16:creationId xmlns:a16="http://schemas.microsoft.com/office/drawing/2014/main" id="{BCD331AB-086F-CE7F-E4CC-CAFDA47630E0}"/>
                </a:ext>
              </a:extLst>
            </p:cNvPr>
            <p:cNvSpPr/>
            <p:nvPr/>
          </p:nvSpPr>
          <p:spPr>
            <a:xfrm>
              <a:off x="9307541" y="3873653"/>
              <a:ext cx="1083734" cy="1019968"/>
            </a:xfrm>
            <a:prstGeom prst="cloud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www</a:t>
              </a:r>
            </a:p>
          </p:txBody>
        </p:sp>
        <p:cxnSp>
          <p:nvCxnSpPr>
            <p:cNvPr id="58" name="Forbindelse: vinklet 57">
              <a:extLst>
                <a:ext uri="{FF2B5EF4-FFF2-40B4-BE49-F238E27FC236}">
                  <a16:creationId xmlns:a16="http://schemas.microsoft.com/office/drawing/2014/main" id="{27534FB1-206D-1647-4829-51E834148DB3}"/>
                </a:ext>
              </a:extLst>
            </p:cNvPr>
            <p:cNvCxnSpPr>
              <a:stCxn id="15" idx="3"/>
              <a:endCxn id="56" idx="3"/>
            </p:cNvCxnSpPr>
            <p:nvPr/>
          </p:nvCxnSpPr>
          <p:spPr>
            <a:xfrm>
              <a:off x="8970109" y="3647592"/>
              <a:ext cx="879299" cy="28437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Forbindelse: vinklet 60">
              <a:extLst>
                <a:ext uri="{FF2B5EF4-FFF2-40B4-BE49-F238E27FC236}">
                  <a16:creationId xmlns:a16="http://schemas.microsoft.com/office/drawing/2014/main" id="{31E103A7-5381-BD02-2A8F-43E0273AF82C}"/>
                </a:ext>
              </a:extLst>
            </p:cNvPr>
            <p:cNvCxnSpPr>
              <a:stCxn id="56" idx="1"/>
              <a:endCxn id="48" idx="3"/>
            </p:cNvCxnSpPr>
            <p:nvPr/>
          </p:nvCxnSpPr>
          <p:spPr>
            <a:xfrm rot="5400000">
              <a:off x="9112289" y="4766154"/>
              <a:ext cx="610739" cy="86350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kstfelt 64">
            <a:extLst>
              <a:ext uri="{FF2B5EF4-FFF2-40B4-BE49-F238E27FC236}">
                <a16:creationId xmlns:a16="http://schemas.microsoft.com/office/drawing/2014/main" id="{A5E32249-F0CC-E69A-85C1-7F802AA6F0AF}"/>
              </a:ext>
            </a:extLst>
          </p:cNvPr>
          <p:cNvSpPr txBox="1"/>
          <p:nvPr/>
        </p:nvSpPr>
        <p:spPr>
          <a:xfrm>
            <a:off x="4583237" y="1198344"/>
            <a:ext cx="74478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400" b="1" dirty="0">
                <a:solidFill>
                  <a:schemeClr val="bg1"/>
                </a:solidFill>
              </a:rPr>
              <a:t>Asymmetrisk kryptering</a:t>
            </a:r>
            <a:r>
              <a:rPr lang="da-DK" sz="1400" dirty="0">
                <a:solidFill>
                  <a:schemeClr val="bg1"/>
                </a:solidFill>
              </a:rPr>
              <a:t> bruger </a:t>
            </a:r>
            <a:r>
              <a:rPr lang="da-DK" sz="1400" b="1" dirty="0">
                <a:solidFill>
                  <a:schemeClr val="bg1"/>
                </a:solidFill>
              </a:rPr>
              <a:t>to forskellige nøgler</a:t>
            </a:r>
            <a:r>
              <a:rPr lang="da-DK" sz="1400" dirty="0">
                <a:solidFill>
                  <a:schemeClr val="bg1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en </a:t>
            </a:r>
            <a:r>
              <a:rPr lang="da-DK" sz="1400" b="1" dirty="0">
                <a:solidFill>
                  <a:schemeClr val="bg1"/>
                </a:solidFill>
              </a:rPr>
              <a:t>offentlig nøgle</a:t>
            </a:r>
            <a:endParaRPr lang="da-DK" sz="1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en </a:t>
            </a:r>
            <a:r>
              <a:rPr lang="da-DK" sz="1400" b="1" dirty="0">
                <a:solidFill>
                  <a:schemeClr val="bg1"/>
                </a:solidFill>
              </a:rPr>
              <a:t>privat nøgle</a:t>
            </a:r>
            <a:endParaRPr lang="da-DK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da-DK" sz="1400" b="1" dirty="0">
                <a:solidFill>
                  <a:schemeClr val="bg1"/>
                </a:solidFill>
              </a:rPr>
              <a:t>Hvordan det fungerer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Den offentlige nøgle deles frit og data krypteres med den offentlige nøgle.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Kun den tilhørende private nøgle kan dekryptere data.</a:t>
            </a:r>
          </a:p>
          <a:p>
            <a:pPr>
              <a:buNone/>
            </a:pPr>
            <a:r>
              <a:rPr lang="da-DK" sz="1400" b="1" dirty="0">
                <a:solidFill>
                  <a:schemeClr val="bg1"/>
                </a:solidFill>
              </a:rPr>
              <a:t>Fordele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Ingen hemmelig nøgle skal deles, muliggør sikre forbindelser over åbne netværk.</a:t>
            </a:r>
          </a:p>
          <a:p>
            <a:pPr>
              <a:buNone/>
            </a:pPr>
            <a:r>
              <a:rPr lang="da-DK" sz="1400" b="1" dirty="0">
                <a:solidFill>
                  <a:schemeClr val="bg1"/>
                </a:solidFill>
              </a:rPr>
              <a:t>Ulemper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400" dirty="0">
                <a:solidFill>
                  <a:schemeClr val="bg1"/>
                </a:solidFill>
              </a:rPr>
              <a:t>Langsommere end symmetrisk kryptering, derfor ikke egnet til store datamængder alene.</a:t>
            </a:r>
          </a:p>
        </p:txBody>
      </p:sp>
      <p:sp>
        <p:nvSpPr>
          <p:cNvPr id="67" name="Tekstfelt 66">
            <a:extLst>
              <a:ext uri="{FF2B5EF4-FFF2-40B4-BE49-F238E27FC236}">
                <a16:creationId xmlns:a16="http://schemas.microsoft.com/office/drawing/2014/main" id="{5A0E0A83-7452-F080-58D4-CEC19C4A085B}"/>
              </a:ext>
            </a:extLst>
          </p:cNvPr>
          <p:cNvSpPr txBox="1"/>
          <p:nvPr/>
        </p:nvSpPr>
        <p:spPr>
          <a:xfrm>
            <a:off x="10232646" y="5571284"/>
            <a:ext cx="1798488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Typiske anvendelser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Nøgleudveksling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Digitale signaturer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HTTPS-forbindelser</a:t>
            </a:r>
            <a:endParaRPr lang="da-DK" sz="1200" dirty="0"/>
          </a:p>
        </p:txBody>
      </p:sp>
    </p:spTree>
    <p:extLst>
      <p:ext uri="{BB962C8B-B14F-4D97-AF65-F5344CB8AC3E}">
        <p14:creationId xmlns:p14="http://schemas.microsoft.com/office/powerpoint/2010/main" val="8864672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FC403-430C-104A-9D5A-BBEC137F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Sikkerhed og </a:t>
            </a:r>
            <a:r>
              <a:rPr lang="da-DK" dirty="0" err="1"/>
              <a:t>cryptography</a:t>
            </a:r>
            <a:r>
              <a:rPr lang="da-DK" dirty="0"/>
              <a:t> III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6363C00D-8994-CD19-8EBF-468B64DAF5B2}"/>
              </a:ext>
            </a:extLst>
          </p:cNvPr>
          <p:cNvSpPr txBox="1"/>
          <p:nvPr/>
        </p:nvSpPr>
        <p:spPr>
          <a:xfrm>
            <a:off x="6460066" y="1379701"/>
            <a:ext cx="5192003" cy="20313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da-DK" sz="1400" dirty="0"/>
              <a:t>import </a:t>
            </a:r>
            <a:r>
              <a:rPr lang="da-DK" sz="1400" dirty="0" err="1"/>
              <a:t>bcrypt</a:t>
            </a:r>
            <a:endParaRPr lang="da-DK" sz="1400" dirty="0"/>
          </a:p>
          <a:p>
            <a:endParaRPr lang="da-DK" sz="1400" dirty="0"/>
          </a:p>
          <a:p>
            <a:r>
              <a:rPr lang="da-DK" sz="1400" dirty="0"/>
              <a:t>password = </a:t>
            </a:r>
            <a:r>
              <a:rPr lang="da-DK" sz="1400" dirty="0" err="1"/>
              <a:t>b"hemmeligt_password</a:t>
            </a:r>
            <a:r>
              <a:rPr lang="da-DK" sz="1400" dirty="0"/>
              <a:t>"</a:t>
            </a:r>
          </a:p>
          <a:p>
            <a:endParaRPr lang="da-DK" sz="1400" dirty="0"/>
          </a:p>
          <a:p>
            <a:r>
              <a:rPr lang="da-DK" sz="1400" dirty="0"/>
              <a:t># hash</a:t>
            </a:r>
          </a:p>
          <a:p>
            <a:r>
              <a:rPr lang="da-DK" sz="1400" dirty="0" err="1"/>
              <a:t>password_hash</a:t>
            </a:r>
            <a:r>
              <a:rPr lang="da-DK" sz="1400" dirty="0"/>
              <a:t> = </a:t>
            </a:r>
            <a:r>
              <a:rPr lang="da-DK" sz="1400" dirty="0" err="1"/>
              <a:t>bcrypt.hashpw</a:t>
            </a:r>
            <a:r>
              <a:rPr lang="da-DK" sz="1400" dirty="0"/>
              <a:t>(password, </a:t>
            </a:r>
            <a:r>
              <a:rPr lang="da-DK" sz="1400" dirty="0" err="1"/>
              <a:t>bcrypt.gensalt</a:t>
            </a:r>
            <a:r>
              <a:rPr lang="da-DK" sz="1400" dirty="0"/>
              <a:t>())</a:t>
            </a:r>
          </a:p>
          <a:p>
            <a:endParaRPr lang="da-DK" sz="1400" dirty="0"/>
          </a:p>
          <a:p>
            <a:r>
              <a:rPr lang="da-DK" sz="1400" dirty="0"/>
              <a:t># verificer</a:t>
            </a:r>
          </a:p>
          <a:p>
            <a:r>
              <a:rPr lang="da-DK" sz="1400" dirty="0" err="1"/>
              <a:t>is_valid</a:t>
            </a:r>
            <a:r>
              <a:rPr lang="da-DK" sz="1400" dirty="0"/>
              <a:t> = </a:t>
            </a:r>
            <a:r>
              <a:rPr lang="da-DK" sz="1400" dirty="0" err="1"/>
              <a:t>bcrypt.checkpw</a:t>
            </a:r>
            <a:r>
              <a:rPr lang="da-DK" sz="1400" dirty="0"/>
              <a:t>(password, </a:t>
            </a:r>
            <a:r>
              <a:rPr lang="da-DK" sz="1400" dirty="0" err="1"/>
              <a:t>password_hash</a:t>
            </a:r>
            <a:r>
              <a:rPr lang="da-DK" sz="1400" dirty="0"/>
              <a:t>)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2C8652D2-8718-8DD9-6BD7-68F63B4DD774}"/>
              </a:ext>
            </a:extLst>
          </p:cNvPr>
          <p:cNvSpPr txBox="1"/>
          <p:nvPr/>
        </p:nvSpPr>
        <p:spPr>
          <a:xfrm>
            <a:off x="838200" y="1502811"/>
            <a:ext cx="548335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Autentifikation og passwords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Gem aldrig passwords: gem kun </a:t>
            </a:r>
            <a:r>
              <a:rPr lang="da-DK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password-hash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med </a:t>
            </a:r>
            <a:r>
              <a:rPr lang="da-DK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bcrypt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eller </a:t>
            </a:r>
            <a:r>
              <a:rPr lang="da-DK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argon2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Brug “</a:t>
            </a:r>
            <a:r>
              <a:rPr lang="da-DK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slow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hashing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med passende </a:t>
            </a:r>
            <a:r>
              <a:rPr lang="da-DK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/parametre.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Implementér login-rate </a:t>
            </a:r>
            <a:r>
              <a:rPr lang="da-DK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limiting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og lockout-politik (applikations- eller proxy-lag).</a:t>
            </a:r>
          </a:p>
          <a:p>
            <a:pPr>
              <a:buNone/>
            </a:pPr>
            <a:r>
              <a:rPr lang="da-DK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Sessions og </a:t>
            </a:r>
            <a:r>
              <a:rPr lang="da-DK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tokens</a:t>
            </a:r>
            <a:endParaRPr lang="da-DK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Brug sikre session-cookies: </a:t>
            </a:r>
            <a:r>
              <a:rPr lang="da-DK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HttpOnly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Secure, </a:t>
            </a:r>
            <a:r>
              <a:rPr lang="da-DK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SameSite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Rotér session-id ved login og ved privilegieskift.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Hvis JWT bruges: korte levetider, korrekt validering, og håndtér </a:t>
            </a:r>
            <a:r>
              <a:rPr lang="da-DK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revocation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/rotation.</a:t>
            </a:r>
          </a:p>
          <a:p>
            <a:pPr>
              <a:buNone/>
            </a:pPr>
            <a:r>
              <a:rPr lang="da-DK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 og netværk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Kør altid bag </a:t>
            </a:r>
            <a:r>
              <a:rPr lang="da-DK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HTTPS/TLS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produktion (typisk via </a:t>
            </a:r>
            <a:r>
              <a:rPr lang="da-DK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reverse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proxy).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Undgå at deaktivere TLS-verifikation i klientkald.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Sæt korrekte sikkerheds-</a:t>
            </a:r>
            <a:r>
              <a:rPr lang="da-DK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headere</a:t>
            </a:r>
            <a:r>
              <a:rPr lang="da-DK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(ofte via proxy/framework): HSTS, CSP, osv.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F71C1688-5741-FEE1-6DE5-821DA446E6ED}"/>
              </a:ext>
            </a:extLst>
          </p:cNvPr>
          <p:cNvSpPr txBox="1"/>
          <p:nvPr/>
        </p:nvSpPr>
        <p:spPr>
          <a:xfrm>
            <a:off x="6460066" y="3641858"/>
            <a:ext cx="5192002" cy="29546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da-DK" sz="1400" dirty="0"/>
              <a:t>import </a:t>
            </a:r>
            <a:r>
              <a:rPr lang="da-DK" sz="1400" dirty="0" err="1"/>
              <a:t>bcrypt</a:t>
            </a:r>
            <a:endParaRPr lang="da-DK" sz="1400" dirty="0"/>
          </a:p>
          <a:p>
            <a:r>
              <a:rPr lang="da-DK" sz="1400" dirty="0"/>
              <a:t>(fra tidligere eksempel har vi gemt )</a:t>
            </a:r>
          </a:p>
          <a:p>
            <a:r>
              <a:rPr lang="da-DK" sz="1400" dirty="0" err="1">
                <a:highlight>
                  <a:srgbClr val="00FFFF"/>
                </a:highlight>
              </a:rPr>
              <a:t>stored_hash</a:t>
            </a:r>
            <a:r>
              <a:rPr lang="da-DK" sz="1400" dirty="0">
                <a:highlight>
                  <a:srgbClr val="00FFFF"/>
                </a:highlight>
              </a:rPr>
              <a:t> </a:t>
            </a:r>
            <a:r>
              <a:rPr lang="da-DK" sz="1400" dirty="0"/>
              <a:t>= </a:t>
            </a:r>
            <a:r>
              <a:rPr lang="da-DK" sz="1400" dirty="0" err="1"/>
              <a:t>bcrypt.hashpw</a:t>
            </a:r>
            <a:r>
              <a:rPr lang="da-DK" sz="1400" dirty="0"/>
              <a:t>(</a:t>
            </a:r>
            <a:r>
              <a:rPr lang="da-DK" sz="1400" dirty="0" err="1"/>
              <a:t>stored_password</a:t>
            </a:r>
            <a:r>
              <a:rPr lang="da-DK" sz="1400" dirty="0"/>
              <a:t>, </a:t>
            </a:r>
            <a:r>
              <a:rPr lang="da-DK" sz="1400" dirty="0" err="1"/>
              <a:t>bcrypt.gensalt</a:t>
            </a:r>
            <a:r>
              <a:rPr lang="da-DK" sz="1400" dirty="0"/>
              <a:t>())</a:t>
            </a:r>
          </a:p>
          <a:p>
            <a:endParaRPr lang="da-DK" sz="1400" dirty="0"/>
          </a:p>
          <a:p>
            <a:r>
              <a:rPr lang="da-DK" sz="1400" dirty="0" err="1">
                <a:highlight>
                  <a:srgbClr val="FFFF00"/>
                </a:highlight>
              </a:rPr>
              <a:t>user_input</a:t>
            </a:r>
            <a:r>
              <a:rPr lang="da-DK" sz="1400" dirty="0">
                <a:highlight>
                  <a:srgbClr val="FFFF00"/>
                </a:highlight>
              </a:rPr>
              <a:t> </a:t>
            </a:r>
            <a:r>
              <a:rPr lang="da-DK" sz="1400" dirty="0"/>
              <a:t>= input("Indtast password: ").</a:t>
            </a:r>
            <a:r>
              <a:rPr lang="da-DK" sz="1400" dirty="0" err="1">
                <a:highlight>
                  <a:srgbClr val="FF00FF"/>
                </a:highlight>
              </a:rPr>
              <a:t>encode</a:t>
            </a:r>
            <a:r>
              <a:rPr lang="da-DK" sz="1400" dirty="0">
                <a:highlight>
                  <a:srgbClr val="FF00FF"/>
                </a:highlight>
              </a:rPr>
              <a:t>()</a:t>
            </a:r>
          </a:p>
          <a:p>
            <a:endParaRPr lang="da-DK" sz="1400" dirty="0"/>
          </a:p>
          <a:p>
            <a:r>
              <a:rPr lang="da-DK" sz="1400" dirty="0"/>
              <a:t>    </a:t>
            </a:r>
            <a:r>
              <a:rPr lang="da-DK" sz="1400" dirty="0" err="1"/>
              <a:t>if</a:t>
            </a:r>
            <a:r>
              <a:rPr lang="da-DK" sz="1400" dirty="0"/>
              <a:t> </a:t>
            </a:r>
            <a:r>
              <a:rPr lang="da-DK" sz="1400" dirty="0" err="1"/>
              <a:t>bcrypt.checkpw</a:t>
            </a:r>
            <a:r>
              <a:rPr lang="da-DK" sz="1400" dirty="0"/>
              <a:t>(</a:t>
            </a:r>
            <a:r>
              <a:rPr lang="da-DK" sz="1400" dirty="0" err="1">
                <a:highlight>
                  <a:srgbClr val="FFFF00"/>
                </a:highlight>
              </a:rPr>
              <a:t>user_input</a:t>
            </a:r>
            <a:r>
              <a:rPr lang="da-DK" sz="1400" dirty="0"/>
              <a:t>, </a:t>
            </a:r>
            <a:r>
              <a:rPr lang="da-DK" sz="1400" dirty="0" err="1">
                <a:highlight>
                  <a:srgbClr val="00FFFF"/>
                </a:highlight>
              </a:rPr>
              <a:t>stored_hash</a:t>
            </a:r>
            <a:r>
              <a:rPr lang="da-DK" sz="1400" dirty="0"/>
              <a:t>):</a:t>
            </a:r>
          </a:p>
          <a:p>
            <a:r>
              <a:rPr lang="da-DK" sz="1400" dirty="0"/>
              <a:t>        print("Password er korrekt")</a:t>
            </a:r>
          </a:p>
          <a:p>
            <a:r>
              <a:rPr lang="da-DK" sz="1400" dirty="0"/>
              <a:t>    </a:t>
            </a:r>
            <a:r>
              <a:rPr lang="da-DK" sz="1400" dirty="0" err="1"/>
              <a:t>else</a:t>
            </a:r>
            <a:r>
              <a:rPr lang="da-DK" sz="1400" dirty="0"/>
              <a:t>:</a:t>
            </a:r>
          </a:p>
          <a:p>
            <a:r>
              <a:rPr lang="da-DK" sz="1400" dirty="0"/>
              <a:t>        print("Forkert password")</a:t>
            </a:r>
          </a:p>
          <a:p>
            <a:endParaRPr lang="da-DK" sz="1600" dirty="0"/>
          </a:p>
          <a:p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6461029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8C209C33-4A33-657D-7B12-5D5FB6FC9F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5" name="Billede 4" descr="Et billede, der indeholder tekst, Font/skrifttype, Grafik, grafisk design&#10;&#10;AI-genereret indhold kan være ukorrekt.">
            <a:extLst>
              <a:ext uri="{FF2B5EF4-FFF2-40B4-BE49-F238E27FC236}">
                <a16:creationId xmlns:a16="http://schemas.microsoft.com/office/drawing/2014/main" id="{D2A60D90-24E4-C6BB-854F-7755ED9B5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507" y="2712658"/>
            <a:ext cx="3756986" cy="143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94397"/>
      </p:ext>
    </p:extLst>
  </p:cSld>
  <p:clrMapOvr>
    <a:masterClrMapping/>
  </p:clrMapOvr>
</p:sld>
</file>

<file path=ppt/theme/theme1.xml><?xml version="1.0" encoding="utf-8"?>
<a:theme xmlns:a="http://schemas.openxmlformats.org/drawingml/2006/main" name="ZBC_RINGSTED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ZB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6664</Words>
  <Application>Microsoft Office PowerPoint</Application>
  <PresentationFormat>Widescreen</PresentationFormat>
  <Paragraphs>964</Paragraphs>
  <Slides>48</Slides>
  <Notes>4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48</vt:i4>
      </vt:variant>
    </vt:vector>
  </HeadingPairs>
  <TitlesOfParts>
    <vt:vector size="57" baseType="lpstr">
      <vt:lpstr>Aptos</vt:lpstr>
      <vt:lpstr>Aptos Display</vt:lpstr>
      <vt:lpstr>Arial</vt:lpstr>
      <vt:lpstr>Arial Unicode MS</vt:lpstr>
      <vt:lpstr>Bell MT</vt:lpstr>
      <vt:lpstr>Calibri</vt:lpstr>
      <vt:lpstr>Courier New</vt:lpstr>
      <vt:lpstr>ZBC_RINGSTED</vt:lpstr>
      <vt:lpstr>VanillaVTI</vt:lpstr>
      <vt:lpstr>Server Side Programming Dag1</vt:lpstr>
      <vt:lpstr>Intro</vt:lpstr>
      <vt:lpstr>Målepinde</vt:lpstr>
      <vt:lpstr>Lektions oversigt</vt:lpstr>
      <vt:lpstr>Serverside Programmering</vt:lpstr>
      <vt:lpstr>Server vs Client programmering</vt:lpstr>
      <vt:lpstr>Operativsystemet </vt:lpstr>
      <vt:lpstr>Operativsystemet </vt:lpstr>
      <vt:lpstr>Hvad er en Kerne ?</vt:lpstr>
      <vt:lpstr>Unix/linux vs. Windows</vt:lpstr>
      <vt:lpstr>Cloud ? </vt:lpstr>
      <vt:lpstr>Linux Kernen</vt:lpstr>
      <vt:lpstr>CPU Scheduling (simplified and abstract)</vt:lpstr>
      <vt:lpstr>Unix Process</vt:lpstr>
      <vt:lpstr>PowerPoint-præsentation</vt:lpstr>
      <vt:lpstr>Server &amp; Client process</vt:lpstr>
      <vt:lpstr>Terminologi</vt:lpstr>
      <vt:lpstr>Sockets I</vt:lpstr>
      <vt:lpstr>Python webserver </vt:lpstr>
      <vt:lpstr>Programmeringssprog Serverside </vt:lpstr>
      <vt:lpstr>Fremtiden </vt:lpstr>
      <vt:lpstr>Python &amp; Linux</vt:lpstr>
      <vt:lpstr>Tråde</vt:lpstr>
      <vt:lpstr>Python tråde</vt:lpstr>
      <vt:lpstr>Processer</vt:lpstr>
      <vt:lpstr>Zombies!</vt:lpstr>
      <vt:lpstr>IPC</vt:lpstr>
      <vt:lpstr>PowerPoint-præsentation</vt:lpstr>
      <vt:lpstr>Compiler og Oversat kode</vt:lpstr>
      <vt:lpstr>Python </vt:lpstr>
      <vt:lpstr>LAB</vt:lpstr>
      <vt:lpstr>Altid et library</vt:lpstr>
      <vt:lpstr>Opgave</vt:lpstr>
      <vt:lpstr>PowerPoint-præsentation</vt:lpstr>
      <vt:lpstr>Parallel Programmering I</vt:lpstr>
      <vt:lpstr>1) Der skal være paralleliserbart arbejde Opgaverne skal kunne køres uafhængigt eller med kontrolleret deling af data. Typisk egnet: I/O-ventetid (netværk, disk, databasekald) Mange ensartede, korte opgaver (batch-jobs) Typisk mindre egnet: Tunge CPU-opgaver (afhænger af runtime;   2) Trådsikkerhed for delt tilstand Hvis tråde deler data, skal du sikre: Atomiske operationer hvor nødvendigt Låse/mutex/monitorer ved kritiske sektioner Trådsikre datastrukturer eller “immutable” data Undgå datalæk og race conditions Praktisk tommelfingerregel: Del så lidt tilstand som muligt Kommunikér via køer/messages frem for shared state, hvis muligt  3) Livscyklus og styring af tråde Oprettelse og lukning: hvem starter, hvem stopper, og hvornår? Join/await: hvornår skal hovedflow vente på tråde? Afbrydelse/cancel: hvordan stopper du arbejde kontrolleret? Timeout: hvad gør du hvis en opgave hænger?   4) Fejlhåndtering og propagation Tråde kører ofte “udenfor” hovedflowet, så du skal sikre: Hvordan exceptions opsamles, fejl rapporteres tilbageog hvordan undgår du at fejl “forsvinder” i baggrunden  5) Begrænsning af samtidighed (threadpool frem for “bare flere tråde”) En threadpool er ofte et krav i produktion, fordi: Oprettelse af tråde har overhead For mange tråde giver kontekstskift, memory-forbrug og dårligere performance Du kan styre backpressure (kø-længde) og ressourceforbrug Krav/parametre du skal fastlægge: Maks antal worker-tråde (ofte baseret på I/O vs CPU-type arbejde) Kø/queue-strategi: ubegrænset vs begrænset kø Afvisningspolitik: hvad sker der når køen er fuld?  6) Risiko for deadlocks, livelocks og starvation  Låse tages i ensartet rækkefølge Minimér lock-holdetidUndgå at blokere mens du holder lock.  Undgå afhængigheder mellem tasks i samme pool (klassisk deadlock: task A venter på task B, men alle workers er optaget)  7) Observability: logging og måling Log per task (start, slut, fejl) Metrikker: queue-længde, aktivt antal workers, responstider, Identifikation (correlation-id) hvis tråde håndterer requests  8) Sprog/runtime- og framework-krav (kort) Threads egner sig bedst til I/O-bound arbejde CPU-bound arbejde: ofte multiprocessing eller native extensions Flask: request-handling og global state kræver ekstra disciplin (trådsikkerhed, DB-sessions, caches). I server-miljøer: Webserveren (gunicorn/uwsgi) kan i forvejen bruge workers/threads; du skal undgå at “dobbelt-parallelisere” ukontrolleret  9) Hvornår er en threadpool “nødvendig”? Du forventer mange samtidige opgaver over tid Opgaver kan komme hurtigere end de kan udføres Du vil have stabilt ressourceforbrug og undgå tråd-eksplosion Du har behov for timeouts, cancellation og robust fejlhåndtering</vt:lpstr>
      <vt:lpstr>Parallel Programming III (tråde)</vt:lpstr>
      <vt:lpstr>Parallel Programming IV (CPU-bound process)</vt:lpstr>
      <vt:lpstr>Parallel Programering V (OS - processor)</vt:lpstr>
      <vt:lpstr>Input validering (SQL Injection)</vt:lpstr>
      <vt:lpstr>Exception Handling I </vt:lpstr>
      <vt:lpstr>Exception Handling II </vt:lpstr>
      <vt:lpstr>Testing</vt:lpstr>
      <vt:lpstr>Unit test og Mocking </vt:lpstr>
      <vt:lpstr>Sikkerhed og cryptography I</vt:lpstr>
      <vt:lpstr>Sikkerhed og cryptography II</vt:lpstr>
      <vt:lpstr>Sikkerhed og cryptography III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 Ebbe (BOEB.ZBC - Lærer - RIAH - ZBC)</dc:creator>
  <cp:lastModifiedBy>Bo Ebbe (BOEB.ZBC - Lærer - RIAH - ZBC)</cp:lastModifiedBy>
  <cp:revision>8</cp:revision>
  <dcterms:created xsi:type="dcterms:W3CDTF">2026-05-18T08:47:47Z</dcterms:created>
  <dcterms:modified xsi:type="dcterms:W3CDTF">2026-09-06T19:57:01Z</dcterms:modified>
</cp:coreProperties>
</file>